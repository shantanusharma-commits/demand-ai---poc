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d0dfdf54-941a-7d83-b245-018a2341065a}">
          <p14:sldIdLst>
            <p14:sldId id="256"/>
            <p14:sldId id="257"/>
            <p14:sldId id="258"/>
          </p14:sldIdLst>
        </p14:section>
        <p14:section name="Understanding" id="{10c90d0c-b070-cddf-79d8-2b4546988b0f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Key inputs" id="{13ba5693-f062-fc5e-ac3f-f806cfbf9d98}">
          <p14:sldIdLst>
            <p14:sldId id="272"/>
            <p14:sldId id="273"/>
            <p14:sldId id="274"/>
          </p14:sldIdLst>
        </p14:section>
        <p14:section name="Success criteria" id="{b86da8d8-0016-a1c5-e58c-c276a6b6c0e7}">
          <p14:sldIdLst>
            <p14:sldId id="275"/>
            <p14:sldId id="276"/>
            <p14:sldId id="277"/>
          </p14:sldIdLst>
        </p14:section>
        <p14:section name="Timeline" id="{6953b9bf-678b-a241-b21d-ed30f198e823}">
          <p14:sldIdLst>
            <p14:sldId id="278"/>
            <p14:sldId id="279"/>
          </p14:sldIdLst>
        </p14:section>
        <p14:section name="Appendix" id="{174a5e38-6680-4099-3846-84ac50a0823b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modules, one flow. Scoring decides who has a reason to buy now; NBA decides what each rep does about it. Nothing is sent automatically in the pilot: reps send from their own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Reps and managers sign in to the web app. The engine applies tested rules for scoring, segmentation and routing; AI words drafts and suggests segments through one gateway that logs every call and falls back to the rules. Data sits in PostgreSQL with row-level security per business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agent has one job. Scoring, segmentation, routing and the checks are tested rules, so every result can be traced; AI words the drafts and suggests segments and actions, behind the gateway and switched off until you approve its results. Agents never send, approve or commit on the company's behalf.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pilot the data comes from the Client: two uploads in fixed templates. Connectors to CRM, web forms or news feeds are a later phase. Signal types can be extended in Setup; each new type feeds one of the segments.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G1 asks whether the system saves people time; G2 asks whether people trust what it recommends. Spot-checked items count towards both, so the measures are not only drawn from the items people chose to look 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50" kern="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6126480" y="64465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DemandAI  ·  Prepared for Client  ·  Confidential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0" y="644652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DemandAI  ·  Prepared for Client  ·  Confidential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image" Target="../media/image-5-17.png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image" Target="../media/image-26-9.png"/><Relationship Id="rId10" Type="http://schemas.openxmlformats.org/officeDocument/2006/relationships/image" Target="../media/image-26-10.png"/><Relationship Id="rId11" Type="http://schemas.openxmlformats.org/officeDocument/2006/relationships/image" Target="../media/image-26-11.png"/><Relationship Id="rId12" Type="http://schemas.openxmlformats.org/officeDocument/2006/relationships/image" Target="../media/image-26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4754880" cy="4754880"/>
          </a:xfrm>
          <a:prstGeom prst="diamond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3291840"/>
            <a:ext cx="2743200" cy="2743200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0" y="4480560"/>
            <a:ext cx="1280160" cy="1280160"/>
          </a:xfrm>
          <a:prstGeom prst="diamond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chemeClr val="accent1"/>
                </a:solidFill>
              </a:rPr>
              <a:t>DEMAND AI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Signal-led Prospecting &amp;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Next Best Action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Find the accounts with a reason to buy now, and give every rep the next best action and a first message.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1206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Discovery workshop  |  November 2026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172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Prepared for Client  ·  Response to RFP  ·  Confidential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IN THIS PACK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Overview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057400" cy="3566160"/>
          </a:xfrm>
          <a:prstGeom prst="roundRect">
            <a:avLst>
              <a:gd name="adj" fmla="val 355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48840"/>
            <a:ext cx="594360" cy="594360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9260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DemandAI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97764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Prospect &amp; Account Scoring and Micro-segments &amp; NBA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88920" y="1828800"/>
            <a:ext cx="2057400" cy="356616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63240" y="2148840"/>
            <a:ext cx="594360" cy="594360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63240" y="21488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29260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Understanding the demand process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397764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Workshop: your team walks us through it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0" y="1828800"/>
            <a:ext cx="2057400" cy="356616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303520" y="2148840"/>
            <a:ext cx="594360" cy="594360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303520" y="21488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29260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Key inputs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397764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What we need for the pilot: data, content and access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269480" y="1828800"/>
            <a:ext cx="2057400" cy="356616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3800" y="2148840"/>
            <a:ext cx="594360" cy="594360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3800" y="21488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0" y="29260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Success criteria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397764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How we will measure the pilot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509760" y="1828800"/>
            <a:ext cx="2057400" cy="356616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784080" y="2148840"/>
            <a:ext cx="594360" cy="594360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4080" y="21488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738360" y="29260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Draft pilot timeline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738360" y="397764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Pilot plan by phase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PILOT SCOPE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DemandAI: from a lead list to a ready-to-send first touch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212080" cy="4206240"/>
          </a:xfrm>
          <a:prstGeom prst="roundRect">
            <a:avLst>
              <a:gd name="adj" fmla="val 1739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2880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8288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Prospect &amp; Account Scoring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468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Finds the accounts and people with a live reason to buy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01752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Checks and cleans your lead lists</a:t>
            </a:r>
            <a:endParaRPr lang="en-US" sz="15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Scores every account against your ICP</a:t>
            </a:r>
            <a:endParaRPr lang="en-US" sz="15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Reads buying signals and how fresh they are</a:t>
            </a:r>
            <a:endParaRPr lang="en-US" sz="15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Ranks people into tiers A, B and C, with why now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153912" y="1554480"/>
            <a:ext cx="5486400" cy="4206240"/>
          </a:xfrm>
          <a:prstGeom prst="roundRect">
            <a:avLst>
              <a:gd name="adj" fmla="val 173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9672" y="182880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59752" y="18288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Micro-segments &amp; Next Best Action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519672" y="24688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Turns the best prospects into actions your reps can use today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6519672" y="301752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Groups accounts that share a reason into micro-segments</a:t>
            </a:r>
            <a:endParaRPr lang="en-US" sz="15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Recommends the next best action and channel</a:t>
            </a:r>
            <a:endParaRPr lang="en-US" sz="15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Drafts the first message from approved content only</a:t>
            </a:r>
            <a:endParaRPr lang="en-US" sz="15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Checks brand, consent and sensitive topics</a:t>
            </a:r>
            <a:endParaRPr lang="en-US" sz="15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Routes exceptions to For Review; releases the rest to reps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6519672" y="5166360"/>
            <a:ext cx="4754880" cy="411480"/>
          </a:xfrm>
          <a:prstGeom prst="roundRect">
            <a:avLst>
              <a:gd name="adj" fmla="val 1777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519672" y="51663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 person decides anything the system cannot.</a:t>
            </a:r>
            <a:endParaRPr lang="en-US" sz="14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3872" y="3474720"/>
            <a:ext cx="274320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0" y="1371600"/>
            <a:ext cx="3840480" cy="3840480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680960" y="1371600"/>
            <a:ext cx="38404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chemeClr val="tx1"/>
                </a:solidFill>
              </a:rPr>
              <a:t>01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DEMAND AI  ·  UNDERSTANDING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60320"/>
            <a:ext cx="676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Understanding the demand process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1148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How prospects are found, prioritised and approached today.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PLATFORM · TECHNOLOGY STACK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How it all works in DemandAI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How a request travels, and the six layers behind it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143000" y="164592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82880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Your team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743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Browser, invite-only sign-in</a:t>
            </a:r>
            <a:endParaRPr lang="en-US" sz="11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152" y="1892808"/>
            <a:ext cx="228600" cy="2286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017520" y="164592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1828800"/>
            <a:ext cx="365760" cy="3657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2468880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Web app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2468880" y="2743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One screen per step</a:t>
            </a:r>
            <a:endParaRPr lang="en-US" sz="11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3672" y="1892808"/>
            <a:ext cx="228600" cy="22860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4892040" y="164592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1828800"/>
            <a:ext cx="365760" cy="36576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4343400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DemandAI engine</a:t>
            </a:r>
            <a:endParaRPr lang="en-US" sz="1400" dirty="0"/>
          </a:p>
        </p:txBody>
      </p:sp>
      <p:sp>
        <p:nvSpPr>
          <p:cNvPr id="18" name="Text 11"/>
          <p:cNvSpPr txBox="1"/>
          <p:nvPr/>
        </p:nvSpPr>
        <p:spPr>
          <a:xfrm>
            <a:off x="4343400" y="2743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Tested rules: score, segment, route</a:t>
            </a:r>
            <a:endParaRPr lang="en-US" sz="110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8192" y="1892808"/>
            <a:ext cx="228600" cy="228600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6766560" y="164592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9440" y="1828800"/>
            <a:ext cx="365760" cy="36576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6217920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Your content</a:t>
            </a:r>
            <a:endParaRPr lang="en-US" sz="1400" dirty="0"/>
          </a:p>
        </p:txBody>
      </p:sp>
      <p:sp>
        <p:nvSpPr>
          <p:cNvPr id="23" name="Text 14"/>
          <p:cNvSpPr txBox="1"/>
          <p:nvPr/>
        </p:nvSpPr>
        <p:spPr>
          <a:xfrm>
            <a:off x="6217920" y="2743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Brand pack, claims, plays</a:t>
            </a:r>
            <a:endParaRPr lang="en-US" sz="1100" dirty="0"/>
          </a:p>
        </p:txBody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82712" y="1892808"/>
            <a:ext cx="228600" cy="228600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8641080" y="164592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23960" y="1828800"/>
            <a:ext cx="365760" cy="365760"/>
          </a:xfrm>
          <a:prstGeom prst="rect">
            <a:avLst/>
          </a:prstGeom>
        </p:spPr>
      </p:pic>
      <p:sp>
        <p:nvSpPr>
          <p:cNvPr id="27" name="Text 16"/>
          <p:cNvSpPr txBox="1"/>
          <p:nvPr/>
        </p:nvSpPr>
        <p:spPr>
          <a:xfrm>
            <a:off x="8092440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AI gateway</a:t>
            </a:r>
            <a:endParaRPr lang="en-US" sz="1400" dirty="0"/>
          </a:p>
        </p:txBody>
      </p:sp>
      <p:sp>
        <p:nvSpPr>
          <p:cNvPr id="28" name="Text 17"/>
          <p:cNvSpPr txBox="1"/>
          <p:nvPr/>
        </p:nvSpPr>
        <p:spPr>
          <a:xfrm>
            <a:off x="8092440" y="2743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Flags, checks, rules fallback</a:t>
            </a:r>
            <a:endParaRPr lang="en-US" sz="1100" dirty="0"/>
          </a:p>
        </p:txBody>
      </p:sp>
      <p:pic>
        <p:nvPicPr>
          <p:cNvPr id="2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57232" y="1892808"/>
            <a:ext cx="228600" cy="228600"/>
          </a:xfrm>
          <a:prstGeom prst="rect">
            <a:avLst/>
          </a:prstGeom>
        </p:spPr>
      </p:pic>
      <p:sp>
        <p:nvSpPr>
          <p:cNvPr id="30" name="Shape 18"/>
          <p:cNvSpPr/>
          <p:nvPr/>
        </p:nvSpPr>
        <p:spPr>
          <a:xfrm>
            <a:off x="10515600" y="164592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3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98480" y="1828800"/>
            <a:ext cx="365760" cy="365760"/>
          </a:xfrm>
          <a:prstGeom prst="rect">
            <a:avLst/>
          </a:prstGeom>
        </p:spPr>
      </p:pic>
      <p:sp>
        <p:nvSpPr>
          <p:cNvPr id="32" name="Text 19"/>
          <p:cNvSpPr txBox="1"/>
          <p:nvPr/>
        </p:nvSpPr>
        <p:spPr>
          <a:xfrm>
            <a:off x="9966960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AI models</a:t>
            </a:r>
            <a:endParaRPr lang="en-US" sz="1400" dirty="0"/>
          </a:p>
        </p:txBody>
      </p:sp>
      <p:sp>
        <p:nvSpPr>
          <p:cNvPr id="33" name="Text 20"/>
          <p:cNvSpPr txBox="1"/>
          <p:nvPr/>
        </p:nvSpPr>
        <p:spPr>
          <a:xfrm>
            <a:off x="9966960" y="2743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Enterprise LLMs in your cloud</a:t>
            </a:r>
            <a:endParaRPr lang="en-US" sz="1100" dirty="0"/>
          </a:p>
        </p:txBody>
      </p:sp>
      <p:sp>
        <p:nvSpPr>
          <p:cNvPr id="34" name="Shape 21"/>
          <p:cNvSpPr/>
          <p:nvPr/>
        </p:nvSpPr>
        <p:spPr>
          <a:xfrm>
            <a:off x="548640" y="3429000"/>
            <a:ext cx="35661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1520" y="3593592"/>
            <a:ext cx="292608" cy="292608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1143000" y="35661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Front end</a:t>
            </a:r>
            <a:endParaRPr lang="en-US" sz="1400" dirty="0"/>
          </a:p>
        </p:txBody>
      </p:sp>
      <p:sp>
        <p:nvSpPr>
          <p:cNvPr id="37" name="Text 23"/>
          <p:cNvSpPr txBox="1"/>
          <p:nvPr/>
        </p:nvSpPr>
        <p:spPr>
          <a:xfrm>
            <a:off x="777240" y="3959352"/>
            <a:ext cx="3246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Web application, one screen per step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Role-aware screens for rep, manager, admin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Strict content policy and security headers</a:t>
            </a:r>
            <a:endParaRPr lang="en-US" sz="1100" dirty="0"/>
          </a:p>
        </p:txBody>
      </p:sp>
      <p:sp>
        <p:nvSpPr>
          <p:cNvPr id="38" name="Shape 24"/>
          <p:cNvSpPr/>
          <p:nvPr/>
        </p:nvSpPr>
        <p:spPr>
          <a:xfrm>
            <a:off x="4279392" y="3429000"/>
            <a:ext cx="35661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9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62272" y="3593592"/>
            <a:ext cx="292608" cy="292608"/>
          </a:xfrm>
          <a:prstGeom prst="rect">
            <a:avLst/>
          </a:prstGeom>
        </p:spPr>
      </p:pic>
      <p:sp>
        <p:nvSpPr>
          <p:cNvPr id="40" name="Text 25"/>
          <p:cNvSpPr txBox="1"/>
          <p:nvPr/>
        </p:nvSpPr>
        <p:spPr>
          <a:xfrm>
            <a:off x="4873752" y="35661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Application services</a:t>
            </a:r>
            <a:endParaRPr lang="en-US" sz="1400" dirty="0"/>
          </a:p>
        </p:txBody>
      </p:sp>
      <p:sp>
        <p:nvSpPr>
          <p:cNvPr id="41" name="Text 26"/>
          <p:cNvSpPr txBox="1"/>
          <p:nvPr/>
        </p:nvSpPr>
        <p:spPr>
          <a:xfrm>
            <a:off x="4507992" y="3959352"/>
            <a:ext cx="3246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Server-side business rules per screen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Background jobs for uploads, scoring, builds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Every action logged in an audit trail</a:t>
            </a:r>
            <a:endParaRPr lang="en-US" sz="1100" dirty="0"/>
          </a:p>
        </p:txBody>
      </p:sp>
      <p:sp>
        <p:nvSpPr>
          <p:cNvPr id="42" name="Shape 27"/>
          <p:cNvSpPr/>
          <p:nvPr/>
        </p:nvSpPr>
        <p:spPr>
          <a:xfrm>
            <a:off x="8010144" y="3429000"/>
            <a:ext cx="35661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3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93024" y="3593592"/>
            <a:ext cx="292608" cy="292608"/>
          </a:xfrm>
          <a:prstGeom prst="rect">
            <a:avLst/>
          </a:prstGeom>
        </p:spPr>
      </p:pic>
      <p:sp>
        <p:nvSpPr>
          <p:cNvPr id="44" name="Text 28"/>
          <p:cNvSpPr txBox="1"/>
          <p:nvPr/>
        </p:nvSpPr>
        <p:spPr>
          <a:xfrm>
            <a:off x="8604504" y="35661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Identity and access</a:t>
            </a:r>
            <a:endParaRPr lang="en-US" sz="1400" dirty="0"/>
          </a:p>
        </p:txBody>
      </p:sp>
      <p:sp>
        <p:nvSpPr>
          <p:cNvPr id="45" name="Text 29"/>
          <p:cNvSpPr txBox="1"/>
          <p:nvPr/>
        </p:nvSpPr>
        <p:spPr>
          <a:xfrm>
            <a:off x="8238744" y="3959352"/>
            <a:ext cx="3246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Invite-only sign-in; SSO at go-live*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Roles: admin, manager, rep, viewer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Reps see only the accounts they own</a:t>
            </a:r>
            <a:endParaRPr lang="en-US" sz="1100" dirty="0"/>
          </a:p>
        </p:txBody>
      </p:sp>
      <p:sp>
        <p:nvSpPr>
          <p:cNvPr id="46" name="Shape 30"/>
          <p:cNvSpPr/>
          <p:nvPr/>
        </p:nvSpPr>
        <p:spPr>
          <a:xfrm>
            <a:off x="548640" y="4892040"/>
            <a:ext cx="35661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7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1520" y="5056632"/>
            <a:ext cx="292608" cy="292608"/>
          </a:xfrm>
          <a:prstGeom prst="rect">
            <a:avLst/>
          </a:prstGeom>
        </p:spPr>
      </p:pic>
      <p:sp>
        <p:nvSpPr>
          <p:cNvPr id="48" name="Text 31"/>
          <p:cNvSpPr txBox="1"/>
          <p:nvPr/>
        </p:nvSpPr>
        <p:spPr>
          <a:xfrm>
            <a:off x="1143000" y="50292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Data</a:t>
            </a:r>
            <a:endParaRPr lang="en-US" sz="1400" dirty="0"/>
          </a:p>
        </p:txBody>
      </p:sp>
      <p:sp>
        <p:nvSpPr>
          <p:cNvPr id="49" name="Text 32"/>
          <p:cNvSpPr txBox="1"/>
          <p:nvPr/>
        </p:nvSpPr>
        <p:spPr>
          <a:xfrm>
            <a:off x="777240" y="5422392"/>
            <a:ext cx="3246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Managed PostgreSQL, private endpoint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Row-level security per business unit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Append-only logs; purge at pilot end</a:t>
            </a:r>
            <a:endParaRPr lang="en-US" sz="1100" dirty="0"/>
          </a:p>
        </p:txBody>
      </p:sp>
      <p:sp>
        <p:nvSpPr>
          <p:cNvPr id="50" name="Shape 33"/>
          <p:cNvSpPr/>
          <p:nvPr/>
        </p:nvSpPr>
        <p:spPr>
          <a:xfrm>
            <a:off x="4279392" y="4892040"/>
            <a:ext cx="35661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462272" y="5056632"/>
            <a:ext cx="292608" cy="292608"/>
          </a:xfrm>
          <a:prstGeom prst="rect">
            <a:avLst/>
          </a:prstGeom>
        </p:spPr>
      </p:pic>
      <p:sp>
        <p:nvSpPr>
          <p:cNvPr id="52" name="Text 34"/>
          <p:cNvSpPr txBox="1"/>
          <p:nvPr/>
        </p:nvSpPr>
        <p:spPr>
          <a:xfrm>
            <a:off x="4873752" y="50292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AI layer</a:t>
            </a:r>
            <a:endParaRPr lang="en-US" sz="1400" dirty="0"/>
          </a:p>
        </p:txBody>
      </p:sp>
      <p:sp>
        <p:nvSpPr>
          <p:cNvPr id="53" name="Text 35"/>
          <p:cNvSpPr txBox="1"/>
          <p:nvPr/>
        </p:nvSpPr>
        <p:spPr>
          <a:xfrm>
            <a:off x="4507992" y="5422392"/>
            <a:ext cx="3246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Enterprise large language models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Each AI step off until you approve it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Rules fallback if the AI is unsure</a:t>
            </a:r>
            <a:endParaRPr lang="en-US" sz="1100" dirty="0"/>
          </a:p>
        </p:txBody>
      </p:sp>
      <p:sp>
        <p:nvSpPr>
          <p:cNvPr id="54" name="Shape 36"/>
          <p:cNvSpPr/>
          <p:nvPr/>
        </p:nvSpPr>
        <p:spPr>
          <a:xfrm>
            <a:off x="8010144" y="4892040"/>
            <a:ext cx="35661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5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193024" y="5056632"/>
            <a:ext cx="292608" cy="292608"/>
          </a:xfrm>
          <a:prstGeom prst="rect">
            <a:avLst/>
          </a:prstGeom>
        </p:spPr>
      </p:pic>
      <p:sp>
        <p:nvSpPr>
          <p:cNvPr id="56" name="Text 37"/>
          <p:cNvSpPr txBox="1"/>
          <p:nvPr/>
        </p:nvSpPr>
        <p:spPr>
          <a:xfrm>
            <a:off x="8604504" y="50292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Hosting and operations</a:t>
            </a:r>
            <a:endParaRPr lang="en-US" sz="1400" dirty="0"/>
          </a:p>
        </p:txBody>
      </p:sp>
      <p:sp>
        <p:nvSpPr>
          <p:cNvPr id="57" name="Text 38"/>
          <p:cNvSpPr txBox="1"/>
          <p:nvPr/>
        </p:nvSpPr>
        <p:spPr>
          <a:xfrm>
            <a:off x="8238744" y="5422392"/>
            <a:ext cx="3246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Containers on a private cloud network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Outbound traffic on an allow-list only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Automated CI/CD, central logging</a:t>
            </a:r>
            <a:endParaRPr lang="en-US" sz="1100" dirty="0"/>
          </a:p>
        </p:txBody>
      </p:sp>
      <p:sp>
        <p:nvSpPr>
          <p:cNvPr id="58" name="Text 39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* Single sign-on with your directory at commercial go-live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AI AGENTS · OVERVIEW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20 agents across the demand journey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103120" cy="685800"/>
          </a:xfrm>
          <a:prstGeom prst="roundRect">
            <a:avLst>
              <a:gd name="adj" fmla="val 10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6304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Find and score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5 agents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2359152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224028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List Checker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07208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926080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80720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Fit Scorer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74136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4930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74136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Signal Reader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941064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4059936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5840" y="3941064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Timing Scorer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4507992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4626864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5840" y="450799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Tier Ranker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788920" y="1417320"/>
            <a:ext cx="2103120" cy="685800"/>
          </a:xfrm>
          <a:prstGeom prst="roundRect">
            <a:avLst>
              <a:gd name="adj" fmla="val 10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926080" y="146304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Segment and plan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4 agents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788920" y="2240280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98648" y="2359152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246120" y="224028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Segmenter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788920" y="2807208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898648" y="2926080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246120" y="280720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Action Recommender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788920" y="3374136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98648" y="34930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246120" y="3374136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Channel Picker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788920" y="3941064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898648" y="4059936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246120" y="3941064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Deal Sizer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029200" y="1417320"/>
            <a:ext cx="2103120" cy="685800"/>
          </a:xfrm>
          <a:prstGeom prst="roundRect">
            <a:avLst>
              <a:gd name="adj" fmla="val 10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66360" y="146304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Draft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4 agents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029200" y="2240280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138928" y="2359152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0" y="224028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Brief Builder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029200" y="2807208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138928" y="2926080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486400" y="280720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Draft Writer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029200" y="3374136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138928" y="34930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0" y="3374136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Claim Matcher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029200" y="3941064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138928" y="4059936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486400" y="3941064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Call Script Writer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7269480" y="1417320"/>
            <a:ext cx="2103120" cy="685800"/>
          </a:xfrm>
          <a:prstGeom prst="roundRect">
            <a:avLst>
              <a:gd name="adj" fmla="val 10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406640" y="146304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Review and compliance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4 agents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7269480" y="2240280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379208" y="2359152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726680" y="224028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Brand Checker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7269480" y="2807208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379208" y="2926080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726680" y="280720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Consent Guard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7269480" y="3374136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379208" y="34930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7726680" y="3374136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Sensitive-topic Router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7269480" y="3941064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4059936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726680" y="3941064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Spot-checker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9509760" y="1417320"/>
            <a:ext cx="2103120" cy="685800"/>
          </a:xfrm>
          <a:prstGeom prst="roundRect">
            <a:avLst>
              <a:gd name="adj" fmla="val 10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646920" y="146304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Release and measure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3 agents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9509760" y="2240280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619488" y="2359152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9966960" y="224028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Rep Hand-off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9509760" y="2807208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619488" y="2926080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9966960" y="280720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Decision Log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9509760" y="3374136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619488" y="34930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9966960" y="3374136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Metrics Reporter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548640" y="5257800"/>
            <a:ext cx="11094415" cy="685800"/>
          </a:xfrm>
          <a:prstGeom prst="roundRect">
            <a:avLst>
              <a:gd name="adj" fmla="val 10667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77240" y="53035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Behind every stage: For Review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People decide what the system could not</a:t>
            </a:r>
            <a:endParaRPr lang="en-US" sz="1400" dirty="0"/>
          </a:p>
        </p:txBody>
      </p:sp>
      <p:sp>
        <p:nvSpPr>
          <p:cNvPr id="76" name="Shape 74"/>
          <p:cNvSpPr/>
          <p:nvPr/>
        </p:nvSpPr>
        <p:spPr>
          <a:xfrm>
            <a:off x="3657600" y="5468112"/>
            <a:ext cx="274320" cy="2743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4041648" y="53035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Exception queue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rep's own checks</a:t>
            </a:r>
            <a:endParaRPr lang="en-US" sz="1400" dirty="0"/>
          </a:p>
        </p:txBody>
      </p:sp>
      <p:sp>
        <p:nvSpPr>
          <p:cNvPr id="78" name="Shape 76"/>
          <p:cNvSpPr/>
          <p:nvPr/>
        </p:nvSpPr>
        <p:spPr>
          <a:xfrm>
            <a:off x="6355080" y="5468112"/>
            <a:ext cx="274320" cy="2743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6739128" y="53035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Approvals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sensitive items, sales manager</a:t>
            </a:r>
            <a:endParaRPr lang="en-US" sz="1400" dirty="0"/>
          </a:p>
        </p:txBody>
      </p:sp>
      <p:sp>
        <p:nvSpPr>
          <p:cNvPr id="80" name="Shape 78"/>
          <p:cNvSpPr/>
          <p:nvPr/>
        </p:nvSpPr>
        <p:spPr>
          <a:xfrm>
            <a:off x="9052560" y="5468112"/>
            <a:ext cx="274320" cy="2743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436608" y="53035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Weekly spot-check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about 20% of released items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548640" y="60533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Agents prepare the work. Your team makes every decision.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UNDERSTANDING · THE FLOW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Understanding the demand process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3"/>
                </a:solidFill>
              </a:rPr>
              <a:t>PROSPECT &amp; ACCOUNT SCORING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657600" cy="914400"/>
          </a:xfrm>
          <a:prstGeom prst="homePlat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3232" y="2066544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20665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17830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Prospect list upload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79392" y="1783080"/>
            <a:ext cx="3657600" cy="914400"/>
          </a:xfrm>
          <a:prstGeom prst="chevron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26864" y="2066544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26864" y="20665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17830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Account fit scoring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10144" y="1783080"/>
            <a:ext cx="3657600" cy="914400"/>
          </a:xfrm>
          <a:prstGeom prst="chevron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57616" y="2066544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57616" y="20665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787384" y="17830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Signal upload &amp; tiering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154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3"/>
                </a:solidFill>
              </a:rPr>
              <a:t>MICRO-SEGMENTS, NEXT BEST ACTION &amp; FOR REVIEW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520440"/>
            <a:ext cx="1517904" cy="685800"/>
          </a:xfrm>
          <a:prstGeom prst="homePlat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05840" y="368503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5840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429768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Hand-off of tier A and B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139696" y="3520440"/>
            <a:ext cx="1517904" cy="685800"/>
          </a:xfrm>
          <a:prstGeom prst="chevron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706624" y="368503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706624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185416" y="429768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Micro-segmentation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730752" y="3520440"/>
            <a:ext cx="1517904" cy="685800"/>
          </a:xfrm>
          <a:prstGeom prst="chevron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97680" y="368503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297680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3776472" y="429768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Next best action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321808" y="3520440"/>
            <a:ext cx="1517904" cy="685800"/>
          </a:xfrm>
          <a:prstGeom prst="chevron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888736" y="368503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888736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7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367528" y="429768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Draft &amp; checks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912864" y="3520440"/>
            <a:ext cx="1517904" cy="685800"/>
          </a:xfrm>
          <a:prstGeom prst="chevron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479792" y="368503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479792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8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958584" y="429768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For Review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503920" y="3520440"/>
            <a:ext cx="1517904" cy="685800"/>
          </a:xfrm>
          <a:prstGeom prst="chevron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070848" y="368503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070848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9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549640" y="429768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Release to reps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10094976" y="3520440"/>
            <a:ext cx="1517904" cy="685800"/>
          </a:xfrm>
          <a:prstGeom prst="chevron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661904" y="368503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0661904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0140696" y="429768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Analytics: G1 and G2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48640" y="5074920"/>
            <a:ext cx="11094415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22960" y="507492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Next: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each step is described on the next three slides. The workshop walks through how your team does each one today, so the pilot is configured to your process.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UNDERSTANDING · EACH STEP ·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Prospect &amp; Account Scoring, step by step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45738" cy="73152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59105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417320"/>
            <a:ext cx="27684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Prospect list upload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3545738" cy="3977640"/>
          </a:xfrm>
          <a:prstGeom prst="roundRect">
            <a:avLst>
              <a:gd name="adj" fmla="val 10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286000"/>
            <a:ext cx="31799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3"/>
                </a:solidFill>
              </a:rPr>
              <a:t>YOU GIVE</a:t>
            </a:r>
            <a:endParaRPr lang="en-US" sz="140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Your prospect list in the DemandAI template (Excel or CSV): people, company, site, consent, opt-out, owner.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200400"/>
            <a:ext cx="31799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3"/>
                </a:solidFill>
              </a:rPr>
              <a:t>DEMANDAI DOES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456432"/>
            <a:ext cx="322569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Checks every required column</a:t>
            </a:r>
            <a:endParaRPr lang="en-US" sz="13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Fixes or flags bad rows: duplicates, missing fields</a:t>
            </a:r>
            <a:endParaRPr lang="en-US" sz="13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Holds back opt-outs and unknown consent</a:t>
            </a:r>
            <a:endParaRPr lang="en-US" sz="13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Groups people into accounts by domain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58368" y="5285232"/>
            <a:ext cx="3326282" cy="73152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5303520"/>
            <a:ext cx="308853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3"/>
                </a:solidFill>
              </a:rPr>
              <a:t>YOU SEE  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Accounts and contacts loaded, with each issue and its fix.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322978" y="1417320"/>
            <a:ext cx="3545738" cy="73152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87570" y="159105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87570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981346" y="1417320"/>
            <a:ext cx="27684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Account fit scoring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322978" y="2148840"/>
            <a:ext cx="3545738" cy="3977640"/>
          </a:xfrm>
          <a:prstGeom prst="roundRect">
            <a:avLst>
              <a:gd name="adj" fmla="val 10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05858" y="2286000"/>
            <a:ext cx="31799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3"/>
                </a:solidFill>
              </a:rPr>
              <a:t>YOU GIVE</a:t>
            </a:r>
            <a:endParaRPr lang="en-US" sz="140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Your ICP rubric: vertical, size, site profile, relationship, account type, contact coverage.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05858" y="3200400"/>
            <a:ext cx="31799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3"/>
                </a:solidFill>
              </a:rPr>
              <a:t>DEMANDAI DOES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505858" y="3456432"/>
            <a:ext cx="322569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Scores each account out of 100 on the rubric</a:t>
            </a:r>
            <a:endParaRPr lang="en-US" sz="13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Applies the fit floor</a:t>
            </a:r>
            <a:endParaRPr lang="en-US" sz="13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Marks key accounts managed separately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432706" y="5285232"/>
            <a:ext cx="3326282" cy="73152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51578" y="5303520"/>
            <a:ext cx="308853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3"/>
                </a:solidFill>
              </a:rPr>
              <a:t>YOU SEE  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fit score for every account, with the reason behind it.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097317" y="1417320"/>
            <a:ext cx="3545738" cy="73152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61909" y="159105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61909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755685" y="1417320"/>
            <a:ext cx="27684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Signal upload &amp; tiering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097317" y="2148840"/>
            <a:ext cx="3545738" cy="3977640"/>
          </a:xfrm>
          <a:prstGeom prst="roundRect">
            <a:avLst>
              <a:gd name="adj" fmla="val 10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80197" y="2286000"/>
            <a:ext cx="31799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3"/>
                </a:solidFill>
              </a:rPr>
              <a:t>YOU GIVE</a:t>
            </a:r>
            <a:endParaRPr lang="en-US" sz="140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Your signals in the signal template: company, contact, signal type, date, detail.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280197" y="3200400"/>
            <a:ext cx="31799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3"/>
                </a:solidFill>
              </a:rPr>
              <a:t>DEMANDAI DOES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280197" y="3456432"/>
            <a:ext cx="322569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Matches each signal to the account and person</a:t>
            </a:r>
            <a:endParaRPr lang="en-US" sz="13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Weights it by type and age</a:t>
            </a:r>
            <a:endParaRPr lang="en-US" sz="13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Combines it with fit into a score</a:t>
            </a:r>
            <a:endParaRPr lang="en-US" sz="13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Ranks people into tiers A, B and C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8207045" y="5285232"/>
            <a:ext cx="3326282" cy="73152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325917" y="5303520"/>
            <a:ext cx="308853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3"/>
                </a:solidFill>
              </a:rPr>
              <a:t>YOU SEE  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ranked prospect list with why now for each person.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UNDERSTANDING · EACH STEP ·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Micro-segments &amp; Next Best Action, step by step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602154" cy="73152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59105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4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417320"/>
            <a:ext cx="18249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Hand-off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2602154" cy="3977640"/>
          </a:xfrm>
          <a:prstGeom prst="roundRect">
            <a:avLst>
              <a:gd name="adj" fmla="val 14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286000"/>
            <a:ext cx="2236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3"/>
                </a:solidFill>
              </a:rPr>
              <a:t>YOU GIVE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The tier A and B prospects with a live signal (or the ones you pick).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200400"/>
            <a:ext cx="22363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3"/>
                </a:solidFill>
              </a:rPr>
              <a:t>DEMANDAI DOES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456432"/>
            <a:ext cx="228211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Keeps only people who can be contacted</a:t>
            </a:r>
            <a:endParaRPr lang="en-US" sz="12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Counts the rest as held back, with why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5285232"/>
            <a:ext cx="2382698" cy="73152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5303520"/>
            <a:ext cx="214495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3"/>
                </a:solidFill>
              </a:rPr>
              <a:t>YOU SEE  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Prospects handed to NBA, and who was held back.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379394" y="1417320"/>
            <a:ext cx="2602154" cy="73152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43986" y="159105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543986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037762" y="1417320"/>
            <a:ext cx="18249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Micro-segmentation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3379394" y="2148840"/>
            <a:ext cx="2602154" cy="3977640"/>
          </a:xfrm>
          <a:prstGeom prst="roundRect">
            <a:avLst>
              <a:gd name="adj" fmla="val 14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62274" y="2286000"/>
            <a:ext cx="2236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3"/>
                </a:solidFill>
              </a:rPr>
              <a:t>YOU GIVE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The segments in your Setup (six to start with).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562274" y="3200400"/>
            <a:ext cx="22363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3"/>
                </a:solidFill>
              </a:rPr>
              <a:t>DEMANDAI DOES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3562274" y="3456432"/>
            <a:ext cx="228211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Groups accounts that share a reason to buy</a:t>
            </a:r>
            <a:endParaRPr lang="en-US" sz="12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Needs at least 3 accounts per segment</a:t>
            </a:r>
            <a:endParaRPr lang="en-US" sz="12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AI may suggest a new segment for a manager to approve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3489122" y="5285232"/>
            <a:ext cx="2382698" cy="73152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607994" y="5303520"/>
            <a:ext cx="214495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3"/>
                </a:solidFill>
              </a:rPr>
              <a:t>YOU SEE  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Segments, each with its accounts and reason.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10148" y="1417320"/>
            <a:ext cx="2602154" cy="73152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74740" y="159105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74740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6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868516" y="1417320"/>
            <a:ext cx="18249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Next best action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210148" y="2148840"/>
            <a:ext cx="2602154" cy="3977640"/>
          </a:xfrm>
          <a:prstGeom prst="roundRect">
            <a:avLst>
              <a:gd name="adj" fmla="val 14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3028" y="2286000"/>
            <a:ext cx="2236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3"/>
                </a:solidFill>
              </a:rPr>
              <a:t>YOU GIVE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The actions you set per segment in Setup.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393028" y="3200400"/>
            <a:ext cx="22363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3"/>
                </a:solidFill>
              </a:rPr>
              <a:t>DEMANDAI DOES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6393028" y="3456432"/>
            <a:ext cx="228211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AI picks the action that fits the signal and person</a:t>
            </a:r>
            <a:endParaRPr lang="en-US" sz="12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Chooses email, LinkedIn or call within consent</a:t>
            </a:r>
            <a:endParaRPr lang="en-US" sz="12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Estimates the first deal and confidence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319876" y="5285232"/>
            <a:ext cx="2382698" cy="73152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38748" y="5303520"/>
            <a:ext cx="214495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3"/>
                </a:solidFill>
              </a:rPr>
              <a:t>YOU SEE  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action per prospect, with why.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9040901" y="1417320"/>
            <a:ext cx="2602154" cy="73152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205493" y="159105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205493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7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699269" y="1417320"/>
            <a:ext cx="18249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Draft &amp; checks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9040901" y="2148840"/>
            <a:ext cx="2602154" cy="3977640"/>
          </a:xfrm>
          <a:prstGeom prst="roundRect">
            <a:avLst>
              <a:gd name="adj" fmla="val 14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223781" y="2286000"/>
            <a:ext cx="2236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3"/>
                </a:solidFill>
              </a:rPr>
              <a:t>YOU GIVE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Your Content library: brand voice, approved claims, plays, banned words.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9223781" y="3200400"/>
            <a:ext cx="22363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3"/>
                </a:solidFill>
              </a:rPr>
              <a:t>DEMANDAI DOES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9223781" y="3456432"/>
            <a:ext cx="228211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Writes the first message from approved content</a:t>
            </a:r>
            <a:endParaRPr lang="en-US" sz="12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Checks brand, claims, length, pricing, consent</a:t>
            </a:r>
            <a:endParaRPr lang="en-US" sz="12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Regenerates once if a check fails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9150629" y="5285232"/>
            <a:ext cx="2382698" cy="73152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269501" y="5303520"/>
            <a:ext cx="214495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3"/>
                </a:solidFill>
              </a:rPr>
              <a:t>YOU SEE  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ready draft, or the check that stopped 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UNDERSTANDING · EACH STEP ·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For Review, release and Analytics, step by step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45738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59105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8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417320"/>
            <a:ext cx="27684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For Review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3545738" cy="3977640"/>
          </a:xfrm>
          <a:prstGeom prst="roundRect">
            <a:avLst>
              <a:gd name="adj" fmla="val 10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286000"/>
            <a:ext cx="31799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3"/>
                </a:solidFill>
              </a:rPr>
              <a:t>YOU GIVE</a:t>
            </a:r>
            <a:endParaRPr lang="en-US" sz="140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Reviewers: each rep for their own items; the sales manager for approvals.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200400"/>
            <a:ext cx="31799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3"/>
                </a:solidFill>
              </a:rPr>
              <a:t>DEMANDAI DOES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456432"/>
            <a:ext cx="322569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Exception queue: items a check could not clear go to the rep</a:t>
            </a:r>
            <a:endParaRPr lang="en-US" sz="13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Approvals: sensitive topics (incidents, security, regulation) go to the sales manager</a:t>
            </a:r>
            <a:endParaRPr lang="en-US" sz="13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Weekly spot-check: about 20% of released items, at least one per rep, rated by a person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58368" y="5285232"/>
            <a:ext cx="3326282" cy="73152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5303520"/>
            <a:ext cx="308853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3"/>
                </a:solidFill>
              </a:rPr>
              <a:t>YOU SEE  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Accept, edit, choose an alternative or reject, with a reason.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322978" y="1417320"/>
            <a:ext cx="3545738" cy="73152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87570" y="159105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87570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9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981346" y="1417320"/>
            <a:ext cx="27684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Release to reps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322978" y="2148840"/>
            <a:ext cx="3545738" cy="3977640"/>
          </a:xfrm>
          <a:prstGeom prst="roundRect">
            <a:avLst>
              <a:gd name="adj" fmla="val 10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05858" y="2286000"/>
            <a:ext cx="31799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3"/>
                </a:solidFill>
              </a:rPr>
              <a:t>YOU GIVE</a:t>
            </a:r>
            <a:endParaRPr lang="en-US" sz="140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Nothing: items that pass every check go ahead on their own.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05858" y="3200400"/>
            <a:ext cx="31799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3"/>
                </a:solidFill>
              </a:rPr>
              <a:t>DEMANDAI DOES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505858" y="3456432"/>
            <a:ext cx="322569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Puts ready actions on each rep's Today list</a:t>
            </a:r>
            <a:endParaRPr lang="en-US" sz="13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Reps send from their own email or LinkedIn</a:t>
            </a:r>
            <a:endParaRPr lang="en-US" sz="13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Nothing is sent automatically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432706" y="5285232"/>
            <a:ext cx="3326282" cy="73152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51578" y="5303520"/>
            <a:ext cx="308853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3"/>
                </a:solidFill>
              </a:rPr>
              <a:t>YOU SEE  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Each rep's actions for today, ready to use.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097317" y="1417320"/>
            <a:ext cx="3545738" cy="73152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61909" y="159105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61909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10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755685" y="1417320"/>
            <a:ext cx="27684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Analytics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097317" y="2148840"/>
            <a:ext cx="3545738" cy="3977640"/>
          </a:xfrm>
          <a:prstGeom prst="roundRect">
            <a:avLst>
              <a:gd name="adj" fmla="val 10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80197" y="2286000"/>
            <a:ext cx="31799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3"/>
                </a:solidFill>
              </a:rPr>
              <a:t>YOU GIVE</a:t>
            </a:r>
            <a:endParaRPr lang="en-US" sz="140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The baseline and thresholds you agree (e.g. 38 minutes per action today).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280197" y="3200400"/>
            <a:ext cx="31799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3"/>
                </a:solidFill>
              </a:rPr>
              <a:t>DEMANDAI DOES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280197" y="3456432"/>
            <a:ext cx="322569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G1: human review minutes per usable first action</a:t>
            </a:r>
            <a:endParaRPr lang="en-US" sz="13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G2: share accepted on the first pass</a:t>
            </a:r>
            <a:endParaRPr lang="en-US" sz="13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Too early to call until 10 decisions are counted</a:t>
            </a:r>
            <a:endParaRPr lang="en-US" sz="13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Pilot readout and weekly summary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8207045" y="5285232"/>
            <a:ext cx="3326282" cy="73152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325917" y="5303520"/>
            <a:ext cx="308853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3"/>
                </a:solidFill>
              </a:rPr>
              <a:t>YOU SEE  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Whether the pilot meets G1 and G2, and why.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UNDERSTANDING · PROSPECT &amp; ACCOUNT SCORING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Prospect &amp; Account Scoring: key questions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445752" y="292608"/>
            <a:ext cx="219456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445752" y="2926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</a:rPr>
              <a:t>ACCOUNT SCORING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515258" cy="777240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463040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A. Lead lists &amp; data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3515258" cy="3337560"/>
          </a:xfrm>
          <a:prstGeom prst="roundRect">
            <a:avLst>
              <a:gd name="adj" fmla="val 10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423160"/>
            <a:ext cx="310377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Where do lead lists come from today: CRM, events, bought data?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How many accounts and contacts per region and business unit?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How are duplicates, opt-outs and consent handled?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Who owns each account, and how is that recorded?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How often are lists refreshed?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38218" y="1463040"/>
            <a:ext cx="3515258" cy="777240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66818" y="1463040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B. Ideal customer &amp; fit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338218" y="2240280"/>
            <a:ext cx="3515258" cy="3337560"/>
          </a:xfrm>
          <a:prstGeom prst="roundRect">
            <a:avLst>
              <a:gd name="adj" fmla="val 10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66818" y="2423160"/>
            <a:ext cx="310377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Who is the ideal customer: industry, site type, size, revenue?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Which criteria rule an account out?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Which roles and seniority do you target first?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Are existing customers and net-new treated differently?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Are some accounts managed separately (key accounts, partners)?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127797" y="1463040"/>
            <a:ext cx="3515258" cy="777240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56397" y="1463040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C. Buying signals &amp; timing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8127797" y="2240280"/>
            <a:ext cx="3515258" cy="3337560"/>
          </a:xfrm>
          <a:prstGeom prst="roundRect">
            <a:avLst>
              <a:gd name="adj" fmla="val 10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56397" y="2423160"/>
            <a:ext cx="310377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Which signals matter most: inquiries, end of support, renewals, projects, new leaders, webinars?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Where does each signal come from, and how fresh is it?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How long does a signal stay relevant?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Do you track installed-base and contract dates?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48640" y="5760720"/>
            <a:ext cx="11094415" cy="457200"/>
          </a:xfrm>
          <a:prstGeom prst="roundRect">
            <a:avLst>
              <a:gd name="adj" fmla="val 16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57607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Any additional pain points in finding and prioritising prospects?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ACCOUNT SCORING · INPUTS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What DemandAI receives: two files in our templates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DemandAI does not search the web in the pilot. Your team exports prospects and signals from your own systems into two templates and uploads them.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9496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01952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8745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Prospect template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3317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chemeClr val="tx2"/>
                </a:solidFill>
              </a:rPr>
              <a:t>One row per person. Uploaded in Prospecting.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97480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3"/>
                </a:solidFill>
              </a:rPr>
              <a:t>Person 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first_name, last_name, job_title, seniority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026664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3"/>
                </a:solidFill>
              </a:rPr>
              <a:t>Contact 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email, email_verified, linkedin_url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355848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3"/>
                </a:solidFill>
              </a:rPr>
              <a:t>Company 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company_name, company_domain, country, industry, revenue, employees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3685032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3"/>
                </a:solidFill>
              </a:rPr>
              <a:t>Site 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site_name, process type, capacity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014216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3"/>
                </a:solidFill>
              </a:rPr>
              <a:t>Relationship 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existing_customer, account_type, managed_separately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4343400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3"/>
                </a:solidFill>
              </a:rPr>
              <a:t>Consent 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consent_basis, opt_out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4672584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3"/>
                </a:solidFill>
              </a:rPr>
              <a:t>Owner 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owner_email (the rep)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72200" y="1737360"/>
            <a:ext cx="5394960" cy="3291840"/>
          </a:xfrm>
          <a:prstGeom prst="roundRect">
            <a:avLst>
              <a:gd name="adj" fmla="val 222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01952"/>
            <a:ext cx="365760" cy="36576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6903720" y="18745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Signal template</a:t>
            </a:r>
            <a:endParaRPr lang="en-US" sz="1900" dirty="0"/>
          </a:p>
        </p:txBody>
      </p:sp>
      <p:sp>
        <p:nvSpPr>
          <p:cNvPr id="19" name="Text 15"/>
          <p:cNvSpPr txBox="1"/>
          <p:nvPr/>
        </p:nvSpPr>
        <p:spPr>
          <a:xfrm>
            <a:off x="6400800" y="23317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chemeClr val="accent6"/>
                </a:solidFill>
              </a:rPr>
              <a:t>One row per signal. Uploaded in Scoring.</a:t>
            </a:r>
            <a:endParaRPr lang="en-US" sz="1250" dirty="0"/>
          </a:p>
        </p:txBody>
      </p:sp>
      <p:sp>
        <p:nvSpPr>
          <p:cNvPr id="20" name="Text 16"/>
          <p:cNvSpPr txBox="1"/>
          <p:nvPr/>
        </p:nvSpPr>
        <p:spPr>
          <a:xfrm>
            <a:off x="6400800" y="2697480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Who  </a:t>
            </a:r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</a:rPr>
              <a:t>company_name, company_domain, contact_email_or_linkedin</a:t>
            </a:r>
            <a:endParaRPr lang="en-US" sz="1250" dirty="0"/>
          </a:p>
        </p:txBody>
      </p:sp>
      <p:sp>
        <p:nvSpPr>
          <p:cNvPr id="21" name="Text 17"/>
          <p:cNvSpPr txBox="1"/>
          <p:nvPr/>
        </p:nvSpPr>
        <p:spPr>
          <a:xfrm>
            <a:off x="6400800" y="3026664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What  </a:t>
            </a:r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</a:rPr>
              <a:t>signal_type (one of the types below, or one you add in Setup)</a:t>
            </a:r>
            <a:endParaRPr lang="en-US" sz="1250" dirty="0"/>
          </a:p>
        </p:txBody>
      </p:sp>
      <p:sp>
        <p:nvSpPr>
          <p:cNvPr id="22" name="Text 18"/>
          <p:cNvSpPr txBox="1"/>
          <p:nvPr/>
        </p:nvSpPr>
        <p:spPr>
          <a:xfrm>
            <a:off x="6400800" y="3355848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When  </a:t>
            </a:r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</a:rPr>
              <a:t>event_date</a:t>
            </a:r>
            <a:endParaRPr lang="en-US" sz="1250" dirty="0"/>
          </a:p>
        </p:txBody>
      </p:sp>
      <p:sp>
        <p:nvSpPr>
          <p:cNvPr id="23" name="Text 19"/>
          <p:cNvSpPr txBox="1"/>
          <p:nvPr/>
        </p:nvSpPr>
        <p:spPr>
          <a:xfrm>
            <a:off x="6400800" y="3685032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Detail  </a:t>
            </a:r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</a:rPr>
              <a:t>detail, source, product</a:t>
            </a:r>
            <a:endParaRPr lang="en-US" sz="1250" dirty="0"/>
          </a:p>
        </p:txBody>
      </p:sp>
      <p:sp>
        <p:nvSpPr>
          <p:cNvPr id="24" name="Text 20"/>
          <p:cNvSpPr txBox="1"/>
          <p:nvPr/>
        </p:nvSpPr>
        <p:spPr>
          <a:xfrm>
            <a:off x="6400800" y="402336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Signal types: Inquiry or RFQ · Installed system near end of support · Service contract renewal · Capital project · Leadership change · Webinar attended · Webinar registered · Content download · Email clicked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548640" y="51937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3"/>
                </a:solidFill>
              </a:rPr>
              <a:t>HOW DEMANDAI USES THE FILES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548640" y="5504688"/>
            <a:ext cx="2724912" cy="749808"/>
          </a:xfrm>
          <a:prstGeom prst="homePlat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85800" y="56875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85800" y="5687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1170432" y="5504688"/>
            <a:ext cx="1645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Check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Columns, values, duplicates, consent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3346704" y="5504688"/>
            <a:ext cx="2724912" cy="749808"/>
          </a:xfrm>
          <a:prstGeom prst="chevron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3666744" y="56875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3666744" y="5687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4151376" y="5504688"/>
            <a:ext cx="1645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Match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Signal to account by domain, to person by email</a:t>
            </a:r>
            <a:endParaRPr 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6144768" y="5504688"/>
            <a:ext cx="2724912" cy="749808"/>
          </a:xfrm>
          <a:prstGeom prst="chevron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6464808" y="56875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464808" y="5687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6949440" y="5504688"/>
            <a:ext cx="1645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Score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Fit × signal weight × freshness</a:t>
            </a:r>
            <a:endParaRPr lang="en-US" sz="1400" dirty="0"/>
          </a:p>
        </p:txBody>
      </p:sp>
      <p:sp>
        <p:nvSpPr>
          <p:cNvPr id="38" name="Shape 34"/>
          <p:cNvSpPr/>
          <p:nvPr/>
        </p:nvSpPr>
        <p:spPr>
          <a:xfrm>
            <a:off x="8942832" y="5504688"/>
            <a:ext cx="2724912" cy="749808"/>
          </a:xfrm>
          <a:prstGeom prst="chevron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9262872" y="56875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9262872" y="5687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4</a:t>
            </a:r>
            <a:endParaRPr lang="en-US" sz="1200" dirty="0"/>
          </a:p>
        </p:txBody>
      </p:sp>
      <p:sp>
        <p:nvSpPr>
          <p:cNvPr id="41" name="Text 37"/>
          <p:cNvSpPr txBox="1"/>
          <p:nvPr/>
        </p:nvSpPr>
        <p:spPr>
          <a:xfrm>
            <a:off x="9747504" y="5504688"/>
            <a:ext cx="1645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Tier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A, B or C per person, with why now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ACCOUNT SCORING · SEGMENTS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Our understanding: six reasons a site buys now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240280"/>
                <a:gridCol w="2834640"/>
                <a:gridCol w="44165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Micro-segment</a:t>
                      </a:r>
                      <a:endParaRPr lang="en-US" sz="125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Signal that triggers it</a:t>
                      </a:r>
                      <a:endParaRPr lang="en-US" sz="125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Angle (the play)</a:t>
                      </a:r>
                      <a:endParaRPr lang="en-US" sz="125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Actions your team sets in Setup</a:t>
                      </a:r>
                      <a:endParaRPr lang="en-US" sz="125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Inquiry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Inquiry or RFQ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Answer the question they asked while it is live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Call to follow up on the inquiry · Route the inquiry to the sales owner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Modernisation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Installed system near end of support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Plan the migration before end of support forces the timing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Propose a migration-path discussion · Offer a site assessment · Offer a lifecycle service review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Service renewal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Service contract renewal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Check the cover still fits how the site runs today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Offer a renewal review · Route to the service owner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Project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Capital project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Settle the control scope while the design is still open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Share a case study and offer a technical session · Offer a reference-site visit · Offer an early design workshop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Leadership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Leadership change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Be useful to a new leader setting priorities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Introduce Client to the new leader · Share a peer case study · Invite to a short briefing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Engagement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Webinar, download or email click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Follow up on the topic they chose to engage with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Follow up on the topic they engaged with · Invite to a related session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956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3"/>
                </a:solidFill>
              </a:rPr>
              <a:t>HOW THE NEXT BEST ACTION IS CHOSEN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5285232"/>
            <a:ext cx="3566160" cy="914400"/>
          </a:xfrm>
          <a:prstGeom prst="roundRect">
            <a:avLst>
              <a:gd name="adj" fmla="val 8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55321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532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5285232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Your inputs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Your team sets the segments and actions in Setup; they guide the AI.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279392" y="5285232"/>
            <a:ext cx="3566160" cy="914400"/>
          </a:xfrm>
          <a:prstGeom prst="roundRect">
            <a:avLst>
              <a:gd name="adj" fmla="val 8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62272" y="55321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462272" y="5532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010912" y="5285232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</a:rPr>
              <a:t>AI decides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The AI picks the action that fits the signal, the person and the account.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010144" y="5285232"/>
            <a:ext cx="3566160" cy="914400"/>
          </a:xfrm>
          <a:prstGeom prst="roundRect">
            <a:avLst>
              <a:gd name="adj" fmla="val 8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93024" y="55321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193024" y="5532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741664" y="5285232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Outside the list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new action or segment the AI suggests goes to For Review, tagged, for a person to approve.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UNDERSTANDING · MICRO-SEGMENTS &amp; NBA ·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Micro-segments &amp; NBA: key questions (1/3)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445752" y="292608"/>
            <a:ext cx="219456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445752" y="2926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</a:rPr>
              <a:t>NEXT BEST ACTION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515258" cy="777240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463040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D. Prioritising &amp; segments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3515258" cy="3886200"/>
          </a:xfrm>
          <a:prstGeom prst="roundRect">
            <a:avLst>
              <a:gd name="adj" fmla="val 104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423160"/>
            <a:ext cx="310377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How do reps decide which accounts to work this week?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Do you group accounts by their reason to buy?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Who should approve a new segment?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How many accounts can a rep act on each week?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38218" y="1463040"/>
            <a:ext cx="3515258" cy="777240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66818" y="1463040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E. Actions &amp; channels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338218" y="2240280"/>
            <a:ext cx="3515258" cy="3886200"/>
          </a:xfrm>
          <a:prstGeom prst="roundRect">
            <a:avLst>
              <a:gd name="adj" fmla="val 104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66818" y="2423160"/>
            <a:ext cx="310377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What does a rep do today in each situation: call, assessment, renewal review, case study?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Which channels are allowed per country: email, LinkedIn, phone?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What is a typical first deal size per segment?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Who picks up accounts with no rep?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127797" y="1463040"/>
            <a:ext cx="3515258" cy="777240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56397" y="1463040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F. Messaging &amp; content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8127797" y="2240280"/>
            <a:ext cx="3515258" cy="3886200"/>
          </a:xfrm>
          <a:prstGeom prst="roundRect">
            <a:avLst>
              <a:gd name="adj" fmla="val 104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56397" y="2423160"/>
            <a:ext cx="310377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How are first messages written today, and how long do they take?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Is there a brand guideline, tone of voice and banned words?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Is there a library of approved claims and case studies, with expiry dates?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Are there plays or frameworks per segment?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UNDERSTANDING · MICRO-SEGMENTS &amp; NBA ·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Micro-segments &amp; NBA: key questions (2/3)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445752" y="292608"/>
            <a:ext cx="219456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445752" y="2926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</a:rPr>
              <a:t>NEXT BEST ACTION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515258" cy="777240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463040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G. Review &amp; approval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3515258" cy="3886200"/>
          </a:xfrm>
          <a:prstGeom prst="roundRect">
            <a:avLst>
              <a:gd name="adj" fmla="val 104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423160"/>
            <a:ext cx="310377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Who reviews messages before they go out today?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Which topics need a manager: pricing, incidents, security, regulation?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What review effort per action is acceptable?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What should happen to a rejected suggestion?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38218" y="1463040"/>
            <a:ext cx="3515258" cy="777240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66818" y="1463040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H. Rep hand-off &amp; CRM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338218" y="2240280"/>
            <a:ext cx="3515258" cy="3886200"/>
          </a:xfrm>
          <a:prstGeom prst="roundRect">
            <a:avLst>
              <a:gd name="adj" fmla="val 104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66818" y="2423160"/>
            <a:ext cx="310377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Where do reps work today: CRM, email, a sales engagement tool?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Should released actions become CRM tasks?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How are activities and outcomes logged?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Which notifications do reps want?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127797" y="1463040"/>
            <a:ext cx="3515258" cy="777240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56397" y="1463040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I. Consent &amp; data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8127797" y="2240280"/>
            <a:ext cx="3515258" cy="3886200"/>
          </a:xfrm>
          <a:prstGeom prst="roundRect">
            <a:avLst>
              <a:gd name="adj" fmla="val 104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56397" y="2423160"/>
            <a:ext cx="310377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Which consent bases apply in each country?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How are opt-outs captured and shared?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Any data residency requirements?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What happens to pilot data at the end?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UNDERSTANDING · MICRO-SEGMENTS &amp; NBA ·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Micro-segments &amp; NBA: key questions (3/3)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445752" y="292608"/>
            <a:ext cx="219456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445752" y="2926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</a:rPr>
              <a:t>NEXT BEST ACTION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10048" cy="777240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463040"/>
            <a:ext cx="49528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J. Learning &amp; measurement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5410048" cy="3886200"/>
          </a:xfrm>
          <a:prstGeom prst="roundRect">
            <a:avLst>
              <a:gd name="adj" fmla="val 9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423160"/>
            <a:ext cx="499856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Are outcomes (reply, meeting, opportunity) recorded today, and where?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Is there a report of outbound metrics?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Is win or loss linked back to the first touch?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Which outcomes matter most to sales leadership?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33008" y="1463040"/>
            <a:ext cx="5410048" cy="777240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61608" y="1463040"/>
            <a:ext cx="49528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K. Baseline numbers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233008" y="2240280"/>
            <a:ext cx="5410048" cy="3886200"/>
          </a:xfrm>
          <a:prstGeom prst="roundRect">
            <a:avLst>
              <a:gd name="adj" fmla="val 9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61608" y="2423160"/>
            <a:ext cx="499856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Research time per account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Time from signal to first touch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Reply and meeting rates by channel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Pipeline sourced from outbound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Accounts a rep works per week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0" y="1371600"/>
            <a:ext cx="3840480" cy="3840480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680960" y="1371600"/>
            <a:ext cx="38404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chemeClr val="tx1"/>
                </a:solidFill>
              </a:rPr>
              <a:t>02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DEMAND AI  ·  KEY INPUTS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60320"/>
            <a:ext cx="676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Key inputs from stakeholders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1148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Key inputs needed from you for the pilot.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KEY REQUIREMENTS · 1 OF 2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What we need: data and content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4206240" cy="4480560"/>
          </a:xfrm>
          <a:prstGeom prst="roundRect">
            <a:avLst>
              <a:gd name="adj" fmla="val 173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691640"/>
            <a:ext cx="1554480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9164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</a:rPr>
              <a:t>MOST IMPORTANT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1945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Data to train and test the pilot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10896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2 to 3 lead lists for the pilot business unit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6 to 12 months of signals for those accounts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Outcomes: replied, meeting, opportunity, or no response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 mix of existing customers and net-new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5166360"/>
            <a:ext cx="173736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51663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80% </a:t>
            </a:r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tune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743200" y="5166360"/>
            <a:ext cx="1737360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743200" y="51663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20% </a:t>
            </a:r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test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74920" y="150876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74920" y="1508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0" y="150876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Content library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0" y="1965960"/>
            <a:ext cx="5943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Brand guideline, tone of voice, sign-off</a:t>
            </a:r>
            <a:endParaRPr lang="en-US" sz="13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Approved claims and case studies, with owners and expiry dates</a:t>
            </a:r>
            <a:endParaRPr lang="en-US" sz="13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Messaging plays per segment; banned words and competitors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074920" y="3044952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74920" y="30449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3044952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ICP and scoring rules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0" y="3502152"/>
            <a:ext cx="5943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Ideal customer criteria and the fit floor</a:t>
            </a:r>
            <a:endParaRPr lang="en-US" sz="13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Target roles and seniority</a:t>
            </a:r>
            <a:endParaRPr lang="en-US" sz="13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Which signals count, and their weights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074920" y="4581144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74920" y="45811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0" y="4581144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Signal sources and actions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0" y="5038344"/>
            <a:ext cx="5943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Web forms, webinar and email platforms, CRM, installed base</a:t>
            </a:r>
            <a:endParaRPr lang="en-US" sz="13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News or project feeds you subscribe to</a:t>
            </a:r>
            <a:endParaRPr lang="en-US" sz="13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The actions reps may take, by segment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KEY REQUIREMENTS · 2 OF 2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What we need: access and ways of working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2880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Pilot team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42316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One business unit and 3 to 5 reps</a:t>
            </a:r>
            <a:endParaRPr lang="en-US" sz="13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Roles: admin, sales manager, rep, viewer, content owner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279392" y="146304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07992" y="1691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152" y="182880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93792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Cadence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07992" y="242316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Biweekly check-in</a:t>
            </a:r>
            <a:endParaRPr lang="en-US" sz="13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Inputs provided by agreed dates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010144" y="146304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38744" y="1691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5904" y="182880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924544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Communication channel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238744" y="242316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Shared Teams channel</a:t>
            </a:r>
            <a:endParaRPr lang="en-US" sz="13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One owner per open question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548640" y="379476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77240" y="4023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160520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463040" y="4023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Data and content repository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77240" y="47548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Central folder for lists, signals and content</a:t>
            </a:r>
            <a:endParaRPr lang="en-US" sz="13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Access-controlled for the pilot team</a:t>
            </a:r>
            <a:endParaRPr lang="en-US" sz="1350" dirty="0"/>
          </a:p>
        </p:txBody>
      </p:sp>
      <p:sp>
        <p:nvSpPr>
          <p:cNvPr id="24" name="Shape 18"/>
          <p:cNvSpPr/>
          <p:nvPr/>
        </p:nvSpPr>
        <p:spPr>
          <a:xfrm>
            <a:off x="4279392" y="379476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07992" y="4023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5152" y="4160520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193792" y="4023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System and InfoSec access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4507992" y="47548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CRM export or read access</a:t>
            </a:r>
            <a:endParaRPr lang="en-US" sz="13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Security review and cloud account set-up</a:t>
            </a:r>
            <a:endParaRPr lang="en-US" sz="1350" dirty="0"/>
          </a:p>
        </p:txBody>
      </p:sp>
      <p:sp>
        <p:nvSpPr>
          <p:cNvPr id="29" name="Shape 22"/>
          <p:cNvSpPr/>
          <p:nvPr/>
        </p:nvSpPr>
        <p:spPr>
          <a:xfrm>
            <a:off x="8010144" y="379476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238744" y="4023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5904" y="4160520"/>
            <a:ext cx="274320" cy="27432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924544" y="4023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Scope and timelines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8238744" y="47548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Agree the pilot business unit and dates</a:t>
            </a:r>
            <a:endParaRPr lang="en-US" sz="13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Review progress at each check-in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SUCCESS CRITERIA · THE TWO MAIN MEASURES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The pilot is judged on two measures: G1 and G2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434840"/>
          </a:xfrm>
          <a:prstGeom prst="roundRect">
            <a:avLst>
              <a:gd name="adj" fmla="val 164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G1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155448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Human review effort</a:t>
            </a:r>
            <a:endParaRPr lang="en-US" sz="1400" dirty="0"/>
          </a:p>
          <a:p>
            <a:pPr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How much time does a person spend making each first action usable?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74320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274320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Measured as  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Review minutes per usable first action, from For Review timings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3401568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340156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Compared with  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Your timed baseline (placeholder: 38 minutes today)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" y="4059936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4059936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Passes when  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Effort drops by at least 50%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846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Example  </a:t>
            </a:r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38 min → 19 min or less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172200" y="1371600"/>
            <a:ext cx="5394960" cy="4434840"/>
          </a:xfrm>
          <a:prstGeom prst="roundRect">
            <a:avLst>
              <a:gd name="adj" fmla="val 1649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150876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G2</a:t>
            </a:r>
            <a:endParaRPr lang="en-US" sz="5400" dirty="0"/>
          </a:p>
        </p:txBody>
      </p:sp>
      <p:sp>
        <p:nvSpPr>
          <p:cNvPr id="16" name="Text 14"/>
          <p:cNvSpPr txBox="1"/>
          <p:nvPr/>
        </p:nvSpPr>
        <p:spPr>
          <a:xfrm>
            <a:off x="7909560" y="155448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Acceptance rate</a:t>
            </a:r>
            <a:endParaRPr lang="en-US" sz="1400" dirty="0"/>
          </a:p>
          <a:p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How often does a person accept the recommended action on the first pass?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46520" y="274320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29400" y="274320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Measured as 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Accepted ÷ decided, first-pass and exception items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46520" y="3401568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29400" y="340156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Counts as accepted 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Accepted as is, or within one alternative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46520" y="4059936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29400" y="4059936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Passes when 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At least 70% are accepted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446520" y="4846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Example 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7 of every 10 or more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Both read "too early to call" until 10 decisions are counted. Baseline, thresholds and the minimum are agreed with you at baselining and can be changed by a manager.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SUCCESS CRITERIA · OTHER MEASURES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Other measures: Prospect &amp; Account Scoring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920240"/>
                <a:gridCol w="2926080"/>
                <a:gridCol w="2240280"/>
                <a:gridCol w="2514600"/>
                <a:gridCol w="1078992"/>
              </a:tblGrid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Baseline metric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Metric definition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How we measure it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Metric illustration (examples)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Rating scale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Accounts covered*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How many target accounts are reviewed for buying signals today?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Accounts with a current score each month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Today 200 by hand | 2,000+ scored weekly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</a:rPr>
                        <a:t>☆☆☆☆☆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Research effort*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How long does a rep spend finding out why to call an account?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Minutes per account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30 minutes today vs 5 minutes to review | 80% less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</a:rPr>
                        <a:t>☆☆☆☆☆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Signal-to-touch time*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How long after a signal does the first touch happen?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Average days from signal date to first touch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Not measured today vs within 3 working days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</a:rPr>
                        <a:t>☆☆☆☆☆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Prioritisation accuracy*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Do the top-tier prospects produce most of the meetings?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Share of meetings from tier A and B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70% of meetings from tier A and B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</a:rPr>
                        <a:t>☆☆☆☆☆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List quality*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How many rows are unusable: duplicates, no contact, opted out?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Issues found per 1,000 rows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Flagged before scoring, with a fix suggested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</a:rPr>
                        <a:t>☆☆☆☆☆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Missed signals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How many live signals were not acted on?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Signals older than 30 days with no touch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Not measured today vs tracked weekly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</a:rPr>
                        <a:t>☆☆☆☆☆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* can be measured during the pilot phase. Figures in the illustration column are examples to agree at baselining, not commitments.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SUCCESS CRITERIA · OTHER MEASURES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Other measures: Micro-segments, NBA &amp; For Review</a:t>
            </a:r>
            <a:endParaRPr lang="en-US" sz="2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920240"/>
                <a:gridCol w="2926080"/>
                <a:gridCol w="2240280"/>
                <a:gridCol w="2514600"/>
                <a:gridCol w="1078992"/>
              </a:tblGrid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Baseline metric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Metric definition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How we measure it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Metric illustration (examples)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Rating scale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Go ahead on their own*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How many actions pass every check without a person?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Released automatically ÷ all actions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 in 10 go ahead; the rest are reviewed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</a:rPr>
                        <a:t>☆☆☆☆☆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Messages on brand*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How many drafts pass the brand, claim and consent checks?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Share of drafts with no flag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95% pass; the rest are corrected once automatically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</a:rPr>
                        <a:t>☆☆☆☆☆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Spot-check rating*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Are released actions good when a person checks a sample?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Average rating of the weekly 20% sample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 out of 5 or better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</a:rPr>
                        <a:t>☆☆☆☆☆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Rep adoption*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Do reps use the list each week?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Weekly active reps; actions worked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 of 5 reps active every week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</a:rPr>
                        <a:t>☆☆☆☆☆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Reply and meeting rate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Do recommended actions get more responses?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Replies and meetings per 100 touches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Pilot reps vs the same reps last year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</a:rPr>
                        <a:t>☆☆☆☆☆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Pipeline sourced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What pipeline starts from a DemandAI action?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Opportunities and value linked to a first touch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Tracked from pilot week 4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</a:rPr>
                        <a:t>☆☆☆☆☆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* can be measured during the pilot phase. Reply rates and pipeline need outcomes from your CRM; revenue attribution needs a longer window. Open to discussion.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DRAFT TIMELINE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Draft pilot timeline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864608" y="1371600"/>
            <a:ext cx="2087404" cy="27432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846320" y="1371600"/>
            <a:ext cx="2123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Nov 2026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988588" y="1371600"/>
            <a:ext cx="1662608" cy="2743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970300" y="1371600"/>
            <a:ext cx="169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Dec 2026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687772" y="1371600"/>
            <a:ext cx="1662608" cy="27432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69484" y="1371600"/>
            <a:ext cx="169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Jan 2027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0386955" y="1371600"/>
            <a:ext cx="1237812" cy="2743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368667" y="1371600"/>
            <a:ext cx="12743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Feb 2027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673352"/>
            <a:ext cx="4247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W1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271116" y="1673352"/>
            <a:ext cx="4247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W2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9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5695912" y="1673352"/>
            <a:ext cx="4247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W3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16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120708" y="1673352"/>
            <a:ext cx="4247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W4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23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545504" y="1673352"/>
            <a:ext cx="4247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W5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30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970300" y="1673352"/>
            <a:ext cx="4247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W6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7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7395096" y="1673352"/>
            <a:ext cx="4247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W7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14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7819892" y="1673352"/>
            <a:ext cx="4247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W8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21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8244688" y="1673352"/>
            <a:ext cx="4247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W9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28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669484" y="1673352"/>
            <a:ext cx="4247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W10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4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9094280" y="1673352"/>
            <a:ext cx="4247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W11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11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9519075" y="1673352"/>
            <a:ext cx="4247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W12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18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9943871" y="1673352"/>
            <a:ext cx="4247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W13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25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10368667" y="1673352"/>
            <a:ext cx="4247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W14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1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0793463" y="1673352"/>
            <a:ext cx="4247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W15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8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11218259" y="1673352"/>
            <a:ext cx="4247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W16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15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48640" y="2121408"/>
            <a:ext cx="1600200" cy="786384"/>
          </a:xfrm>
          <a:prstGeom prst="roundRect">
            <a:avLst>
              <a:gd name="adj" fmla="val 348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1792" y="2121408"/>
            <a:ext cx="1463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Initiation &amp; readiness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2286000" y="2121408"/>
            <a:ext cx="2514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Project preparation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86000" y="2327148"/>
            <a:ext cx="9357055" cy="0"/>
          </a:xfrm>
          <a:prstGeom prst="line">
            <a:avLst/>
          </a:prstGeom>
          <a:noFill/>
          <a:ln w="6350">
            <a:solidFill>
              <a:schemeClr val="accent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873752" y="2162556"/>
            <a:ext cx="369932" cy="123444"/>
          </a:xfrm>
          <a:prstGeom prst="roundRect">
            <a:avLst>
              <a:gd name="adj" fmla="val 2222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286000" y="2327148"/>
            <a:ext cx="2514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Team briefing preparation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286000" y="2532888"/>
            <a:ext cx="9357055" cy="0"/>
          </a:xfrm>
          <a:prstGeom prst="line">
            <a:avLst/>
          </a:prstGeom>
          <a:noFill/>
          <a:ln w="6350">
            <a:solidFill>
              <a:schemeClr val="accent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73752" y="2368296"/>
            <a:ext cx="369932" cy="123444"/>
          </a:xfrm>
          <a:prstGeom prst="roundRect">
            <a:avLst>
              <a:gd name="adj" fmla="val 2222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286000" y="2532888"/>
            <a:ext cx="2514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Pilot business unit and reps selected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286000" y="2738628"/>
            <a:ext cx="9357055" cy="0"/>
          </a:xfrm>
          <a:prstGeom prst="line">
            <a:avLst/>
          </a:prstGeom>
          <a:noFill/>
          <a:ln w="6350">
            <a:solidFill>
              <a:schemeClr val="accent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298548" y="2574036"/>
            <a:ext cx="369932" cy="123444"/>
          </a:xfrm>
          <a:prstGeom prst="roundRect">
            <a:avLst>
              <a:gd name="adj" fmla="val 2222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286000" y="2738628"/>
            <a:ext cx="2514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Team confirmation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286000" y="2944368"/>
            <a:ext cx="9357055" cy="0"/>
          </a:xfrm>
          <a:prstGeom prst="line">
            <a:avLst/>
          </a:prstGeom>
          <a:noFill/>
          <a:ln w="6350">
            <a:solidFill>
              <a:schemeClr val="accent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298548" y="2779776"/>
            <a:ext cx="369932" cy="123444"/>
          </a:xfrm>
          <a:prstGeom prst="roundRect">
            <a:avLst>
              <a:gd name="adj" fmla="val 2222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3008376"/>
            <a:ext cx="1600200" cy="786384"/>
          </a:xfrm>
          <a:prstGeom prst="roundRect">
            <a:avLst>
              <a:gd name="adj" fmla="val 348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21792" y="3008376"/>
            <a:ext cx="1463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Discovery workshops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2286000" y="3008376"/>
            <a:ext cx="2514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Kick-off &amp; demo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286000" y="3214116"/>
            <a:ext cx="9357055" cy="0"/>
          </a:xfrm>
          <a:prstGeom prst="line">
            <a:avLst/>
          </a:prstGeom>
          <a:noFill/>
          <a:ln w="6350">
            <a:solidFill>
              <a:schemeClr val="accent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298548" y="3049524"/>
            <a:ext cx="369932" cy="123444"/>
          </a:xfrm>
          <a:prstGeom prst="roundRect">
            <a:avLst>
              <a:gd name="adj" fmla="val 22222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2286000" y="3214116"/>
            <a:ext cx="2514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Sales &amp; marketing workshop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2286000" y="3419856"/>
            <a:ext cx="9357055" cy="0"/>
          </a:xfrm>
          <a:prstGeom prst="line">
            <a:avLst/>
          </a:prstGeom>
          <a:noFill/>
          <a:ln w="6350">
            <a:solidFill>
              <a:schemeClr val="accent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723344" y="3255264"/>
            <a:ext cx="369932" cy="123444"/>
          </a:xfrm>
          <a:prstGeom prst="roundRect">
            <a:avLst>
              <a:gd name="adj" fmla="val 22222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286000" y="3419856"/>
            <a:ext cx="2514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Stakeholder alignment &amp; requirements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286000" y="3625596"/>
            <a:ext cx="9357055" cy="0"/>
          </a:xfrm>
          <a:prstGeom prst="line">
            <a:avLst/>
          </a:prstGeom>
          <a:noFill/>
          <a:ln w="6350">
            <a:solidFill>
              <a:schemeClr val="accent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723344" y="3461004"/>
            <a:ext cx="794728" cy="123444"/>
          </a:xfrm>
          <a:prstGeom prst="roundRect">
            <a:avLst>
              <a:gd name="adj" fmla="val 22222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2286000" y="3625596"/>
            <a:ext cx="2514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Baseline, success criteria &amp; work plan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2286000" y="3831336"/>
            <a:ext cx="9357055" cy="0"/>
          </a:xfrm>
          <a:prstGeom prst="line">
            <a:avLst/>
          </a:prstGeom>
          <a:noFill/>
          <a:ln w="6350">
            <a:solidFill>
              <a:schemeClr val="accent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148140" y="3666744"/>
            <a:ext cx="794728" cy="123444"/>
          </a:xfrm>
          <a:prstGeom prst="roundRect">
            <a:avLst>
              <a:gd name="adj" fmla="val 22222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48640" y="3895344"/>
            <a:ext cx="1600200" cy="1403604"/>
          </a:xfrm>
          <a:prstGeom prst="roundRect">
            <a:avLst>
              <a:gd name="adj" fmla="val 195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21792" y="3895344"/>
            <a:ext cx="1463040" cy="1403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Pilot: configure &amp; set up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2286000" y="3895344"/>
            <a:ext cx="2514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Platform set-up &amp; configuration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2286000" y="4101084"/>
            <a:ext cx="9357055" cy="0"/>
          </a:xfrm>
          <a:prstGeom prst="line">
            <a:avLst/>
          </a:prstGeom>
          <a:noFill/>
          <a:ln w="6350">
            <a:solidFill>
              <a:schemeClr val="accent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48140" y="3936492"/>
            <a:ext cx="1219524" cy="123444"/>
          </a:xfrm>
          <a:prstGeom prst="roundRect">
            <a:avLst>
              <a:gd name="adj" fmla="val 2222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286000" y="4101084"/>
            <a:ext cx="2514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ICP rubric, signals &amp; segment plays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286000" y="4306824"/>
            <a:ext cx="9357055" cy="0"/>
          </a:xfrm>
          <a:prstGeom prst="line">
            <a:avLst/>
          </a:prstGeom>
          <a:noFill/>
          <a:ln w="6350">
            <a:solidFill>
              <a:schemeClr val="accent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572936" y="4142232"/>
            <a:ext cx="1219524" cy="123444"/>
          </a:xfrm>
          <a:prstGeom prst="roundRect">
            <a:avLst>
              <a:gd name="adj" fmla="val 2222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286000" y="4306824"/>
            <a:ext cx="2514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Content library: brand, claims, plays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2286000" y="4512564"/>
            <a:ext cx="9357055" cy="0"/>
          </a:xfrm>
          <a:prstGeom prst="line">
            <a:avLst/>
          </a:prstGeom>
          <a:noFill/>
          <a:ln w="6350">
            <a:solidFill>
              <a:schemeClr val="accent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572936" y="4347972"/>
            <a:ext cx="1219524" cy="123444"/>
          </a:xfrm>
          <a:prstGeom prst="roundRect">
            <a:avLst>
              <a:gd name="adj" fmla="val 2222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286000" y="4512564"/>
            <a:ext cx="2514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Data load: lead lists &amp; signal feeds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2286000" y="4718304"/>
            <a:ext cx="9357055" cy="0"/>
          </a:xfrm>
          <a:prstGeom prst="line">
            <a:avLst/>
          </a:prstGeom>
          <a:noFill/>
          <a:ln w="6350">
            <a:solidFill>
              <a:schemeClr val="accent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997732" y="4553712"/>
            <a:ext cx="794728" cy="123444"/>
          </a:xfrm>
          <a:prstGeom prst="roundRect">
            <a:avLst>
              <a:gd name="adj" fmla="val 2222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2286000" y="4718304"/>
            <a:ext cx="2514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Training run, tuning &amp; fixes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2286000" y="4924044"/>
            <a:ext cx="9357055" cy="0"/>
          </a:xfrm>
          <a:prstGeom prst="line">
            <a:avLst/>
          </a:prstGeom>
          <a:noFill/>
          <a:ln w="6350">
            <a:solidFill>
              <a:schemeClr val="accent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847324" y="4759452"/>
            <a:ext cx="794728" cy="123444"/>
          </a:xfrm>
          <a:prstGeom prst="roundRect">
            <a:avLst>
              <a:gd name="adj" fmla="val 2222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2286000" y="4924044"/>
            <a:ext cx="2514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UAT &amp; InfoSec checks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2286000" y="5129784"/>
            <a:ext cx="9357055" cy="0"/>
          </a:xfrm>
          <a:prstGeom prst="line">
            <a:avLst/>
          </a:prstGeom>
          <a:noFill/>
          <a:ln w="6350">
            <a:solidFill>
              <a:schemeClr val="accent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272120" y="4965192"/>
            <a:ext cx="794728" cy="123444"/>
          </a:xfrm>
          <a:prstGeom prst="roundRect">
            <a:avLst>
              <a:gd name="adj" fmla="val 2222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2286000" y="5129784"/>
            <a:ext cx="2514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User training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2286000" y="5335524"/>
            <a:ext cx="9357055" cy="0"/>
          </a:xfrm>
          <a:prstGeom prst="line">
            <a:avLst/>
          </a:prstGeom>
          <a:noFill/>
          <a:ln w="6350">
            <a:solidFill>
              <a:schemeClr val="accent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8696916" y="5170932"/>
            <a:ext cx="369932" cy="123444"/>
          </a:xfrm>
          <a:prstGeom prst="roundRect">
            <a:avLst>
              <a:gd name="adj" fmla="val 2222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48640" y="5399532"/>
            <a:ext cx="1600200" cy="374904"/>
          </a:xfrm>
          <a:prstGeom prst="roundRect">
            <a:avLst>
              <a:gd name="adj" fmla="val 7317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621792" y="5399532"/>
            <a:ext cx="14630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Pilot execution</a:t>
            </a:r>
            <a:endParaRPr lang="en-US" sz="1050" dirty="0"/>
          </a:p>
        </p:txBody>
      </p:sp>
      <p:sp>
        <p:nvSpPr>
          <p:cNvPr id="81" name="Text 79"/>
          <p:cNvSpPr txBox="1"/>
          <p:nvPr/>
        </p:nvSpPr>
        <p:spPr>
          <a:xfrm>
            <a:off x="2286000" y="5399532"/>
            <a:ext cx="2514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Pilot run &amp; measurement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2286000" y="5605272"/>
            <a:ext cx="9357055" cy="0"/>
          </a:xfrm>
          <a:prstGeom prst="line">
            <a:avLst/>
          </a:prstGeom>
          <a:noFill/>
          <a:ln w="6350">
            <a:solidFill>
              <a:schemeClr val="accent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121712" y="5440680"/>
            <a:ext cx="1644320" cy="123444"/>
          </a:xfrm>
          <a:prstGeom prst="roundRect">
            <a:avLst>
              <a:gd name="adj" fmla="val 22222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2286000" y="5605272"/>
            <a:ext cx="2514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User support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2286000" y="5811012"/>
            <a:ext cx="9357055" cy="0"/>
          </a:xfrm>
          <a:prstGeom prst="line">
            <a:avLst/>
          </a:prstGeom>
          <a:noFill/>
          <a:ln w="6350">
            <a:solidFill>
              <a:schemeClr val="accent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9121712" y="5646420"/>
            <a:ext cx="1644320" cy="123444"/>
          </a:xfrm>
          <a:prstGeom prst="roundRect">
            <a:avLst>
              <a:gd name="adj" fmla="val 22222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8640" y="5875020"/>
            <a:ext cx="1600200" cy="374904"/>
          </a:xfrm>
          <a:prstGeom prst="roundRect">
            <a:avLst>
              <a:gd name="adj" fmla="val 731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621792" y="5875020"/>
            <a:ext cx="14630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Results &amp; recommendation</a:t>
            </a:r>
            <a:endParaRPr lang="en-US" sz="1050" dirty="0"/>
          </a:p>
        </p:txBody>
      </p:sp>
      <p:sp>
        <p:nvSpPr>
          <p:cNvPr id="89" name="Text 87"/>
          <p:cNvSpPr txBox="1"/>
          <p:nvPr/>
        </p:nvSpPr>
        <p:spPr>
          <a:xfrm>
            <a:off x="2286000" y="5875020"/>
            <a:ext cx="2514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Results consolidation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2286000" y="6080760"/>
            <a:ext cx="9357055" cy="0"/>
          </a:xfrm>
          <a:prstGeom prst="line">
            <a:avLst/>
          </a:prstGeom>
          <a:noFill/>
          <a:ln w="6350">
            <a:solidFill>
              <a:schemeClr val="accent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0820895" y="5916168"/>
            <a:ext cx="369932" cy="12344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2286000" y="6080760"/>
            <a:ext cx="2514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Rollout recommendation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2286000" y="6286500"/>
            <a:ext cx="9357055" cy="0"/>
          </a:xfrm>
          <a:prstGeom prst="line">
            <a:avLst/>
          </a:prstGeom>
          <a:noFill/>
          <a:ln w="6350">
            <a:solidFill>
              <a:schemeClr val="accent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0820895" y="6121908"/>
            <a:ext cx="794728" cy="12344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Weeks start on Mondays. The year-end weeks (W8, W9) carry lighter work; dates are agreed at kick-off.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1188720"/>
            <a:ext cx="4206240" cy="4206240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589520" y="4206240"/>
            <a:ext cx="1463040" cy="1463040"/>
          </a:xfrm>
          <a:prstGeom prst="diamond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194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DEMAND AI PILOT  ·  DISCOVERY WORKSHOP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517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Thank you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749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Questions and discussion welcome.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172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Prepared for Client  ·  Response to RFP  ·  Confidential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0" y="1371600"/>
            <a:ext cx="3840480" cy="3840480"/>
          </a:xfrm>
          <a:prstGeom prst="diamond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680960" y="1371600"/>
            <a:ext cx="38404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chemeClr val="accent1"/>
                </a:solidFill>
              </a:rPr>
              <a:t>A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6032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Appendix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5661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Security and responsible AI, agent detail and validation dimensions.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SECURITY AND RESPONSIBLE AI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Three layers of protection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Every AI request passes through all three before a draft reaches your team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463040" y="1737360"/>
            <a:ext cx="3017520" cy="374904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3736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LAYER 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22402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AI gateway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737360" y="27432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Checks every call to and from the AI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3474720"/>
            <a:ext cx="256032" cy="2560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2148840" y="340156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Only features you switched on</a:t>
            </a:r>
            <a:endParaRPr lang="en-US" sz="13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4069080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148840" y="399592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Sends the minimum data needed</a:t>
            </a:r>
            <a:endParaRPr lang="en-US" sz="13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4663440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148840" y="459028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Logs metadata, never the prompt text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754880" y="1737360"/>
            <a:ext cx="3017520" cy="3749040"/>
          </a:xfrm>
          <a:prstGeom prst="roundRect">
            <a:avLst>
              <a:gd name="adj" fmla="val 242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02920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LAYER 2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5029200" y="22402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Controlled agents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5029200" y="27432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Agents follow fixed, approved rules</a:t>
            </a:r>
            <a:endParaRPr lang="en-US" sz="13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3474720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440680" y="340156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Versioned prompt templates</a:t>
            </a:r>
            <a:endParaRPr lang="en-US" sz="130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4069080"/>
            <a:ext cx="256032" cy="25603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440680" y="399592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Approved claims and plays only</a:t>
            </a:r>
            <a:endParaRPr lang="en-US" sz="13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0" y="4663440"/>
            <a:ext cx="256032" cy="256032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440680" y="459028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Every action tied to a user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8046720" y="1737360"/>
            <a:ext cx="3017520" cy="374904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832104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LAYER 3</a:t>
            </a:r>
            <a:endParaRPr lang="en-US" sz="1100" dirty="0"/>
          </a:p>
        </p:txBody>
      </p:sp>
      <p:sp>
        <p:nvSpPr>
          <p:cNvPr id="27" name="Text 19"/>
          <p:cNvSpPr txBox="1"/>
          <p:nvPr/>
        </p:nvSpPr>
        <p:spPr>
          <a:xfrm>
            <a:off x="8321040" y="22402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Draft checks</a:t>
            </a:r>
            <a:endParaRPr lang="en-US" sz="1800" dirty="0"/>
          </a:p>
        </p:txBody>
      </p:sp>
      <p:sp>
        <p:nvSpPr>
          <p:cNvPr id="28" name="Text 20"/>
          <p:cNvSpPr txBox="1"/>
          <p:nvPr/>
        </p:nvSpPr>
        <p:spPr>
          <a:xfrm>
            <a:off x="8321040" y="27432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Every draft checked before you see it</a:t>
            </a:r>
            <a:endParaRPr lang="en-US" sz="1300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21040" y="3474720"/>
            <a:ext cx="256032" cy="25603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8732520" y="340156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Brand, claim and consent checks</a:t>
            </a:r>
            <a:endParaRPr lang="en-US" sz="1300" dirty="0"/>
          </a:p>
        </p:txBody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21040" y="4069080"/>
            <a:ext cx="256032" cy="25603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8732520" y="399592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Sensitive topics to a manager</a:t>
            </a:r>
            <a:endParaRPr lang="en-US" sz="1300" dirty="0"/>
          </a:p>
        </p:txBody>
      </p:sp>
      <p:pic>
        <p:nvPicPr>
          <p:cNvPr id="3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21040" y="4663440"/>
            <a:ext cx="256032" cy="256032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8732520" y="459028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Rules fallback if a check fails</a:t>
            </a:r>
            <a:endParaRPr lang="en-US" sz="1300" dirty="0"/>
          </a:p>
        </p:txBody>
      </p:sp>
      <p:sp>
        <p:nvSpPr>
          <p:cNvPr id="35" name="Text 24"/>
          <p:cNvSpPr txBox="1"/>
          <p:nvPr/>
        </p:nvSpPr>
        <p:spPr>
          <a:xfrm>
            <a:off x="274320" y="3291840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Your data</a:t>
            </a:r>
            <a:endParaRPr lang="en-US" sz="1200" dirty="0"/>
          </a:p>
        </p:txBody>
      </p:sp>
      <p:sp>
        <p:nvSpPr>
          <p:cNvPr id="36" name="Text 25"/>
          <p:cNvSpPr txBox="1"/>
          <p:nvPr/>
        </p:nvSpPr>
        <p:spPr>
          <a:xfrm>
            <a:off x="11338560" y="3291840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Draft you see</a:t>
            </a:r>
            <a:endParaRPr lang="en-US" sz="1200" dirty="0"/>
          </a:p>
        </p:txBody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3000" y="3456432"/>
            <a:ext cx="228600" cy="228600"/>
          </a:xfrm>
          <a:prstGeom prst="rect">
            <a:avLst/>
          </a:prstGeom>
        </p:spPr>
      </p:pic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082528" y="3456432"/>
            <a:ext cx="228600" cy="228600"/>
          </a:xfrm>
          <a:prstGeom prst="rect">
            <a:avLst/>
          </a:prstGeom>
        </p:spPr>
      </p:pic>
      <p:sp>
        <p:nvSpPr>
          <p:cNvPr id="39" name="Shape 26"/>
          <p:cNvSpPr/>
          <p:nvPr/>
        </p:nvSpPr>
        <p:spPr>
          <a:xfrm>
            <a:off x="1463040" y="5669280"/>
            <a:ext cx="9601200" cy="457200"/>
          </a:xfrm>
          <a:prstGeom prst="roundRect">
            <a:avLst>
              <a:gd name="adj" fmla="val 16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4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45920" y="5760720"/>
            <a:ext cx="274320" cy="274320"/>
          </a:xfrm>
          <a:prstGeom prst="rect">
            <a:avLst/>
          </a:prstGeom>
        </p:spPr>
      </p:pic>
      <p:sp>
        <p:nvSpPr>
          <p:cNvPr id="41" name="Text 27"/>
          <p:cNvSpPr txBox="1"/>
          <p:nvPr/>
        </p:nvSpPr>
        <p:spPr>
          <a:xfrm>
            <a:off x="2057400" y="5669280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If anything is flagged at any layer, the draft stops and the rules version or a person takes over.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SECURITY AND RESPONSIBLE AI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Network, access and governance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Network and access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39496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48256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88720" y="19202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exposure to the public internet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578608"/>
            <a:ext cx="539496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706624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88720" y="257860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TLS everywhere; a nonce-based content policy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3236976"/>
            <a:ext cx="539496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364992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88720" y="323697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Invite-only sign-in with lockout; SSO at go-live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548640" y="3895344"/>
            <a:ext cx="539496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023360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188720" y="389534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Row-level security per business unit and owner</a:t>
            </a:r>
            <a:endParaRPr lang="en-US" sz="1400" dirty="0"/>
          </a:p>
        </p:txBody>
      </p:sp>
      <p:sp>
        <p:nvSpPr>
          <p:cNvPr id="17" name="Text 11"/>
          <p:cNvSpPr txBox="1"/>
          <p:nvPr/>
        </p:nvSpPr>
        <p:spPr>
          <a:xfrm>
            <a:off x="6172200" y="141732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Governance and assurance</a:t>
            </a:r>
            <a:endParaRPr lang="en-US" sz="1800" dirty="0"/>
          </a:p>
        </p:txBody>
      </p:sp>
      <p:sp>
        <p:nvSpPr>
          <p:cNvPr id="18" name="Shape 12"/>
          <p:cNvSpPr/>
          <p:nvPr/>
        </p:nvSpPr>
        <p:spPr>
          <a:xfrm>
            <a:off x="6172200" y="1920240"/>
            <a:ext cx="539496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2048256"/>
            <a:ext cx="274320" cy="27432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812280" y="19202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Reviewed against your AI and security policies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6172200" y="2578608"/>
            <a:ext cx="539496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2706624"/>
            <a:ext cx="274320" cy="27432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812280" y="257860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Penetration test findings tracked to closure</a:t>
            </a:r>
            <a:endParaRPr lang="en-US" sz="1400" dirty="0"/>
          </a:p>
        </p:txBody>
      </p:sp>
      <p:sp>
        <p:nvSpPr>
          <p:cNvPr id="24" name="Shape 16"/>
          <p:cNvSpPr/>
          <p:nvPr/>
        </p:nvSpPr>
        <p:spPr>
          <a:xfrm>
            <a:off x="6172200" y="3236976"/>
            <a:ext cx="539496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5080" y="3364992"/>
            <a:ext cx="274320" cy="274320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6812280" y="323697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New AI features stay off until you approve them</a:t>
            </a:r>
            <a:endParaRPr lang="en-US" sz="1400" dirty="0"/>
          </a:p>
        </p:txBody>
      </p:sp>
      <p:sp>
        <p:nvSpPr>
          <p:cNvPr id="27" name="Shape 18"/>
          <p:cNvSpPr/>
          <p:nvPr/>
        </p:nvSpPr>
        <p:spPr>
          <a:xfrm>
            <a:off x="6172200" y="3895344"/>
            <a:ext cx="539496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55080" y="4023360"/>
            <a:ext cx="274320" cy="274320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6812280" y="389534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Pilot data exported and purged at the end</a:t>
            </a:r>
            <a:endParaRPr lang="en-US" sz="1400" dirty="0"/>
          </a:p>
        </p:txBody>
      </p:sp>
      <p:sp>
        <p:nvSpPr>
          <p:cNvPr id="30" name="Text 20"/>
          <p:cNvSpPr txBox="1"/>
          <p:nvPr/>
        </p:nvSpPr>
        <p:spPr>
          <a:xfrm>
            <a:off x="548640" y="4663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3"/>
                </a:solidFill>
              </a:rPr>
              <a:t>WHO LOOKS AFTER WHAT</a:t>
            </a:r>
            <a:endParaRPr lang="en-US" sz="1200" dirty="0"/>
          </a:p>
        </p:txBody>
      </p:sp>
      <p:sp>
        <p:nvSpPr>
          <p:cNvPr id="31" name="Shape 21"/>
          <p:cNvSpPr/>
          <p:nvPr/>
        </p:nvSpPr>
        <p:spPr>
          <a:xfrm>
            <a:off x="548640" y="5029200"/>
            <a:ext cx="5394960" cy="914400"/>
          </a:xfrm>
          <a:prstGeom prst="roundRect">
            <a:avLst>
              <a:gd name="adj" fmla="val 8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2" name="Text 22"/>
          <p:cNvSpPr txBox="1"/>
          <p:nvPr/>
        </p:nvSpPr>
        <p:spPr>
          <a:xfrm>
            <a:off x="822960" y="50292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Your IT team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Network, company sign-in, access policies, approving new features</a:t>
            </a:r>
            <a:endParaRPr lang="en-US" sz="1400" dirty="0"/>
          </a:p>
        </p:txBody>
      </p:sp>
      <p:sp>
        <p:nvSpPr>
          <p:cNvPr id="33" name="Shape 23"/>
          <p:cNvSpPr/>
          <p:nvPr/>
        </p:nvSpPr>
        <p:spPr>
          <a:xfrm>
            <a:off x="6172200" y="5029200"/>
            <a:ext cx="5394960" cy="914400"/>
          </a:xfrm>
          <a:prstGeom prst="roundRect">
            <a:avLst>
              <a:gd name="adj" fmla="val 8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4" name="Text 24"/>
          <p:cNvSpPr txBox="1"/>
          <p:nvPr/>
        </p:nvSpPr>
        <p:spPr>
          <a:xfrm>
            <a:off x="6446520" y="50292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Platform team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AI gateway, agent rules, checks, backups, monitoring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AI AGENTS · DETAIL · 1 OF 5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Find and score: 5 agents</a:t>
            </a:r>
            <a:endParaRPr lang="en-US" sz="28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669280"/>
                <a:gridCol w="2862072"/>
              </a:tblGrid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spc="100" kern="0" dirty="0">
                          <a:solidFill>
                            <a:schemeClr val="bg1"/>
                          </a:solidFill>
                        </a:rPr>
                        <a:t>AGENT</a:t>
                      </a:r>
                      <a:endParaRPr lang="en-US" sz="13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spc="100" kern="0" dirty="0">
                          <a:solidFill>
                            <a:schemeClr val="bg1"/>
                          </a:solidFill>
                        </a:rPr>
                        <a:t>WHAT IT DOES</a:t>
                      </a:r>
                      <a:endParaRPr lang="en-US" sz="13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spc="100" kern="0" dirty="0">
                          <a:solidFill>
                            <a:schemeClr val="bg1"/>
                          </a:solidFill>
                        </a:rPr>
                        <a:t>YOUR TEAM</a:t>
                      </a:r>
                      <a:endParaRPr lang="en-US" sz="13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List Checker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Checks and cleans the lead file: duplicates, missing fields, opt-outs and consent.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Uploads the list, fixes flagged rows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Fit Scorer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Scores each account against your ICP rubric and fit floor.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Agrees the rubric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Signal Reader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Reads intent, installed-base, CRM and news signals and matches them to accounts and people.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Sets signal sources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Timing Scorer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Weights each signal by type and how fresh it is.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Agrees the weights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Tier Ranker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Ranks people into tiers A, B and C and explains why now.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Chooses who is handed off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AI AGENTS · DETAIL · 2 OF 5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Segment and plan: 4 agents</a:t>
            </a:r>
            <a:endParaRPr lang="en-US" sz="2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669280"/>
                <a:gridCol w="2862072"/>
              </a:tblGrid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spc="100" kern="0" dirty="0">
                          <a:solidFill>
                            <a:schemeClr val="bg1"/>
                          </a:solidFill>
                        </a:rPr>
                        <a:t>AGENT</a:t>
                      </a:r>
                      <a:endParaRPr lang="en-US" sz="13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spc="100" kern="0" dirty="0">
                          <a:solidFill>
                            <a:schemeClr val="bg1"/>
                          </a:solidFill>
                        </a:rPr>
                        <a:t>WHAT IT DOES</a:t>
                      </a:r>
                      <a:endParaRPr lang="en-US" sz="13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spc="100" kern="0" dirty="0">
                          <a:solidFill>
                            <a:schemeClr val="bg1"/>
                          </a:solidFill>
                        </a:rPr>
                        <a:t>YOUR TEAM</a:t>
                      </a:r>
                      <a:endParaRPr lang="en-US" sz="13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Segmenter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Groups accounts that share a reason to buy into micro-segments of three or more.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Manager approves new segments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Action Recommender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Picks the next best action from the actions your team set in Setup; the AI chooses the one that fits the signal and person.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Rep accepts or picks another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Channel Picker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Chooses email, LinkedIn or a call, within consent and verification limits.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Rep can change the channel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Deal Sizer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Estimates the first deal and how confident the recommendation is.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Manager sets the thresholds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AI AGENTS · DETAIL · 3 OF 5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Draft: 4 agents</a:t>
            </a:r>
            <a:endParaRPr lang="en-US" sz="2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669280"/>
                <a:gridCol w="2862072"/>
              </a:tblGrid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spc="100" kern="0" dirty="0">
                          <a:solidFill>
                            <a:schemeClr val="bg1"/>
                          </a:solidFill>
                        </a:rPr>
                        <a:t>AGENT</a:t>
                      </a:r>
                      <a:endParaRPr lang="en-US" sz="13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spc="100" kern="0" dirty="0">
                          <a:solidFill>
                            <a:schemeClr val="bg1"/>
                          </a:solidFill>
                        </a:rPr>
                        <a:t>WHAT IT DOES</a:t>
                      </a:r>
                      <a:endParaRPr lang="en-US" sz="13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spc="100" kern="0" dirty="0">
                          <a:solidFill>
                            <a:schemeClr val="bg1"/>
                          </a:solidFill>
                        </a:rPr>
                        <a:t>YOUR TEAM</a:t>
                      </a:r>
                      <a:endParaRPr lang="en-US" sz="13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Brief Builder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Sets out who, why now, the angle, the proof point and the ask.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Marketing owns the plays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Draft Writer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Writes the first message in your brand voice from approved content only.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Rep edits before sending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Claim Matcher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Picks an approved, unexpired claim that fits the segment.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Marketing approves claims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Call Script Writer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Prepares the opener, discovery questions and objection handling.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Rep uses it on the call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AI AGENTS · DETAIL · 4 OF 5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Review and compliance: 4 agents</a:t>
            </a:r>
            <a:endParaRPr lang="en-US" sz="28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669280"/>
                <a:gridCol w="2862072"/>
              </a:tblGrid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spc="100" kern="0" dirty="0">
                          <a:solidFill>
                            <a:schemeClr val="bg1"/>
                          </a:solidFill>
                        </a:rPr>
                        <a:t>AGENT</a:t>
                      </a:r>
                      <a:endParaRPr lang="en-US" sz="13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spc="100" kern="0" dirty="0">
                          <a:solidFill>
                            <a:schemeClr val="bg1"/>
                          </a:solidFill>
                        </a:rPr>
                        <a:t>WHAT IT DOES</a:t>
                      </a:r>
                      <a:endParaRPr lang="en-US" sz="13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spc="100" kern="0" dirty="0">
                          <a:solidFill>
                            <a:schemeClr val="bg1"/>
                          </a:solidFill>
                        </a:rPr>
                        <a:t>YOUR TEAM</a:t>
                      </a:r>
                      <a:endParaRPr lang="en-US" sz="13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Brand Checker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Checks banned words and openers, length, pricing and competitor mentions.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Marketing sets the rules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Consent Guard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Stops anyone who opted out or has no recognised consent before hand-off.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Admin confirms the bases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Sensitive-topic Router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Sends incidents, security and regulation topics to the sales manager.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Manager approves or rejects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Spot-checker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Draws about 20% of released actions each week, at least one per rep, for rating.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Manager rates the sample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AI AGENTS · DETAIL · 5 OF 5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Release and measure: 3 agents</a:t>
            </a:r>
            <a:endParaRPr lang="en-US" sz="28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669280"/>
                <a:gridCol w="2862072"/>
              </a:tblGrid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spc="100" kern="0" dirty="0">
                          <a:solidFill>
                            <a:schemeClr val="bg1"/>
                          </a:solidFill>
                        </a:rPr>
                        <a:t>AGENT</a:t>
                      </a:r>
                      <a:endParaRPr lang="en-US" sz="13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spc="100" kern="0" dirty="0">
                          <a:solidFill>
                            <a:schemeClr val="bg1"/>
                          </a:solidFill>
                        </a:rPr>
                        <a:t>WHAT IT DOES</a:t>
                      </a:r>
                      <a:endParaRPr lang="en-US" sz="13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spc="100" kern="0" dirty="0">
                          <a:solidFill>
                            <a:schemeClr val="bg1"/>
                          </a:solidFill>
                        </a:rPr>
                        <a:t>YOUR TEAM</a:t>
                      </a:r>
                      <a:endParaRPr lang="en-US" sz="13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Rep Hand-off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Releases ready actions to each rep's list for today.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Rep works the list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Decision Log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Records every accept, reject, edit and alternative, with the reason and the review time.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Reviewer gives the reason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Metrics Reporter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Reports G1 (human review effort) and G2 (acceptance rate) against the agreed thresholds.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Leaders review the readout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VALIDATION DIMENSIONS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Pilot validation dimensions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94960" cy="960120"/>
          </a:xfrm>
          <a:prstGeom prst="roundRect">
            <a:avLst>
              <a:gd name="adj" fmla="val 7619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45920"/>
            <a:ext cx="594360" cy="594360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45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463040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Data understanding: list quality, matching and de-duplication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72200" y="1463040"/>
            <a:ext cx="53949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645920"/>
            <a:ext cx="594360" cy="594360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1645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1463040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Scoring that a rep agrees with, and can trace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2606040"/>
            <a:ext cx="5394960" cy="960120"/>
          </a:xfrm>
          <a:prstGeom prst="roundRect">
            <a:avLst>
              <a:gd name="adj" fmla="val 7619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2788920"/>
            <a:ext cx="594360" cy="594360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788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2606040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Segments that make sense to sales and marketing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72200" y="2606040"/>
            <a:ext cx="53949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2788920"/>
            <a:ext cx="594360" cy="594360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0" y="2788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223760" y="2606040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Actions and channels that fit the signal and consent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5394960" cy="960120"/>
          </a:xfrm>
          <a:prstGeom prst="roundRect">
            <a:avLst>
              <a:gd name="adj" fmla="val 7619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3931920"/>
            <a:ext cx="594360" cy="594360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3931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5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600200" y="3749040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Messages on brand, with approved claims only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172200" y="3749040"/>
            <a:ext cx="53949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0" y="3931920"/>
            <a:ext cx="594360" cy="594360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0" y="3931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6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223760" y="3749040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Review and quality control: exceptions, approvals, spot-checks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48640" y="4892040"/>
            <a:ext cx="5394960" cy="960120"/>
          </a:xfrm>
          <a:prstGeom prst="roundRect">
            <a:avLst>
              <a:gd name="adj" fmla="val 7619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5074920"/>
            <a:ext cx="594360" cy="594360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5074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7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600200" y="4892040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Integration with CRM and the tools reps use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6172200" y="4892040"/>
            <a:ext cx="53949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0" y="5074920"/>
            <a:ext cx="594360" cy="594360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0" y="5074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8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7223760" y="4892040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Actual productivity: time saved, acceptance, replies, pipeline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mandAI Proposal">
  <a:themeElements>
    <a:clrScheme name="DemandAI Proposal">
      <a:dk1>
        <a:srgbClr val="1B1F2A"/>
      </a:dk1>
      <a:lt1>
        <a:srgbClr val="FFFFFF"/>
      </a:lt1>
      <a:dk2>
        <a:srgbClr val="2E3A4F"/>
      </a:dk2>
      <a:lt2>
        <a:srgbClr val="F3F4F6"/>
      </a:lt2>
      <a:accent1>
        <a:srgbClr val="F2A900"/>
      </a:accent1>
      <a:accent2>
        <a:srgbClr val="0E7C7B"/>
      </a:accent2>
      <a:accent3>
        <a:srgbClr val="B4441C"/>
      </a:accent3>
      <a:accent4>
        <a:srgbClr val="64748B"/>
      </a:accent4>
      <a:accent5>
        <a:srgbClr val="FCEFC7"/>
      </a:accent5>
      <a:accent6>
        <a:srgbClr val="D9DEE5"/>
      </a:accent6>
      <a:hlink>
        <a:srgbClr val="0E7C7B"/>
      </a:hlink>
      <a:folHlink>
        <a:srgbClr val="64748B"/>
      </a:folHlink>
    </a:clrScheme>
    <a:fontScheme name="DemandAI Proposa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DemandAI: signal-led prospecting and next best action</dc:title>
  <dc:subject>PptxGenJS Presentation</dc:subject>
  <dc:creator>DemandAI team</dc:creator>
  <cp:lastModifiedBy>DemandAI team</cp:lastModifiedBy>
  <cp:revision>1</cp:revision>
  <dcterms:created xsi:type="dcterms:W3CDTF">2026-10-30T13:49:42Z</dcterms:created>
  <dcterms:modified xsi:type="dcterms:W3CDTF">2026-10-30T13:49:42Z</dcterms:modified>
</cp:coreProperties>
</file>