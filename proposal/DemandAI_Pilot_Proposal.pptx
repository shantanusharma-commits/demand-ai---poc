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d83b88a-d79f-b021-91d9-72f2da907254}">
          <p14:sldIdLst>
            <p14:sldId id="256"/>
            <p14:sldId id="257"/>
            <p14:sldId id="258"/>
          </p14:sldIdLst>
        </p14:section>
        <p14:section name="Understanding" id="{3884b913-804a-0a6e-f5a3-60797a00ea8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Key inputs" id="{db26a4db-2549-5b4b-bc26-1499949d73bc}">
          <p14:sldIdLst>
            <p14:sldId id="269"/>
            <p14:sldId id="270"/>
            <p14:sldId id="271"/>
          </p14:sldIdLst>
        </p14:section>
        <p14:section name="Success criteria" id="{8366e6cc-2e6c-2b65-d299-c590ca9c9cf6}">
          <p14:sldIdLst>
            <p14:sldId id="272"/>
            <p14:sldId id="273"/>
          </p14:sldIdLst>
        </p14:section>
        <p14:section name="Timeline" id="{ead94755-70ab-df3c-6102-b58ff2e56d00}">
          <p14:sldIdLst>
            <p14:sldId id="274"/>
            <p14:sldId id="275"/>
          </p14:sldIdLst>
        </p14:section>
        <p14:section name="Appendix" id="{22e11bd4-f418-aad9-26a4-5bdca236cbc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modules, one flow. Scoring decides who has a reason to buy now; NBA decides what each rep does about it. Nothing is sent automatically in the pilot: reps send from their own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Reps and managers sign in to the web app. The engine applies tested rules for scoring, segmentation and routing; AI words drafts and suggests segments through one gateway that logs every call and falls back to the rules. Data sits in PostgreSQL with row-level security per business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agent has one job. Scoring, segmentation, routing and the checks are tested rules, so every result can be traced; AI words the drafts and suggests segments and actions, behind the gateway and switched off until you approve its results. Agents never send, approve or commit on the company's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126480" y="6446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DemandAI  ·  Prepared for Client  ·  Confidential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0" y="64465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DemandAI  ·  Prepared for Client  ·  Confidential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4754880" cy="4754880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291840"/>
            <a:ext cx="2743200" cy="274320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480560"/>
            <a:ext cx="1280160" cy="1280160"/>
          </a:xfrm>
          <a:prstGeom prst="diamond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1"/>
                </a:solidFill>
              </a:rPr>
              <a:t>DEMAND AI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Signal-led Prospecting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Next Best Action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accounts with a reason to buy now, and give every rep the next best action and a first message.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Discovery workshop  |  November 2026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Prepared for Client  ·  Response to RFP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IN THIS PACK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DemandAI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Prospect &amp; Account Scoring and Micro-segments &amp; NBA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Understanding the demand process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Workshop: your team walks us through 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Key inputs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we need for the pilot: data, content and access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Success criteria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How we will measure the pilot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828800"/>
            <a:ext cx="2057400" cy="356616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0" y="214884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9260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Draft pilot timeline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9776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Pilot plan by phase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PILOT SCOPE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DemandAI: from a lead list to a ready-to-send first touch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828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Prospect &amp; Account Scoring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Finds the accounts and people with a live reason to buy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0175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Checks and cleans your lead lists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Scores every account against your ICP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Reads buying signals and how fresh they are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Ranks people into tiers A, B and C, with why now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53912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8288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9752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Micro-segments &amp; Next Best Action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468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Turns the best prospects into actions your reps can use today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30175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Groups accounts that share a reason into micro-segments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Recommends the next best action and channel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Drafts the first message from approved content only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Checks brand, consent and sensitive topics</a:t>
            </a:r>
            <a:endParaRPr lang="en-US" sz="15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Routes exceptions for review; releases the rest to reps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519672" y="5166360"/>
            <a:ext cx="475488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19672" y="5166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 outcome feeds the next build.</a:t>
            </a:r>
            <a:endParaRPr lang="en-US" sz="1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347472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01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 ·  UNDERSTANDING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Understanding the demand process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How prospects are found, prioritised and approached today.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PLATFORM · TECHNOLOGY STACK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it all works in DemandAI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How a request travels, and the six layers behind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8288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team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Browser, invite-only sign-in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892808"/>
            <a:ext cx="228600" cy="228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01752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8288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4688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 app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24688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One screen per step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189280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9204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82880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3434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DemandAI engine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43434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Tested rules: score, segment, route</a:t>
            </a:r>
            <a:endParaRPr lang="en-US" sz="11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8192" y="1892808"/>
            <a:ext cx="228600" cy="2286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76656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1828800"/>
            <a:ext cx="365760" cy="3657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2179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Your content</a:t>
            </a:r>
            <a:endParaRPr lang="en-US" sz="1400" dirty="0"/>
          </a:p>
        </p:txBody>
      </p:sp>
      <p:sp>
        <p:nvSpPr>
          <p:cNvPr id="23" name="Text 14"/>
          <p:cNvSpPr txBox="1"/>
          <p:nvPr/>
        </p:nvSpPr>
        <p:spPr>
          <a:xfrm>
            <a:off x="621792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Brand pack, claims, plays</a:t>
            </a:r>
            <a:endParaRPr lang="en-US" sz="11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1892808"/>
            <a:ext cx="228600" cy="2286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864108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3960" y="1828800"/>
            <a:ext cx="365760" cy="36576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809244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gateway</a:t>
            </a:r>
            <a:endParaRPr lang="en-US" sz="1400" dirty="0"/>
          </a:p>
        </p:txBody>
      </p:sp>
      <p:sp>
        <p:nvSpPr>
          <p:cNvPr id="28" name="Text 17"/>
          <p:cNvSpPr txBox="1"/>
          <p:nvPr/>
        </p:nvSpPr>
        <p:spPr>
          <a:xfrm>
            <a:off x="809244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Flags, checks, rules fallback</a:t>
            </a:r>
            <a:endParaRPr lang="en-US" sz="11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57232" y="1892808"/>
            <a:ext cx="228600" cy="228600"/>
          </a:xfrm>
          <a:prstGeom prst="rect">
            <a:avLst/>
          </a:prstGeom>
        </p:spPr>
      </p:pic>
      <p:sp>
        <p:nvSpPr>
          <p:cNvPr id="30" name="Shape 18"/>
          <p:cNvSpPr/>
          <p:nvPr/>
        </p:nvSpPr>
        <p:spPr>
          <a:xfrm>
            <a:off x="10515600" y="1645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98480" y="1828800"/>
            <a:ext cx="365760" cy="365760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96696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models</a:t>
            </a:r>
            <a:endParaRPr lang="en-US" sz="1400" dirty="0"/>
          </a:p>
        </p:txBody>
      </p:sp>
      <p:sp>
        <p:nvSpPr>
          <p:cNvPr id="33" name="Text 20"/>
          <p:cNvSpPr txBox="1"/>
          <p:nvPr/>
        </p:nvSpPr>
        <p:spPr>
          <a:xfrm>
            <a:off x="996696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Enterprise LLMs in your cloud</a:t>
            </a:r>
            <a:endParaRPr lang="en-US" sz="1100" dirty="0"/>
          </a:p>
        </p:txBody>
      </p:sp>
      <p:sp>
        <p:nvSpPr>
          <p:cNvPr id="34" name="Shape 21"/>
          <p:cNvSpPr/>
          <p:nvPr/>
        </p:nvSpPr>
        <p:spPr>
          <a:xfrm>
            <a:off x="548640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1520" y="3593592"/>
            <a:ext cx="292608" cy="29260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1143000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Front end</a:t>
            </a:r>
            <a:endParaRPr lang="en-US" sz="1400" dirty="0"/>
          </a:p>
        </p:txBody>
      </p:sp>
      <p:sp>
        <p:nvSpPr>
          <p:cNvPr id="37" name="Text 23"/>
          <p:cNvSpPr txBox="1"/>
          <p:nvPr/>
        </p:nvSpPr>
        <p:spPr>
          <a:xfrm>
            <a:off x="777240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Web application, one screen per step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Role-aware screens for rep, manager, admin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Strict content policy and security headers</a:t>
            </a:r>
            <a:endParaRPr lang="en-US" sz="1100" dirty="0"/>
          </a:p>
        </p:txBody>
      </p:sp>
      <p:sp>
        <p:nvSpPr>
          <p:cNvPr id="38" name="Shape 24"/>
          <p:cNvSpPr/>
          <p:nvPr/>
        </p:nvSpPr>
        <p:spPr>
          <a:xfrm>
            <a:off x="4279392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62272" y="3593592"/>
            <a:ext cx="292608" cy="292608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4873752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Application services</a:t>
            </a:r>
            <a:endParaRPr lang="en-US" sz="1400" dirty="0"/>
          </a:p>
        </p:txBody>
      </p:sp>
      <p:sp>
        <p:nvSpPr>
          <p:cNvPr id="41" name="Text 26"/>
          <p:cNvSpPr txBox="1"/>
          <p:nvPr/>
        </p:nvSpPr>
        <p:spPr>
          <a:xfrm>
            <a:off x="4507992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Server-side business rules per screen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Background jobs for uploads, scoring, builds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Every action logged in an audit trail</a:t>
            </a:r>
            <a:endParaRPr lang="en-US" sz="1100" dirty="0"/>
          </a:p>
        </p:txBody>
      </p:sp>
      <p:sp>
        <p:nvSpPr>
          <p:cNvPr id="42" name="Shape 27"/>
          <p:cNvSpPr/>
          <p:nvPr/>
        </p:nvSpPr>
        <p:spPr>
          <a:xfrm>
            <a:off x="8010144" y="342900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93024" y="3593592"/>
            <a:ext cx="292608" cy="292608"/>
          </a:xfrm>
          <a:prstGeom prst="rect">
            <a:avLst/>
          </a:prstGeom>
        </p:spPr>
      </p:pic>
      <p:sp>
        <p:nvSpPr>
          <p:cNvPr id="44" name="Text 28"/>
          <p:cNvSpPr txBox="1"/>
          <p:nvPr/>
        </p:nvSpPr>
        <p:spPr>
          <a:xfrm>
            <a:off x="8604504" y="3566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Identity and access</a:t>
            </a:r>
            <a:endParaRPr lang="en-US" sz="1400" dirty="0"/>
          </a:p>
        </p:txBody>
      </p:sp>
      <p:sp>
        <p:nvSpPr>
          <p:cNvPr id="45" name="Text 29"/>
          <p:cNvSpPr txBox="1"/>
          <p:nvPr/>
        </p:nvSpPr>
        <p:spPr>
          <a:xfrm>
            <a:off x="8238744" y="395935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Invite-only sign-in; SSO at go-live*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Roles: admin, manager, rep, viewer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Reps see only the accounts they own</a:t>
            </a:r>
            <a:endParaRPr lang="en-US" sz="1100" dirty="0"/>
          </a:p>
        </p:txBody>
      </p:sp>
      <p:sp>
        <p:nvSpPr>
          <p:cNvPr id="46" name="Shape 30"/>
          <p:cNvSpPr/>
          <p:nvPr/>
        </p:nvSpPr>
        <p:spPr>
          <a:xfrm>
            <a:off x="548640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5056632"/>
            <a:ext cx="292608" cy="292608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1143000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</a:t>
            </a:r>
            <a:endParaRPr lang="en-US" sz="1400" dirty="0"/>
          </a:p>
        </p:txBody>
      </p:sp>
      <p:sp>
        <p:nvSpPr>
          <p:cNvPr id="49" name="Text 32"/>
          <p:cNvSpPr txBox="1"/>
          <p:nvPr/>
        </p:nvSpPr>
        <p:spPr>
          <a:xfrm>
            <a:off x="777240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Managed PostgreSQL, private endpoint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Row-level security per business unit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Append-only logs; purge at pilot end</a:t>
            </a:r>
            <a:endParaRPr lang="en-US" sz="1100" dirty="0"/>
          </a:p>
        </p:txBody>
      </p:sp>
      <p:sp>
        <p:nvSpPr>
          <p:cNvPr id="50" name="Shape 33"/>
          <p:cNvSpPr/>
          <p:nvPr/>
        </p:nvSpPr>
        <p:spPr>
          <a:xfrm>
            <a:off x="4279392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62272" y="5056632"/>
            <a:ext cx="292608" cy="292608"/>
          </a:xfrm>
          <a:prstGeom prst="rect">
            <a:avLst/>
          </a:prstGeom>
        </p:spPr>
      </p:pic>
      <p:sp>
        <p:nvSpPr>
          <p:cNvPr id="52" name="Text 34"/>
          <p:cNvSpPr txBox="1"/>
          <p:nvPr/>
        </p:nvSpPr>
        <p:spPr>
          <a:xfrm>
            <a:off x="4873752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layer</a:t>
            </a:r>
            <a:endParaRPr lang="en-US" sz="1400" dirty="0"/>
          </a:p>
        </p:txBody>
      </p:sp>
      <p:sp>
        <p:nvSpPr>
          <p:cNvPr id="53" name="Text 35"/>
          <p:cNvSpPr txBox="1"/>
          <p:nvPr/>
        </p:nvSpPr>
        <p:spPr>
          <a:xfrm>
            <a:off x="4507992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Enterprise large language models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Each AI step off until you approve it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Rules fallback if the AI is unsure</a:t>
            </a:r>
            <a:endParaRPr lang="en-US" sz="1100" dirty="0"/>
          </a:p>
        </p:txBody>
      </p:sp>
      <p:sp>
        <p:nvSpPr>
          <p:cNvPr id="54" name="Shape 36"/>
          <p:cNvSpPr/>
          <p:nvPr/>
        </p:nvSpPr>
        <p:spPr>
          <a:xfrm>
            <a:off x="8010144" y="4892040"/>
            <a:ext cx="35661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3024" y="5056632"/>
            <a:ext cx="292608" cy="292608"/>
          </a:xfrm>
          <a:prstGeom prst="rect">
            <a:avLst/>
          </a:prstGeom>
        </p:spPr>
      </p:pic>
      <p:sp>
        <p:nvSpPr>
          <p:cNvPr id="56" name="Text 37"/>
          <p:cNvSpPr txBox="1"/>
          <p:nvPr/>
        </p:nvSpPr>
        <p:spPr>
          <a:xfrm>
            <a:off x="8604504" y="5029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Hosting and operations</a:t>
            </a:r>
            <a:endParaRPr lang="en-US" sz="1400" dirty="0"/>
          </a:p>
        </p:txBody>
      </p:sp>
      <p:sp>
        <p:nvSpPr>
          <p:cNvPr id="57" name="Text 38"/>
          <p:cNvSpPr txBox="1"/>
          <p:nvPr/>
        </p:nvSpPr>
        <p:spPr>
          <a:xfrm>
            <a:off x="8238744" y="542239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Containers on a private cloud network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Outbound traffic on an allow-list only</a:t>
            </a:r>
            <a:endParaRPr lang="en-US" sz="11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Automated CI/CD, central logging</a:t>
            </a:r>
            <a:endParaRPr lang="en-US" sz="1100" dirty="0"/>
          </a:p>
        </p:txBody>
      </p:sp>
      <p:sp>
        <p:nvSpPr>
          <p:cNvPr id="58" name="Text 3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* Single sign-on with your directory at commercial go-live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21 agents across the demand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Find and score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5 agents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Checker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Fit Scorer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Signal Reader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Timing Scorer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07992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26864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50799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Tier Ranker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8892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2608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Segment and plan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8892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9864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4612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Segmenter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8892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9864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Recommender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8892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4612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Channel Picker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78892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9864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Deal Sizer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02920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6636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Draft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02920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3892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Brief Builder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02920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3892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Draft Writer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02920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3892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Claim Matcher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02920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3892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Call Script Writer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26948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0664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Review and compliance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26948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7920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2668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Brand Checker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6948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920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72668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Consent Guard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26948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920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72668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Sensitive-topic Router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726948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72668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Spot-checker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509760" y="141732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646920" y="14630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Release and learn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4 agents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9509760" y="2240280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619488" y="235915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966960" y="2240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 Hand-off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509760" y="2807208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619488" y="29260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966960" y="280720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Outcome Tracker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9509760" y="3374136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19488" y="34930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966960" y="33741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Learning Loop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509760" y="3941064"/>
            <a:ext cx="2103120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19488" y="4059936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966960" y="394106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Metrics Reporter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77240" y="5303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Behind every stage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platform agents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329184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3703320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Orchestrator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03504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446520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Document Reader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8778240" y="546811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189720" y="5303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Gateway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Agents prepare the work. Your team makes every decision.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THE FLOW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Understanding the demand process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PROSPECT &amp; ACCOUNT SCORING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57600" cy="914400"/>
          </a:xfrm>
          <a:prstGeom prst="homePlat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066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783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List upload &amp; clean-up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783080"/>
            <a:ext cx="3657600" cy="9144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26864" y="2066544"/>
            <a:ext cx="347472" cy="34747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17830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Fit scoring against the ICP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783080"/>
            <a:ext cx="3657600" cy="9144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066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7616" y="2066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787384" y="17830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Signal scoring &amp; tiering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MICRO-SEGMENTS &amp; NEXT BEST ACTION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1517904" cy="685800"/>
          </a:xfrm>
          <a:prstGeom prst="homePlat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Hand-off of tier A and 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39696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06624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06624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185416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Micro-segmentation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30752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0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9768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776472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Next best action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21808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88736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88736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Draft &amp; brand check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12864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79792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79792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58584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Review &amp; approval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503920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70848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070848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549640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Release to reps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0094976" y="3520440"/>
            <a:ext cx="1517904" cy="6858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661904" y="36850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661904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0696" y="4297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Outcomes &amp; learning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5074920"/>
            <a:ext cx="11094415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22960" y="50749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workshop walks through each step as your team works today, so the pilot is configured to your process, not 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PROSPECT &amp; ACCOUNT SCORING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Prospect &amp; Account Scoring: key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ACCOUNT SCORING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A. Lead lists &amp; data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 lead lists come from today: CRM, events, bought data?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many accounts and contacts per region and business unit?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duplicates, opt-outs and consent handled?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owns each account, and how is that recorded?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often are lists refreshed?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B. Ideal customer &amp; fit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is the ideal customer: industry, site type, size, revenue?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criteria rule an account out?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roles and seniority do you target first?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existing customers and net-new treated differently?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some accounts managed separately (key accounts, partners)?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C. Buying signals &amp; timing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337560"/>
          </a:xfrm>
          <a:prstGeom prst="roundRect">
            <a:avLst>
              <a:gd name="adj" fmla="val 10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signals matter most: inquiries, end of support, renewals, projects, new leaders, webinars?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does each signal come from, and how fresh is it?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long does a signal stay relevant?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 you track installed-base and contract dates?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1094415" cy="4572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Any additional pain points in finding and prioritising prospects?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ACCOUNT SCORING · SOURCES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Where DemandAI looks: buying signals for industrial automation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TIER 1 · HIGHEST VALUE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First-party intent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The buyer has raised a hand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34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Website inquiries and RFQs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Webinar attendance and registration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Content downloads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Email clicks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46704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9584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9584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032504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TIER 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Installed base &amp; CRM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29584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Timing we already know about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529584" y="2834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Control systems near end of support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Service contract renewals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Past orders and open opportunities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Account ownership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44768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7648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27648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30568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TIER 3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Market news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27648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Why now, at a new account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27648" y="2834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Capital projects: expansion, FEED, FID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Leadership changes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Planned shutdowns and turnarounds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Industry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942832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25712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25712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28632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TIER 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125712" y="2057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Contact &amp; firmographic data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25712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Who to talk to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25712" y="2834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B2B contact databases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Professional networks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Company websites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attendee lists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HOW DEMANDAI USES THESE SOURCES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029200"/>
            <a:ext cx="2724912" cy="960120"/>
          </a:xfrm>
          <a:prstGeom prst="homePlat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5303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70432" y="50292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Collect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Upload a file or connect a feed, on a schedule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346704" y="5029200"/>
            <a:ext cx="2724912" cy="96012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66744" y="5303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66744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151376" y="50292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Match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To the account by domain and to the person by email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144768" y="5029200"/>
            <a:ext cx="2724912" cy="96012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5303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949440" y="50292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Signal weight × freshness × account fit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942832" y="5029200"/>
            <a:ext cx="2724912" cy="96012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62872" y="5303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262872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747504" y="502920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Tier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A, B or C for each person, with why now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ACCOUNT SCORING · SEGMENTS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Our understanding: six reasons a site buys now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  <a:gridCol w="329184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Micro-segment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Signal that triggers it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Angle (the play)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Next best actions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Inquiry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Inquiry or RFQ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Answer the question they asked while it is live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Call to follow up · route to the sales owner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Modernisation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Control system near end of support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Plan the migration before end of support forces the timing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Migration-path discussion · site assessment · lifecycle review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Service renewal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Service contract renewal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Check the cover still fits how the site runs today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Renewal review · route to the service owner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Project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Capital project announced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Settle the control scope while the design is still open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 study and technical session · reference visit · design workshop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Leadership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New leader at the site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 useful to a new leader setting priorities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Introduce Client · peer case study · short briefing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Engagement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Webinar, download or email click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Follow up on the topic they chose to engage with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Follow up on the topic · invite to a related session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 starting set. In the pilot the AI may suggest new segments from the signals it sees; a manager approves each one, and a segment needs at least three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(1/3)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D. Prioritising &amp; segments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do reps decide which accounts to work this week?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 you group accounts by their reason to buy?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should approve a new segment?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many accounts can a rep act on each week?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E. Actions &amp; channels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does a rep do today in each situation: call, assessment, renewal review, case study?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channels are allowed per country: email, LinkedIn, phone?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is a typical first deal size per segment?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picks up accounts with no rep?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F. Messaging &amp; content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first messages written today, and how long do they take?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brand guideline, tone of voice and banned words?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library of approved claims and case studies, with expiry dates?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there plays or frameworks per segment?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(2/3)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G. Review &amp; approval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Who reviews messages before they go out today?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topics need a manager: pricing, incidents, security, regulation?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review effort per action is acceptable?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should happen to a rejected suggestion?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38218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6818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H. Rep hand-off &amp; CRM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38218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6818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Where do reps work today: CRM, email, a sales engagement tool?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Should released actions become CRM tasks?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activities and outcomes logged?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notifications do reps want?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6397" y="146304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I. Consent &amp; data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27797" y="2240280"/>
            <a:ext cx="3515258" cy="3886200"/>
          </a:xfrm>
          <a:prstGeom prst="roundRect">
            <a:avLst>
              <a:gd name="adj" fmla="val 10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6397" y="2423160"/>
            <a:ext cx="310377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Which consent bases apply in each country?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are opt-outs captured and shared?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Any data residency requirements?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What happens to pilot data at the end?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UNDERSTANDING · MICRO-SEGMENTS &amp; NBA ·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Micro-segments &amp; NBA: key questions (3/3)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445752" y="292608"/>
            <a:ext cx="219456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5752" y="2926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NEXT BEST ACTION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10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495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J. Learning &amp; measurement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5410048" cy="3886200"/>
          </a:xfrm>
          <a:prstGeom prst="roundRect">
            <a:avLst>
              <a:gd name="adj" fmla="val 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23160"/>
            <a:ext cx="4998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Are outcomes (reply, meeting, opportunity) recorded today, and where?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there a report of outbound metrics?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Is win or loss linked back to the first touch?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How should the system learn from rejected suggestions?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33008" y="1463040"/>
            <a:ext cx="5410048" cy="777240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1463040"/>
            <a:ext cx="49528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K. Baseline numbers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2240280"/>
            <a:ext cx="5410048" cy="3886200"/>
          </a:xfrm>
          <a:prstGeom prst="roundRect">
            <a:avLst>
              <a:gd name="adj" fmla="val 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423160"/>
            <a:ext cx="4998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Research time per account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Time from signal to first touch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Reply and meeting rates by channel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Pipeline sourced from outbound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Accounts a rep works per week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02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 ·  KEY INPUTS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Key inputs from stakeholders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Key inputs needed from you for the pilot.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KEY REQUIREMENTS · 1 OF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need: data and content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155448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MOST IMPORTANT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Data to train and test the pilot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2 to 3 lead lists for the pilot business unit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6 to 12 months of signals for those accounts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Outcomes: replied, meeting, opportunity, or no response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mix of existing customers and net-new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5166360"/>
            <a:ext cx="173736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166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80% 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tune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0" y="5166360"/>
            <a:ext cx="1737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5166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20% </a:t>
            </a:r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74920" y="15087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749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5087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Content library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9659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Brand guideline, tone of voice, sign-off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Approved claims and case studies, with owners and expiry dates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Messaging plays per segment; banned words and competitors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74920" y="30449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74920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4495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ICP and scoring rules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502152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Ideal customer criteria and the fit floor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Target roles and seniority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Which signals count, and their weights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74920" y="45811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4920" y="45811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58114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Signal sources and actions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5038344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Web forms, webinar and email platforms, CRM, installed base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News or project feeds you subscribe to</a:t>
            </a:r>
            <a:endParaRPr lang="en-US" sz="13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The actions reps may take, by segment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KEY REQUIREMENTS · 2 OF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need: access and ways of working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team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One business unit and 3 to 5 reps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Roles: admin, sales manager, rep, viewer, content owner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79392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07992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93792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Cadence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07992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Biweekly check-in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Inputs provided by agreed dates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10144" y="146304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38744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8288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2454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Communication channel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38744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Shared Teams channel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One owner per open question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1605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and content repository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Central folder for lists, signals and content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Access-controlled for the pilot team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4279392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07992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416052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93792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System and InfoSec access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07992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CRM export or read access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Security review and cloud account set-up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8010144" y="37947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38744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5904" y="416052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24544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Scope and timelines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238744" y="47548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Agree the pilot business unit and dates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Review progress at each check-in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SUCCESS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we will measure success: Prospect &amp; Account Scoring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920240"/>
                <a:gridCol w="2926080"/>
                <a:gridCol w="2240280"/>
                <a:gridCol w="2514600"/>
                <a:gridCol w="107899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Baseline metric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definition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How we measure it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illustration (examples)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Rating scale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Accounts covered*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target accounts are reviewed for buying signals today?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Accounts with a current score each month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Today 200 by hand | 2,000+ scored weekly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Research effort*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long does a rep spend finding out why to call an account?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account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 minutes today vs 5 minutes to review | 80% less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Signal-to-touch time*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long after a signal does the first touch happen?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Average days from signal date to first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measured today vs within 3 working days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Prioritisation accuracy*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the top-tier prospects produce most of the meetings?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Share of meetings from tier A and B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70% of meetings from tier A and B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List quality*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rows are unusable: duplicates, no contact, opted out?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Issues found per 1,000 rows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Flagged before scoring, with a fix suggested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Missed signals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live signals were not acted on?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Signals older than 30 days with no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measured today vs tracked weekly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can be measured during the pilot phase. Figures in the illustration column are examples to agree at baselining, not commitments.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SUCCESS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we will measure success: Micro-segments &amp; NBA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920240"/>
                <a:gridCol w="2926080"/>
                <a:gridCol w="2240280"/>
                <a:gridCol w="2514600"/>
                <a:gridCol w="1078992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Baseline metric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definition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How we measure it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Metric illustration (examples)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Rating scale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Review effort (G1)*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much time does a person spend checking each action before it goes out?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Review minutes per released action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 minutes today | 50% less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First-pass acceptance (G2)*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often is the recommended action accepted without change?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Accepted ÷ decided, first pass and exceptions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60% accepted first time, or within one alternative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Messages on brand*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How many drafts pass the brand, claim and consent checks?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Share of drafts with no flag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95% pass; the rest are corrected once automatically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Reply and meeting rate*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recommended actions get more responses?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Replies and meetings per 100 touches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Pilot reps vs the same reps last year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 adoption*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 reps use the list each week?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Weekly active reps; actions worked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of 5 reps active every week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Pipeline sourced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What pipeline starts from a DemandAI action?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Opportunities and value linked to a first touch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Tracked from pilot week 4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4"/>
                          </a:solidFill>
                        </a:rPr>
                        <a:t>☆☆☆☆☆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can be measured during the pilot phase. Revenue attribution needs CRM linkage and a longer window; open to discussion.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DRAFT TIMELINE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Draft pilot timeline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864608" y="1371600"/>
            <a:ext cx="2087404" cy="2743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0" y="1371600"/>
            <a:ext cx="2123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Nov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988588" y="1371600"/>
            <a:ext cx="1662608" cy="2743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70300" y="1371600"/>
            <a:ext cx="169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Dec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7772" y="1371600"/>
            <a:ext cx="1662608" cy="2743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69484" y="1371600"/>
            <a:ext cx="169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Jan 2027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386955" y="1371600"/>
            <a:ext cx="1237812" cy="2743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68667" y="1371600"/>
            <a:ext cx="1274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Feb 2027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271116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9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695912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120708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45504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30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97030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7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95096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W7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9892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244688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W9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28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669484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094280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11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519075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18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943871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25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68667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793463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8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218259" y="1673352"/>
            <a:ext cx="4247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15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2121408"/>
            <a:ext cx="1600200" cy="786384"/>
          </a:xfrm>
          <a:prstGeom prst="roundRect">
            <a:avLst>
              <a:gd name="adj" fmla="val 34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2121408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Initiation &amp; readiness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212140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Project preparation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232714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73752" y="216255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86000" y="232714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Team briefing preparation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0" y="253288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73752" y="236829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286000" y="253288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Pilot business unit and reps selected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86000" y="273862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98548" y="257403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286000" y="2738628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Team confirmation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0" y="2944368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98548" y="2779776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008376"/>
            <a:ext cx="1600200" cy="786384"/>
          </a:xfrm>
          <a:prstGeom prst="roundRect">
            <a:avLst>
              <a:gd name="adj" fmla="val 348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1792" y="3008376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Discovery workshops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300837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Kick-off &amp; demo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86000" y="321411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98548" y="3049524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286000" y="321411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Sales &amp; marketing workshop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0" y="341985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23344" y="3255264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286000" y="341985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Stakeholder alignment &amp; requirements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0" y="362559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723344" y="3461004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286000" y="3625596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Baseline, success criteria &amp; work plan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86000" y="3831336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148140" y="3666744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3895344"/>
            <a:ext cx="1600200" cy="1403604"/>
          </a:xfrm>
          <a:prstGeom prst="roundRect">
            <a:avLst>
              <a:gd name="adj" fmla="val 195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1792" y="3895344"/>
            <a:ext cx="1463040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Pilot: configure &amp; set up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89534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Platform set-up &amp; configuration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0" y="410108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48140" y="393649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86000" y="410108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ICP rubric, signals &amp; segment plays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286000" y="430682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572936" y="414223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286000" y="430682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Content library: brand, claims, plays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86000" y="451256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2936" y="4347972"/>
            <a:ext cx="1219524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286000" y="451256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Data load: lead lists &amp; signal feeds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286000" y="471830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97732" y="455371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286000" y="471830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Training run, tuning &amp; fixes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286000" y="492404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47324" y="475945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2286000" y="492404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UAT &amp; InfoSec checks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286000" y="512978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72120" y="4965192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286000" y="5129784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 training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286000" y="5335524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696916" y="5170932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8640" y="5399532"/>
            <a:ext cx="1600200" cy="374904"/>
          </a:xfrm>
          <a:prstGeom prst="roundRect">
            <a:avLst>
              <a:gd name="adj" fmla="val 731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21792" y="5399532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Pilot execution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2286000" y="5399532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Pilot run &amp; measurement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86000" y="5605272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121712" y="5440680"/>
            <a:ext cx="1644320" cy="123444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286000" y="5605272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 support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286000" y="5811012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121712" y="5646420"/>
            <a:ext cx="1644320" cy="123444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8640" y="5875020"/>
            <a:ext cx="1600200" cy="374904"/>
          </a:xfrm>
          <a:prstGeom prst="roundRect">
            <a:avLst>
              <a:gd name="adj" fmla="val 7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21792" y="5875020"/>
            <a:ext cx="14630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Results &amp; recommendation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2286000" y="5875020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Results consolidation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286000" y="6080760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820895" y="5916168"/>
            <a:ext cx="369932" cy="12344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2286000" y="6080760"/>
            <a:ext cx="25146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Rollout recommendation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286000" y="6286500"/>
            <a:ext cx="9357055" cy="0"/>
          </a:xfrm>
          <a:prstGeom prst="line">
            <a:avLst/>
          </a:prstGeom>
          <a:noFill/>
          <a:ln w="6350">
            <a:solidFill>
              <a:schemeClr val="accent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820895" y="6121908"/>
            <a:ext cx="794728" cy="12344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Weeks start on Mondays. The year-end weeks (W8, W9) carry lighter work; dates are agreed at kick-off.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188720"/>
            <a:ext cx="4206240" cy="420624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4206240"/>
            <a:ext cx="1463040" cy="1463040"/>
          </a:xfrm>
          <a:prstGeom prst="diamond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DEMAND AI PILOT  ·  DISCOVERY WORKSHOP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Questions and discussion welcome.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Prepared for Client  ·  Response to RFP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1371600"/>
            <a:ext cx="3840480" cy="3840480"/>
          </a:xfrm>
          <a:prstGeom prst="diamond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0" y="137160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A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Appendix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Security and responsible AI, agent detail and validation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SECURITY AND RESPONSIBLE AI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Three layers of protection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AI request passes through all three before a draft reaches your team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6304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LAYER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gateway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Checks every call to and from the AI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3474720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14884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features you switched on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4069080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4884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Sends the minimum data needed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4663440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4884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Logs metadata, never the prompt text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75488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029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LAYER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02920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Controlled agents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02920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Agents follow fixed, approved rules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4747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4068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Versioned prompt templates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069080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4068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Approved claims and plays only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4663440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44068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action tied to a user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8046720" y="1737360"/>
            <a:ext cx="3017520" cy="374904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3210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LAYER 3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8321040" y="22402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Draft checks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8321040" y="2743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Every draft checked before you see it</a:t>
            </a:r>
            <a:endParaRPr lang="en-US" sz="13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3474720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732520" y="34015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Brand, claim and consent checks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4069080"/>
            <a:ext cx="256032" cy="25603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8732520" y="39959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topics to a manager</a:t>
            </a:r>
            <a:endParaRPr lang="en-US" sz="1300" dirty="0"/>
          </a:p>
        </p:txBody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663440"/>
            <a:ext cx="256032" cy="256032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8732520" y="45902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 fallback if a check fails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274320" y="3291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Your data</a:t>
            </a:r>
            <a:endParaRPr lang="en-US" sz="1200" dirty="0"/>
          </a:p>
        </p:txBody>
      </p:sp>
      <p:sp>
        <p:nvSpPr>
          <p:cNvPr id="36" name="Text 25"/>
          <p:cNvSpPr txBox="1"/>
          <p:nvPr/>
        </p:nvSpPr>
        <p:spPr>
          <a:xfrm>
            <a:off x="11338560" y="3291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Draft you see</a:t>
            </a:r>
            <a:endParaRPr lang="en-US" sz="1200" dirty="0"/>
          </a:p>
        </p:txBody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3456432"/>
            <a:ext cx="228600" cy="228600"/>
          </a:xfrm>
          <a:prstGeom prst="rect">
            <a:avLst/>
          </a:prstGeom>
        </p:spPr>
      </p:pic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2528" y="3456432"/>
            <a:ext cx="228600" cy="228600"/>
          </a:xfrm>
          <a:prstGeom prst="rect">
            <a:avLst/>
          </a:prstGeom>
        </p:spPr>
      </p:pic>
      <p:sp>
        <p:nvSpPr>
          <p:cNvPr id="39" name="Shape 26"/>
          <p:cNvSpPr/>
          <p:nvPr/>
        </p:nvSpPr>
        <p:spPr>
          <a:xfrm>
            <a:off x="1463040" y="5669280"/>
            <a:ext cx="9601200" cy="457200"/>
          </a:xfrm>
          <a:prstGeom prst="roundRect">
            <a:avLst>
              <a:gd name="adj" fmla="val 16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45920" y="5760720"/>
            <a:ext cx="274320" cy="27432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2057400" y="566928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If anything is flagged at any layer, the draft stops and the rules version or a person takes over.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SECURITY AND RESPONSIBLE AI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Network, access and governance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Network and access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482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920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exposure to the public internet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78608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06624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78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TLS everywhere; a nonce-based content policy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236976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6499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236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Invite-only sign-in with lockout; SSO at go-live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3895344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36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8953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Row-level security per business unit and owner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172200" y="14173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Governance and assurance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6172200" y="1920240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048256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812280" y="1920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Reviewed against your AI and security policies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6172200" y="2578608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06624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812280" y="25786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Penetration test findings tracked to closure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6172200" y="3236976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364992"/>
            <a:ext cx="274320" cy="27432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812280" y="3236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New AI features stay off until you approve them</a:t>
            </a:r>
            <a:endParaRPr lang="en-US" sz="1400" dirty="0"/>
          </a:p>
        </p:txBody>
      </p:sp>
      <p:sp>
        <p:nvSpPr>
          <p:cNvPr id="27" name="Shape 18"/>
          <p:cNvSpPr/>
          <p:nvPr/>
        </p:nvSpPr>
        <p:spPr>
          <a:xfrm>
            <a:off x="6172200" y="3895344"/>
            <a:ext cx="53949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4023360"/>
            <a:ext cx="274320" cy="2743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12280" y="38953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Pilot data exported and purged at the end</a:t>
            </a:r>
            <a:endParaRPr lang="en-US" sz="1400" dirty="0"/>
          </a:p>
        </p:txBody>
      </p:sp>
      <p:sp>
        <p:nvSpPr>
          <p:cNvPr id="30" name="Text 20"/>
          <p:cNvSpPr txBox="1"/>
          <p:nvPr/>
        </p:nvSpPr>
        <p:spPr>
          <a:xfrm>
            <a:off x="54864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WHO LOOKS AFTER WHAT</a:t>
            </a:r>
            <a:endParaRPr lang="en-US" sz="1200" dirty="0"/>
          </a:p>
        </p:txBody>
      </p:sp>
      <p:sp>
        <p:nvSpPr>
          <p:cNvPr id="31" name="Shape 21"/>
          <p:cNvSpPr/>
          <p:nvPr/>
        </p:nvSpPr>
        <p:spPr>
          <a:xfrm>
            <a:off x="548640" y="5029200"/>
            <a:ext cx="539496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822960" y="5029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Your IT team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Network, company sign-in, access policies, approving new features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6172200" y="5029200"/>
            <a:ext cx="53949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446520" y="5029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Platform team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AI gateway, agent rules, checks, backups, monitoring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1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Find and score: 5 agents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List 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Checks and cleans the lead file: duplicates, missing fields, opt-outs and consent.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Uploads the list, fixes flagged rows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Fit Scorer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Scores each account against your ICP rubric and fit floor.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Agrees the rubric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Signal Reader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Reads intent, installed-base, CRM and news signals and matches them to accounts and people.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Sets signal sources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Timing Scorer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Weights each signal by type and how fresh it is.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Agrees the weights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Tier Ranker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Ranks people into tiers A, B and C and explains why now.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Chooses who is handed off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2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Segment and plan: 4 agents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Segmenter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Groups accounts that share a reason to buy into micro-segments of three or more.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approves new segments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Action Recommender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Picks the next best action from the segment play and the signal.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accepts or picks another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Channel Picker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Chooses email, LinkedIn or a call, within consent and verification limits.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can change the channel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Deal Sizer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Estimates the first deal and how confident the recommendation is.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sets the thresholds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3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Draft: 4 agents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Brief Builder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Sets out who, why now, the angle, the proof point and the ask.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owns the plays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Draft Writer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Writes the first message in your brand voice from approved content only.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edits before sending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Claim Matcher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Picks an approved, unexpired claim that fits the segment.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approves claims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Call Script Writer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Prepares the opener, discovery questions and objection handling.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uses it on the call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4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Review and compliance: 4 agents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Brand 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Checks banned words and openers, length, pricing and competitor mentions.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Marketing sets the rules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Consent Guard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Stops anyone who opted out or has no recognised consent before hand-off.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Admin confirms the bases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Sensitive-topic Router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Sends incidents, security and regulation topics to the sales manager.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approves or rejects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Spot-checker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Draws about 20% of released actions each week, at least one per rep, for rating.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rates the sample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5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Release and learn: 4 agents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Rep Hand-off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Releases ready actions to each rep's list for today.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works the list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Outcome Tracker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Records replies, meetings, rejections and the reasons given.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Rep logs the outcome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Learning Loop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After enough decisions, shifts which actions a segment gets.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Manager reviews the change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Metrics Reporter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Reports review effort, first-pass acceptance and pipeline.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Leaders review trends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AI AGENTS · DETAIL · 6 OF 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Platform: 3 agents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  <a:gridCol w="286207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WHAT IT DOES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spc="100" kern="0" dirty="0">
                          <a:solidFill>
                            <a:schemeClr val="bg1"/>
                          </a:solidFill>
                        </a:rPr>
                        <a:t>YOUR TEAM</a:t>
                      </a:r>
                      <a:endParaRPr lang="en-US" sz="13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Orchestrator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Runs each upload, scoring run and build as a job, in order, and picks up after a restart.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Admin watches the jobs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Document Reader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Reads Excel and CSV lists and signal files, and guideline documents.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No action needed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AI Gateway</a:t>
                      </a:r>
                      <a:endParaRPr lang="en-US" sz="15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 AI call: approved features only, checks, one repair, rules fallback, logging.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Admin switches features on</a:t>
                      </a:r>
                      <a:endParaRPr lang="en-US" sz="1400" dirty="0"/>
                    </a:p>
                  </a:txBody>
                  <a:tcPr marL="109728" marR="109728" marT="109728" marB="109728" anchor="ctr">
                    <a:lnL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VALIDATION DIMENSIONS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Pilot validation dimensions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463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Data understanding: list quality, matching and de-duplication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45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463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Scoring that a rep agrees with, and can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788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606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Segments that make sense to sales and marketing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2200" y="2606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788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2788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2606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Actions and channels that fit the signal and consent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31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749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Messages on brand, with approved claims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3749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931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749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and quality control: exceptions, approvals, spot-checks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074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4892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Integration with CRM and the tools reps use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172200" y="489204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5074920"/>
            <a:ext cx="594360" cy="594360"/>
          </a:xfrm>
          <a:prstGeom prst="diamond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489204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Actual productivity: time saved, acceptance, replies, pipeline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mandAI Proposal">
  <a:themeElements>
    <a:clrScheme name="DemandAI Proposal">
      <a:dk1>
        <a:srgbClr val="1B1F2A"/>
      </a:dk1>
      <a:lt1>
        <a:srgbClr val="FFFFFF"/>
      </a:lt1>
      <a:dk2>
        <a:srgbClr val="2E3A4F"/>
      </a:dk2>
      <a:lt2>
        <a:srgbClr val="F3F4F6"/>
      </a:lt2>
      <a:accent1>
        <a:srgbClr val="F2A900"/>
      </a:accent1>
      <a:accent2>
        <a:srgbClr val="0E7C7B"/>
      </a:accent2>
      <a:accent3>
        <a:srgbClr val="B4441C"/>
      </a:accent3>
      <a:accent4>
        <a:srgbClr val="64748B"/>
      </a:accent4>
      <a:accent5>
        <a:srgbClr val="FCEFC7"/>
      </a:accent5>
      <a:accent6>
        <a:srgbClr val="D9DEE5"/>
      </a:accent6>
      <a:hlink>
        <a:srgbClr val="0E7C7B"/>
      </a:hlink>
      <a:folHlink>
        <a:srgbClr val="64748B"/>
      </a:folHlink>
    </a:clrScheme>
    <a:fontScheme name="DemandAI Propos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DemandAI: signal-led prospecting and next best action</dc:title>
  <dc:subject>PptxGenJS Presentation</dc:subject>
  <dc:creator>DemandAI team</dc:creator>
  <cp:lastModifiedBy>DemandAI team</cp:lastModifiedBy>
  <cp:revision>1</cp:revision>
  <dcterms:created xsi:type="dcterms:W3CDTF">2026-10-30T12:20:15Z</dcterms:created>
  <dcterms:modified xsi:type="dcterms:W3CDTF">2026-10-30T12:20:15Z</dcterms:modified>
</cp:coreProperties>
</file>