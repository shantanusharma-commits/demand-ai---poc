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5a1abb7-3597-320a-e5ea-f9bff3da0b73}">
          <p14:sldIdLst>
            <p14:sldId id="256"/>
            <p14:sldId id="257"/>
            <p14:sldId id="258"/>
          </p14:sldIdLst>
        </p14:section>
        <p14:section name="Understanding" id="{83c87586-cf7c-5399-3cc5-e781f24f4632}">
          <p14:sldIdLst>
            <p14:sldId id="259"/>
            <p14:sldId id="260"/>
            <p14:sldId id="261"/>
            <p14:sldId id="262"/>
            <p14:sldId id="263"/>
            <p14:sldId id="264"/>
            <p14:sldId id="265"/>
            <p14:sldId id="266"/>
            <p14:sldId id="267"/>
            <p14:sldId id="268"/>
            <p14:sldId id="269"/>
            <p14:sldId id="270"/>
            <p14:sldId id="271"/>
          </p14:sldIdLst>
        </p14:section>
        <p14:section name="Key inputs" id="{d9aad8b0-db91-e52f-2f8c-13606280acd4}">
          <p14:sldIdLst>
            <p14:sldId id="272"/>
            <p14:sldId id="273"/>
            <p14:sldId id="274"/>
          </p14:sldIdLst>
        </p14:section>
        <p14:section name="Success criteria" id="{6ba15865-33b1-fcdc-a96b-d9a83f7fb4bf}">
          <p14:sldIdLst>
            <p14:sldId id="275"/>
            <p14:sldId id="276"/>
            <p14:sldId id="277"/>
          </p14:sldIdLst>
        </p14:section>
        <p14:section name="Timeline" id="{39140a6e-9b4b-e1bb-d910-42eb2e5dad73}">
          <p14:sldIdLst>
            <p14:sldId id="278"/>
            <p14:sldId id="279"/>
          </p14:sldIdLst>
        </p14:section>
        <p14:section name="Appendix" id="{a5bbc30b-69ca-5bd5-034a-42a3e1397804}">
          <p14:sldIdLst>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modules, one flow. Scoring decides who has a reason to buy now; NBA decides what each rep does about it. Nothing is sent automatically in the pilot: reps send from their own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Reps and managers sign in to the web app. The engine applies tested rules for scoring, segmentation and routing; AI words drafts and suggests segments through one gateway that logs every call and falls back to the rules. Data sits in PostgreSQL with row-level security per business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one job. Scoring, segmentation, routing and the checks are tested rules, so every result can be traced; AI words the drafts and suggests segments and actions, behind the gateway and switched off until you approve its results. Agents never send, approve or commit on the company's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pilot the data comes from the Client: two uploads in fixed templates. Connectors to CRM, web forms or news feeds are a later phase. Signal types can be extended in Setup; each new type feeds one of the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how the play changes for a fresh buyer, an account that is not yet a customer. The content named is the approved content in the Content library: the migration case study, the site assessment one-pager, the plant-expansion case study, the peer story and the webinar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the minutes come from how long each For Review decision took, logged automatically. Actions that went ahead on their own take no review minutes, which is where the saving comes from. G2: only first-pass decisions count. Choosing an alternative after a rejection is tracked separately, not as an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100" b="1" spc="150" kern="0" dirty="0">
                <a:solidFill>
                  <a:schemeClr val="accent3"/>
                </a:solidFill>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nvSpPr>
        <p:spPr>
          <a:xfrm>
            <a:off x="6126480" y="6446520"/>
            <a:ext cx="4937760" cy="274320"/>
          </a:xfrm>
          <a:prstGeom prst="rect">
            <a:avLst/>
          </a:prstGeom>
          <a:noFill/>
          <a:ln/>
        </p:spPr>
        <p:txBody>
          <a:bodyPr wrap="square" lIns="0" tIns="0" rIns="0" bIns="0" rtlCol="0" anchor="ctr"/>
          <a:lstStyle/>
          <a:p>
            <a:pPr algn="r" indent="0" marL="0">
              <a:buNone/>
            </a:pPr>
            <a:r>
              <a:rPr lang="en-US" sz="1000" dirty="0">
                <a:solidFill>
                  <a:schemeClr val="accent4"/>
                </a:solidFill>
              </a:rPr>
              <a:t>DemandAI  ·  Prepared for Client  ·  Confidential</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6126480" y="6446520"/>
            <a:ext cx="5532120" cy="274320"/>
          </a:xfrm>
          <a:prstGeom prst="rect">
            <a:avLst/>
          </a:prstGeom>
          <a:noFill/>
          <a:ln/>
        </p:spPr>
        <p:txBody>
          <a:bodyPr wrap="square" lIns="0" tIns="0" rIns="0" bIns="0" rtlCol="0" anchor="ctr"/>
          <a:lstStyle/>
          <a:p>
            <a:pPr algn="r" indent="0" marL="0">
              <a:buNone/>
            </a:pPr>
            <a:r>
              <a:rPr lang="en-US" sz="1000" dirty="0">
                <a:solidFill>
                  <a:schemeClr val="accent4"/>
                </a:solidFill>
              </a:rPr>
              <a:t>DemandAI  ·  Prepared for Client  ·  Confidential</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slideLayout" Target="../slideLayouts/slideLayout2.xml"/><Relationship Id="rId1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2.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2.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097280"/>
            <a:ext cx="4754880" cy="4754880"/>
          </a:xfrm>
          <a:prstGeom prst="diamond">
            <a:avLst/>
          </a:prstGeom>
          <a:solidFill>
            <a:schemeClr val="tx2"/>
          </a:solidFill>
          <a:ln w="12700">
            <a:solidFill>
              <a:schemeClr val="tx2"/>
            </a:solidFill>
            <a:prstDash val="solid"/>
          </a:ln>
        </p:spPr>
      </p:sp>
      <p:sp>
        <p:nvSpPr>
          <p:cNvPr id="3" name="Shape 1"/>
          <p:cNvSpPr/>
          <p:nvPr/>
        </p:nvSpPr>
        <p:spPr>
          <a:xfrm>
            <a:off x="9509760" y="3291840"/>
            <a:ext cx="2743200" cy="2743200"/>
          </a:xfrm>
          <a:prstGeom prst="diamond">
            <a:avLst/>
          </a:prstGeom>
          <a:solidFill>
            <a:schemeClr val="accent1"/>
          </a:solidFill>
          <a:ln w="12700">
            <a:solidFill>
              <a:schemeClr val="accent1"/>
            </a:solidFill>
            <a:prstDash val="solid"/>
          </a:ln>
        </p:spPr>
      </p:sp>
      <p:sp>
        <p:nvSpPr>
          <p:cNvPr id="4" name="Shape 2"/>
          <p:cNvSpPr/>
          <p:nvPr/>
        </p:nvSpPr>
        <p:spPr>
          <a:xfrm>
            <a:off x="8412480" y="4480560"/>
            <a:ext cx="1280160" cy="1280160"/>
          </a:xfrm>
          <a:prstGeom prst="diamond">
            <a:avLst/>
          </a:prstGeom>
          <a:solidFill>
            <a:schemeClr val="accent2"/>
          </a:solidFill>
          <a:ln w="12700">
            <a:solidFill>
              <a:schemeClr val="accent2"/>
            </a:solidFill>
            <a:prstDash val="solid"/>
          </a:ln>
        </p:spPr>
      </p:sp>
      <p:sp>
        <p:nvSpPr>
          <p:cNvPr id="5" name="Text 3"/>
          <p:cNvSpPr txBox="1"/>
          <p:nvPr/>
        </p:nvSpPr>
        <p:spPr>
          <a:xfrm>
            <a:off x="548640" y="1737360"/>
            <a:ext cx="6858000" cy="457200"/>
          </a:xfrm>
          <a:prstGeom prst="rect">
            <a:avLst/>
          </a:prstGeom>
          <a:noFill/>
          <a:ln/>
        </p:spPr>
        <p:txBody>
          <a:bodyPr wrap="square" lIns="0" tIns="0" rIns="0" bIns="0" rtlCol="0" anchor="t"/>
          <a:lstStyle/>
          <a:p>
            <a:pPr indent="0" marL="0">
              <a:buNone/>
            </a:pPr>
            <a:r>
              <a:rPr lang="en-US" sz="1800" b="1" spc="300" kern="0" dirty="0">
                <a:solidFill>
                  <a:schemeClr val="accent1"/>
                </a:solidFill>
              </a:rPr>
              <a:t>DEMAND AI</a:t>
            </a:r>
            <a:endParaRPr lang="en-US" sz="1800" dirty="0"/>
          </a:p>
        </p:txBody>
      </p:sp>
      <p:sp>
        <p:nvSpPr>
          <p:cNvPr id="6" name="Text 4"/>
          <p:cNvSpPr txBox="1"/>
          <p:nvPr/>
        </p:nvSpPr>
        <p:spPr>
          <a:xfrm>
            <a:off x="548640" y="2194560"/>
            <a:ext cx="7498080" cy="1554480"/>
          </a:xfrm>
          <a:prstGeom prst="rect">
            <a:avLst/>
          </a:prstGeom>
          <a:noFill/>
          <a:ln/>
        </p:spPr>
        <p:txBody>
          <a:bodyPr wrap="square" lIns="0" tIns="0" rIns="0" bIns="0" rtlCol="0" anchor="t"/>
          <a:lstStyle/>
          <a:p>
            <a:pPr indent="0" marL="0">
              <a:buNone/>
            </a:pPr>
            <a:r>
              <a:rPr lang="en-US" sz="4400" b="1" dirty="0">
                <a:solidFill>
                  <a:schemeClr val="bg1"/>
                </a:solidFill>
              </a:rPr>
              <a:t>Signal-led Prospecting &amp;</a:t>
            </a:r>
            <a:endParaRPr lang="en-US" sz="4400" dirty="0"/>
          </a:p>
          <a:p>
            <a:pPr indent="0" marL="0">
              <a:buNone/>
            </a:pPr>
            <a:r>
              <a:rPr lang="en-US" sz="4400" b="1" dirty="0">
                <a:solidFill>
                  <a:schemeClr val="bg1"/>
                </a:solidFill>
              </a:rPr>
              <a:t>Next Best Action</a:t>
            </a:r>
            <a:endParaRPr lang="en-US" sz="4400" dirty="0"/>
          </a:p>
        </p:txBody>
      </p:sp>
      <p:sp>
        <p:nvSpPr>
          <p:cNvPr id="7" name="Text 5"/>
          <p:cNvSpPr txBox="1"/>
          <p:nvPr/>
        </p:nvSpPr>
        <p:spPr>
          <a:xfrm>
            <a:off x="548640" y="3931920"/>
            <a:ext cx="6766560" cy="731520"/>
          </a:xfrm>
          <a:prstGeom prst="rect">
            <a:avLst/>
          </a:prstGeom>
          <a:noFill/>
          <a:ln/>
        </p:spPr>
        <p:txBody>
          <a:bodyPr wrap="square" lIns="0" tIns="0" rIns="0" bIns="0" rtlCol="0" anchor="t"/>
          <a:lstStyle/>
          <a:p>
            <a:pPr indent="0" marL="0">
              <a:buNone/>
            </a:pPr>
            <a:r>
              <a:rPr lang="en-US" sz="1600" dirty="0">
                <a:solidFill>
                  <a:schemeClr val="accent6"/>
                </a:solidFill>
              </a:rPr>
              <a:t>Find the accounts with a reason to buy now, and give every rep the next best action and a first message.</a:t>
            </a:r>
            <a:endParaRPr lang="en-US" sz="1600" dirty="0"/>
          </a:p>
        </p:txBody>
      </p:sp>
      <p:sp>
        <p:nvSpPr>
          <p:cNvPr id="8" name="Text 6"/>
          <p:cNvSpPr txBox="1"/>
          <p:nvPr/>
        </p:nvSpPr>
        <p:spPr>
          <a:xfrm>
            <a:off x="548640" y="5120640"/>
            <a:ext cx="6400800" cy="365760"/>
          </a:xfrm>
          <a:prstGeom prst="rect">
            <a:avLst/>
          </a:prstGeom>
          <a:noFill/>
          <a:ln/>
        </p:spPr>
        <p:txBody>
          <a:bodyPr wrap="square" lIns="0" tIns="0" rIns="0" bIns="0" rtlCol="0" anchor="t"/>
          <a:lstStyle/>
          <a:p>
            <a:pPr indent="0" marL="0">
              <a:buNone/>
            </a:pPr>
            <a:r>
              <a:rPr lang="en-US" sz="1400" b="1" dirty="0">
                <a:solidFill>
                  <a:schemeClr val="accent1"/>
                </a:solidFill>
              </a:rPr>
              <a:t>Discovery workshop  |  November 2026</a:t>
            </a:r>
            <a:endParaRPr lang="en-US" sz="1400" dirty="0"/>
          </a:p>
        </p:txBody>
      </p:sp>
      <p:sp>
        <p:nvSpPr>
          <p:cNvPr id="9" name="Text 7"/>
          <p:cNvSpPr txBox="1"/>
          <p:nvPr/>
        </p:nvSpPr>
        <p:spPr>
          <a:xfrm>
            <a:off x="548640" y="6172200"/>
            <a:ext cx="6400800" cy="274320"/>
          </a:xfrm>
          <a:prstGeom prst="rect">
            <a:avLst/>
          </a:prstGeom>
          <a:noFill/>
          <a:ln/>
        </p:spPr>
        <p:txBody>
          <a:bodyPr wrap="square" lIns="0" tIns="0" rIns="0" bIns="0" rtlCol="0" anchor="t"/>
          <a:lstStyle/>
          <a:p>
            <a:pPr indent="0" marL="0">
              <a:buNone/>
            </a:pPr>
            <a:r>
              <a:rPr lang="en-US" sz="1100" dirty="0">
                <a:solidFill>
                  <a:schemeClr val="accent4"/>
                </a:solidFill>
              </a:rPr>
              <a:t>Prepared for Client  ·  Response to RFP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IN THIS PACK</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Overview</a:t>
            </a:r>
            <a:endParaRPr lang="en-US" sz="2800" dirty="0"/>
          </a:p>
        </p:txBody>
      </p:sp>
      <p:sp>
        <p:nvSpPr>
          <p:cNvPr id="4" name="Shape 2"/>
          <p:cNvSpPr/>
          <p:nvPr/>
        </p:nvSpPr>
        <p:spPr>
          <a:xfrm>
            <a:off x="548640" y="1828800"/>
            <a:ext cx="2057400" cy="3566160"/>
          </a:xfrm>
          <a:prstGeom prst="roundRect">
            <a:avLst>
              <a:gd name="adj" fmla="val 3556"/>
            </a:avLst>
          </a:prstGeom>
          <a:solidFill>
            <a:schemeClr val="tx1"/>
          </a:solidFill>
          <a:ln w="12700">
            <a:solidFill>
              <a:schemeClr val="tx1"/>
            </a:solidFill>
            <a:prstDash val="solid"/>
          </a:ln>
        </p:spPr>
      </p:sp>
      <p:sp>
        <p:nvSpPr>
          <p:cNvPr id="5" name="Shape 3"/>
          <p:cNvSpPr/>
          <p:nvPr/>
        </p:nvSpPr>
        <p:spPr>
          <a:xfrm>
            <a:off x="822960" y="2148840"/>
            <a:ext cx="594360" cy="594360"/>
          </a:xfrm>
          <a:prstGeom prst="diamond">
            <a:avLst/>
          </a:prstGeom>
          <a:solidFill>
            <a:schemeClr val="accent1"/>
          </a:solidFill>
          <a:ln w="12700">
            <a:solidFill>
              <a:schemeClr val="accent1"/>
            </a:solidFill>
            <a:prstDash val="solid"/>
          </a:ln>
        </p:spPr>
      </p:sp>
      <p:sp>
        <p:nvSpPr>
          <p:cNvPr id="6" name="Text 4"/>
          <p:cNvSpPr txBox="1"/>
          <p:nvPr/>
        </p:nvSpPr>
        <p:spPr>
          <a:xfrm>
            <a:off x="822960" y="2148840"/>
            <a:ext cx="594360" cy="59436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5"/>
          <p:cNvSpPr txBox="1"/>
          <p:nvPr/>
        </p:nvSpPr>
        <p:spPr>
          <a:xfrm>
            <a:off x="777240" y="2926080"/>
            <a:ext cx="1691640" cy="914400"/>
          </a:xfrm>
          <a:prstGeom prst="rect">
            <a:avLst/>
          </a:prstGeom>
          <a:noFill/>
          <a:ln/>
        </p:spPr>
        <p:txBody>
          <a:bodyPr wrap="square" lIns="0" tIns="0" rIns="0" bIns="0" rtlCol="0" anchor="t"/>
          <a:lstStyle/>
          <a:p>
            <a:pPr indent="0" marL="0">
              <a:buNone/>
            </a:pPr>
            <a:r>
              <a:rPr lang="en-US" sz="1600" b="1" dirty="0">
                <a:solidFill>
                  <a:schemeClr val="bg1"/>
                </a:solidFill>
              </a:rPr>
              <a:t>DemandAI</a:t>
            </a:r>
            <a:endParaRPr lang="en-US" sz="1600" dirty="0"/>
          </a:p>
        </p:txBody>
      </p:sp>
      <p:sp>
        <p:nvSpPr>
          <p:cNvPr id="8" name="Text 6"/>
          <p:cNvSpPr txBox="1"/>
          <p:nvPr/>
        </p:nvSpPr>
        <p:spPr>
          <a:xfrm>
            <a:off x="777240" y="3977640"/>
            <a:ext cx="1645920" cy="1280160"/>
          </a:xfrm>
          <a:prstGeom prst="rect">
            <a:avLst/>
          </a:prstGeom>
          <a:noFill/>
          <a:ln/>
        </p:spPr>
        <p:txBody>
          <a:bodyPr wrap="square" lIns="0" tIns="0" rIns="0" bIns="0" rtlCol="0" anchor="t"/>
          <a:lstStyle/>
          <a:p>
            <a:pPr indent="0" marL="0">
              <a:buNone/>
            </a:pPr>
            <a:r>
              <a:rPr lang="en-US" sz="1300" dirty="0">
                <a:solidFill>
                  <a:schemeClr val="accent6"/>
                </a:solidFill>
              </a:rPr>
              <a:t>Prospect &amp; Account Scoring and Micro-segments &amp; NBA</a:t>
            </a:r>
            <a:endParaRPr lang="en-US" sz="1300" dirty="0"/>
          </a:p>
        </p:txBody>
      </p:sp>
      <p:sp>
        <p:nvSpPr>
          <p:cNvPr id="9" name="Shape 7"/>
          <p:cNvSpPr/>
          <p:nvPr/>
        </p:nvSpPr>
        <p:spPr>
          <a:xfrm>
            <a:off x="2788920" y="1828800"/>
            <a:ext cx="2057400" cy="3566160"/>
          </a:xfrm>
          <a:prstGeom prst="roundRect">
            <a:avLst>
              <a:gd name="adj" fmla="val 3556"/>
            </a:avLst>
          </a:prstGeom>
          <a:solidFill>
            <a:schemeClr val="bg2"/>
          </a:solidFill>
          <a:ln w="12700">
            <a:solidFill>
              <a:schemeClr val="bg2"/>
            </a:solidFill>
            <a:prstDash val="solid"/>
          </a:ln>
        </p:spPr>
      </p:sp>
      <p:sp>
        <p:nvSpPr>
          <p:cNvPr id="10" name="Shape 8"/>
          <p:cNvSpPr/>
          <p:nvPr/>
        </p:nvSpPr>
        <p:spPr>
          <a:xfrm>
            <a:off x="3063240" y="2148840"/>
            <a:ext cx="594360" cy="594360"/>
          </a:xfrm>
          <a:prstGeom prst="diamond">
            <a:avLst/>
          </a:prstGeom>
          <a:solidFill>
            <a:schemeClr val="accent1"/>
          </a:solidFill>
          <a:ln w="12700">
            <a:solidFill>
              <a:schemeClr val="accent1"/>
            </a:solidFill>
            <a:prstDash val="solid"/>
          </a:ln>
        </p:spPr>
      </p:sp>
      <p:sp>
        <p:nvSpPr>
          <p:cNvPr id="11" name="Text 9"/>
          <p:cNvSpPr txBox="1"/>
          <p:nvPr/>
        </p:nvSpPr>
        <p:spPr>
          <a:xfrm>
            <a:off x="3063240" y="2148840"/>
            <a:ext cx="594360" cy="59436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3017520" y="2926080"/>
            <a:ext cx="1691640" cy="914400"/>
          </a:xfrm>
          <a:prstGeom prst="rect">
            <a:avLst/>
          </a:prstGeom>
          <a:noFill/>
          <a:ln/>
        </p:spPr>
        <p:txBody>
          <a:bodyPr wrap="square" lIns="0" tIns="0" rIns="0" bIns="0" rtlCol="0" anchor="t"/>
          <a:lstStyle/>
          <a:p>
            <a:pPr indent="0" marL="0">
              <a:buNone/>
            </a:pPr>
            <a:r>
              <a:rPr lang="en-US" sz="1600" b="1" dirty="0">
                <a:solidFill>
                  <a:schemeClr val="tx1"/>
                </a:solidFill>
              </a:rPr>
              <a:t>Understanding the demand process</a:t>
            </a:r>
            <a:endParaRPr lang="en-US" sz="1600" dirty="0"/>
          </a:p>
        </p:txBody>
      </p:sp>
      <p:sp>
        <p:nvSpPr>
          <p:cNvPr id="13" name="Text 11"/>
          <p:cNvSpPr txBox="1"/>
          <p:nvPr/>
        </p:nvSpPr>
        <p:spPr>
          <a:xfrm>
            <a:off x="3017520" y="3977640"/>
            <a:ext cx="1645920" cy="1280160"/>
          </a:xfrm>
          <a:prstGeom prst="rect">
            <a:avLst/>
          </a:prstGeom>
          <a:noFill/>
          <a:ln/>
        </p:spPr>
        <p:txBody>
          <a:bodyPr wrap="square" lIns="0" tIns="0" rIns="0" bIns="0" rtlCol="0" anchor="t"/>
          <a:lstStyle/>
          <a:p>
            <a:pPr indent="0" marL="0">
              <a:buNone/>
            </a:pPr>
            <a:r>
              <a:rPr lang="en-US" sz="1300" dirty="0">
                <a:solidFill>
                  <a:schemeClr val="tx2"/>
                </a:solidFill>
              </a:rPr>
              <a:t>Workshop: your team walks us through it</a:t>
            </a:r>
            <a:endParaRPr lang="en-US" sz="1300" dirty="0"/>
          </a:p>
        </p:txBody>
      </p:sp>
      <p:sp>
        <p:nvSpPr>
          <p:cNvPr id="14" name="Shape 12"/>
          <p:cNvSpPr/>
          <p:nvPr/>
        </p:nvSpPr>
        <p:spPr>
          <a:xfrm>
            <a:off x="5029200" y="1828800"/>
            <a:ext cx="2057400" cy="3566160"/>
          </a:xfrm>
          <a:prstGeom prst="roundRect">
            <a:avLst>
              <a:gd name="adj" fmla="val 3556"/>
            </a:avLst>
          </a:prstGeom>
          <a:solidFill>
            <a:schemeClr val="bg2"/>
          </a:solidFill>
          <a:ln w="12700">
            <a:solidFill>
              <a:schemeClr val="bg2"/>
            </a:solidFill>
            <a:prstDash val="solid"/>
          </a:ln>
        </p:spPr>
      </p:sp>
      <p:sp>
        <p:nvSpPr>
          <p:cNvPr id="15" name="Shape 13"/>
          <p:cNvSpPr/>
          <p:nvPr/>
        </p:nvSpPr>
        <p:spPr>
          <a:xfrm>
            <a:off x="5303520" y="2148840"/>
            <a:ext cx="594360" cy="594360"/>
          </a:xfrm>
          <a:prstGeom prst="diamond">
            <a:avLst/>
          </a:prstGeom>
          <a:solidFill>
            <a:schemeClr val="accent1"/>
          </a:solidFill>
          <a:ln w="12700">
            <a:solidFill>
              <a:schemeClr val="accent1"/>
            </a:solidFill>
            <a:prstDash val="solid"/>
          </a:ln>
        </p:spPr>
      </p:sp>
      <p:sp>
        <p:nvSpPr>
          <p:cNvPr id="16" name="Text 14"/>
          <p:cNvSpPr txBox="1"/>
          <p:nvPr/>
        </p:nvSpPr>
        <p:spPr>
          <a:xfrm>
            <a:off x="5303520" y="2148840"/>
            <a:ext cx="594360" cy="59436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Text 15"/>
          <p:cNvSpPr txBox="1"/>
          <p:nvPr/>
        </p:nvSpPr>
        <p:spPr>
          <a:xfrm>
            <a:off x="5257800" y="2926080"/>
            <a:ext cx="1691640" cy="914400"/>
          </a:xfrm>
          <a:prstGeom prst="rect">
            <a:avLst/>
          </a:prstGeom>
          <a:noFill/>
          <a:ln/>
        </p:spPr>
        <p:txBody>
          <a:bodyPr wrap="square" lIns="0" tIns="0" rIns="0" bIns="0" rtlCol="0" anchor="t"/>
          <a:lstStyle/>
          <a:p>
            <a:pPr indent="0" marL="0">
              <a:buNone/>
            </a:pPr>
            <a:r>
              <a:rPr lang="en-US" sz="1600" b="1" dirty="0">
                <a:solidFill>
                  <a:schemeClr val="tx1"/>
                </a:solidFill>
              </a:rPr>
              <a:t>Key inputs</a:t>
            </a:r>
            <a:endParaRPr lang="en-US" sz="1600" dirty="0"/>
          </a:p>
        </p:txBody>
      </p:sp>
      <p:sp>
        <p:nvSpPr>
          <p:cNvPr id="18" name="Text 16"/>
          <p:cNvSpPr txBox="1"/>
          <p:nvPr/>
        </p:nvSpPr>
        <p:spPr>
          <a:xfrm>
            <a:off x="5257800" y="3977640"/>
            <a:ext cx="1645920" cy="1280160"/>
          </a:xfrm>
          <a:prstGeom prst="rect">
            <a:avLst/>
          </a:prstGeom>
          <a:noFill/>
          <a:ln/>
        </p:spPr>
        <p:txBody>
          <a:bodyPr wrap="square" lIns="0" tIns="0" rIns="0" bIns="0" rtlCol="0" anchor="t"/>
          <a:lstStyle/>
          <a:p>
            <a:pPr indent="0" marL="0">
              <a:buNone/>
            </a:pPr>
            <a:r>
              <a:rPr lang="en-US" sz="1300" dirty="0">
                <a:solidFill>
                  <a:schemeClr val="tx2"/>
                </a:solidFill>
              </a:rPr>
              <a:t>What we need for the pilot: data, content and access</a:t>
            </a:r>
            <a:endParaRPr lang="en-US" sz="1300" dirty="0"/>
          </a:p>
        </p:txBody>
      </p:sp>
      <p:sp>
        <p:nvSpPr>
          <p:cNvPr id="19" name="Shape 17"/>
          <p:cNvSpPr/>
          <p:nvPr/>
        </p:nvSpPr>
        <p:spPr>
          <a:xfrm>
            <a:off x="7269480" y="1828800"/>
            <a:ext cx="2057400" cy="3566160"/>
          </a:xfrm>
          <a:prstGeom prst="roundRect">
            <a:avLst>
              <a:gd name="adj" fmla="val 3556"/>
            </a:avLst>
          </a:prstGeom>
          <a:solidFill>
            <a:schemeClr val="bg2"/>
          </a:solidFill>
          <a:ln w="12700">
            <a:solidFill>
              <a:schemeClr val="bg2"/>
            </a:solidFill>
            <a:prstDash val="solid"/>
          </a:ln>
        </p:spPr>
      </p:sp>
      <p:sp>
        <p:nvSpPr>
          <p:cNvPr id="20" name="Shape 18"/>
          <p:cNvSpPr/>
          <p:nvPr/>
        </p:nvSpPr>
        <p:spPr>
          <a:xfrm>
            <a:off x="7543800" y="2148840"/>
            <a:ext cx="594360" cy="594360"/>
          </a:xfrm>
          <a:prstGeom prst="diamond">
            <a:avLst/>
          </a:prstGeom>
          <a:solidFill>
            <a:schemeClr val="accent1"/>
          </a:solidFill>
          <a:ln w="12700">
            <a:solidFill>
              <a:schemeClr val="accent1"/>
            </a:solidFill>
            <a:prstDash val="solid"/>
          </a:ln>
        </p:spPr>
      </p:sp>
      <p:sp>
        <p:nvSpPr>
          <p:cNvPr id="21" name="Text 19"/>
          <p:cNvSpPr txBox="1"/>
          <p:nvPr/>
        </p:nvSpPr>
        <p:spPr>
          <a:xfrm>
            <a:off x="7543800" y="2148840"/>
            <a:ext cx="594360" cy="59436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Text 20"/>
          <p:cNvSpPr txBox="1"/>
          <p:nvPr/>
        </p:nvSpPr>
        <p:spPr>
          <a:xfrm>
            <a:off x="7498080" y="2926080"/>
            <a:ext cx="1691640" cy="914400"/>
          </a:xfrm>
          <a:prstGeom prst="rect">
            <a:avLst/>
          </a:prstGeom>
          <a:noFill/>
          <a:ln/>
        </p:spPr>
        <p:txBody>
          <a:bodyPr wrap="square" lIns="0" tIns="0" rIns="0" bIns="0" rtlCol="0" anchor="t"/>
          <a:lstStyle/>
          <a:p>
            <a:pPr indent="0" marL="0">
              <a:buNone/>
            </a:pPr>
            <a:r>
              <a:rPr lang="en-US" sz="1600" b="1" dirty="0">
                <a:solidFill>
                  <a:schemeClr val="tx1"/>
                </a:solidFill>
              </a:rPr>
              <a:t>Success criteria</a:t>
            </a:r>
            <a:endParaRPr lang="en-US" sz="1600" dirty="0"/>
          </a:p>
        </p:txBody>
      </p:sp>
      <p:sp>
        <p:nvSpPr>
          <p:cNvPr id="23" name="Text 21"/>
          <p:cNvSpPr txBox="1"/>
          <p:nvPr/>
        </p:nvSpPr>
        <p:spPr>
          <a:xfrm>
            <a:off x="7498080" y="3977640"/>
            <a:ext cx="1645920" cy="1280160"/>
          </a:xfrm>
          <a:prstGeom prst="rect">
            <a:avLst/>
          </a:prstGeom>
          <a:noFill/>
          <a:ln/>
        </p:spPr>
        <p:txBody>
          <a:bodyPr wrap="square" lIns="0" tIns="0" rIns="0" bIns="0" rtlCol="0" anchor="t"/>
          <a:lstStyle/>
          <a:p>
            <a:pPr indent="0" marL="0">
              <a:buNone/>
            </a:pPr>
            <a:r>
              <a:rPr lang="en-US" sz="1300" dirty="0">
                <a:solidFill>
                  <a:schemeClr val="tx2"/>
                </a:solidFill>
              </a:rPr>
              <a:t>How we will measure the pilot</a:t>
            </a:r>
            <a:endParaRPr lang="en-US" sz="1300" dirty="0"/>
          </a:p>
        </p:txBody>
      </p:sp>
      <p:sp>
        <p:nvSpPr>
          <p:cNvPr id="24" name="Shape 22"/>
          <p:cNvSpPr/>
          <p:nvPr/>
        </p:nvSpPr>
        <p:spPr>
          <a:xfrm>
            <a:off x="9509760" y="1828800"/>
            <a:ext cx="2057400" cy="3566160"/>
          </a:xfrm>
          <a:prstGeom prst="roundRect">
            <a:avLst>
              <a:gd name="adj" fmla="val 3556"/>
            </a:avLst>
          </a:prstGeom>
          <a:solidFill>
            <a:schemeClr val="bg2"/>
          </a:solidFill>
          <a:ln w="12700">
            <a:solidFill>
              <a:schemeClr val="bg2"/>
            </a:solidFill>
            <a:prstDash val="solid"/>
          </a:ln>
        </p:spPr>
      </p:sp>
      <p:sp>
        <p:nvSpPr>
          <p:cNvPr id="25" name="Shape 23"/>
          <p:cNvSpPr/>
          <p:nvPr/>
        </p:nvSpPr>
        <p:spPr>
          <a:xfrm>
            <a:off x="9784080" y="2148840"/>
            <a:ext cx="594360" cy="594360"/>
          </a:xfrm>
          <a:prstGeom prst="diamond">
            <a:avLst/>
          </a:prstGeom>
          <a:solidFill>
            <a:schemeClr val="accent1"/>
          </a:solidFill>
          <a:ln w="12700">
            <a:solidFill>
              <a:schemeClr val="accent1"/>
            </a:solidFill>
            <a:prstDash val="solid"/>
          </a:ln>
        </p:spPr>
      </p:sp>
      <p:sp>
        <p:nvSpPr>
          <p:cNvPr id="26" name="Text 24"/>
          <p:cNvSpPr txBox="1"/>
          <p:nvPr/>
        </p:nvSpPr>
        <p:spPr>
          <a:xfrm>
            <a:off x="9784080" y="2148840"/>
            <a:ext cx="594360" cy="59436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Text 25"/>
          <p:cNvSpPr txBox="1"/>
          <p:nvPr/>
        </p:nvSpPr>
        <p:spPr>
          <a:xfrm>
            <a:off x="9738360" y="2926080"/>
            <a:ext cx="1691640" cy="914400"/>
          </a:xfrm>
          <a:prstGeom prst="rect">
            <a:avLst/>
          </a:prstGeom>
          <a:noFill/>
          <a:ln/>
        </p:spPr>
        <p:txBody>
          <a:bodyPr wrap="square" lIns="0" tIns="0" rIns="0" bIns="0" rtlCol="0" anchor="t"/>
          <a:lstStyle/>
          <a:p>
            <a:pPr indent="0" marL="0">
              <a:buNone/>
            </a:pPr>
            <a:r>
              <a:rPr lang="en-US" sz="1600" b="1" dirty="0">
                <a:solidFill>
                  <a:schemeClr val="tx1"/>
                </a:solidFill>
              </a:rPr>
              <a:t>Draft pilot timeline</a:t>
            </a:r>
            <a:endParaRPr lang="en-US" sz="1600" dirty="0"/>
          </a:p>
        </p:txBody>
      </p:sp>
      <p:sp>
        <p:nvSpPr>
          <p:cNvPr id="28" name="Text 26"/>
          <p:cNvSpPr txBox="1"/>
          <p:nvPr/>
        </p:nvSpPr>
        <p:spPr>
          <a:xfrm>
            <a:off x="9738360" y="3977640"/>
            <a:ext cx="1645920" cy="1280160"/>
          </a:xfrm>
          <a:prstGeom prst="rect">
            <a:avLst/>
          </a:prstGeom>
          <a:noFill/>
          <a:ln/>
        </p:spPr>
        <p:txBody>
          <a:bodyPr wrap="square" lIns="0" tIns="0" rIns="0" bIns="0" rtlCol="0" anchor="t"/>
          <a:lstStyle/>
          <a:p>
            <a:pPr indent="0" marL="0">
              <a:buNone/>
            </a:pPr>
            <a:r>
              <a:rPr lang="en-US" sz="1300" dirty="0">
                <a:solidFill>
                  <a:schemeClr val="tx2"/>
                </a:solidFill>
              </a:rPr>
              <a:t>Pilot plan by phase</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PILOT SCOPE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DemandAI: from a lead list to a ready-to-send first touch</a:t>
            </a:r>
            <a:endParaRPr lang="en-US" sz="2800" dirty="0"/>
          </a:p>
        </p:txBody>
      </p:sp>
      <p:sp>
        <p:nvSpPr>
          <p:cNvPr id="4" name="Shape 2"/>
          <p:cNvSpPr/>
          <p:nvPr/>
        </p:nvSpPr>
        <p:spPr>
          <a:xfrm>
            <a:off x="548640" y="1554480"/>
            <a:ext cx="5212080" cy="4206240"/>
          </a:xfrm>
          <a:prstGeom prst="roundRect">
            <a:avLst>
              <a:gd name="adj" fmla="val 1739"/>
            </a:avLst>
          </a:prstGeom>
          <a:solidFill>
            <a:schemeClr val="accent5"/>
          </a:solidFill>
          <a:ln w="12700">
            <a:solidFill>
              <a:schemeClr val="accent5"/>
            </a:solidFill>
            <a:prstDash val="solid"/>
          </a:ln>
        </p:spPr>
      </p:sp>
      <p:pic>
        <p:nvPicPr>
          <p:cNvPr id="5" name="Image 0" descr="preencoded.png">    </p:cNvPr>
          <p:cNvPicPr>
            <a:picLocks noChangeAspect="1"/>
          </p:cNvPicPr>
          <p:nvPr/>
        </p:nvPicPr>
        <p:blipFill>
          <a:blip r:embed="rId1"/>
          <a:stretch>
            <a:fillRect/>
          </a:stretch>
        </p:blipFill>
        <p:spPr>
          <a:xfrm>
            <a:off x="914400" y="1828800"/>
            <a:ext cx="457200" cy="457200"/>
          </a:xfrm>
          <a:prstGeom prst="rect">
            <a:avLst/>
          </a:prstGeom>
        </p:spPr>
      </p:pic>
      <p:sp>
        <p:nvSpPr>
          <p:cNvPr id="6" name="Text 3"/>
          <p:cNvSpPr txBox="1"/>
          <p:nvPr/>
        </p:nvSpPr>
        <p:spPr>
          <a:xfrm>
            <a:off x="1554480" y="1828800"/>
            <a:ext cx="4023360" cy="457200"/>
          </a:xfrm>
          <a:prstGeom prst="rect">
            <a:avLst/>
          </a:prstGeom>
          <a:noFill/>
          <a:ln/>
        </p:spPr>
        <p:txBody>
          <a:bodyPr wrap="square" lIns="0" tIns="0" rIns="0" bIns="0" rtlCol="0" anchor="ctr"/>
          <a:lstStyle/>
          <a:p>
            <a:pPr indent="0" marL="0">
              <a:buNone/>
            </a:pPr>
            <a:r>
              <a:rPr lang="en-US" sz="2200" b="1" dirty="0">
                <a:solidFill>
                  <a:schemeClr val="tx1"/>
                </a:solidFill>
              </a:rPr>
              <a:t>Prospect &amp; Account Scoring</a:t>
            </a:r>
            <a:endParaRPr lang="en-US" sz="2200" dirty="0"/>
          </a:p>
        </p:txBody>
      </p:sp>
      <p:sp>
        <p:nvSpPr>
          <p:cNvPr id="7" name="Text 4"/>
          <p:cNvSpPr txBox="1"/>
          <p:nvPr/>
        </p:nvSpPr>
        <p:spPr>
          <a:xfrm>
            <a:off x="914400" y="2468880"/>
            <a:ext cx="4572000" cy="365760"/>
          </a:xfrm>
          <a:prstGeom prst="rect">
            <a:avLst/>
          </a:prstGeom>
          <a:noFill/>
          <a:ln/>
        </p:spPr>
        <p:txBody>
          <a:bodyPr wrap="square" lIns="0" tIns="0" rIns="0" bIns="0" rtlCol="0" anchor="t"/>
          <a:lstStyle/>
          <a:p>
            <a:pPr indent="0" marL="0">
              <a:buNone/>
            </a:pPr>
            <a:r>
              <a:rPr lang="en-US" sz="1400" i="1" dirty="0">
                <a:solidFill>
                  <a:schemeClr val="tx2"/>
                </a:solidFill>
              </a:rPr>
              <a:t>Finds the accounts and people with a live reason to buy</a:t>
            </a:r>
            <a:endParaRPr lang="en-US" sz="1400" dirty="0"/>
          </a:p>
        </p:txBody>
      </p:sp>
      <p:sp>
        <p:nvSpPr>
          <p:cNvPr id="8" name="Text 5"/>
          <p:cNvSpPr txBox="1"/>
          <p:nvPr/>
        </p:nvSpPr>
        <p:spPr>
          <a:xfrm>
            <a:off x="914400" y="3017520"/>
            <a:ext cx="4572000" cy="23774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Checks and cleans your lead lists</a:t>
            </a:r>
            <a:endParaRPr lang="en-US" sz="1500" dirty="0"/>
          </a:p>
          <a:p>
            <a:pPr marL="177800" indent="-177800">
              <a:spcAft>
                <a:spcPts val="500"/>
              </a:spcAft>
              <a:buSzPct val="100000"/>
              <a:buChar char="•"/>
            </a:pPr>
            <a:r>
              <a:rPr lang="en-US" sz="1500" dirty="0">
                <a:solidFill>
                  <a:schemeClr val="tx1"/>
                </a:solidFill>
              </a:rPr>
              <a:t>Scores every account against your ICP</a:t>
            </a:r>
            <a:endParaRPr lang="en-US" sz="1500" dirty="0"/>
          </a:p>
          <a:p>
            <a:pPr marL="177800" indent="-177800">
              <a:spcAft>
                <a:spcPts val="500"/>
              </a:spcAft>
              <a:buSzPct val="100000"/>
              <a:buChar char="•"/>
            </a:pPr>
            <a:r>
              <a:rPr lang="en-US" sz="1500" dirty="0">
                <a:solidFill>
                  <a:schemeClr val="tx1"/>
                </a:solidFill>
              </a:rPr>
              <a:t>Reads buying signals and how fresh they are</a:t>
            </a:r>
            <a:endParaRPr lang="en-US" sz="1500" dirty="0"/>
          </a:p>
          <a:p>
            <a:pPr marL="177800" indent="-177800">
              <a:spcAft>
                <a:spcPts val="500"/>
              </a:spcAft>
              <a:buSzPct val="100000"/>
              <a:buChar char="•"/>
            </a:pPr>
            <a:r>
              <a:rPr lang="en-US" sz="1500" dirty="0">
                <a:solidFill>
                  <a:schemeClr val="tx1"/>
                </a:solidFill>
              </a:rPr>
              <a:t>Ranks people into tiers A, B and C, with why now</a:t>
            </a:r>
            <a:endParaRPr lang="en-US" sz="1500" dirty="0"/>
          </a:p>
        </p:txBody>
      </p:sp>
      <p:sp>
        <p:nvSpPr>
          <p:cNvPr id="9" name="Shape 6"/>
          <p:cNvSpPr/>
          <p:nvPr/>
        </p:nvSpPr>
        <p:spPr>
          <a:xfrm>
            <a:off x="6153912" y="1554480"/>
            <a:ext cx="5486400" cy="4206240"/>
          </a:xfrm>
          <a:prstGeom prst="roundRect">
            <a:avLst>
              <a:gd name="adj" fmla="val 1739"/>
            </a:avLst>
          </a:prstGeom>
          <a:solidFill>
            <a:schemeClr val="tx1"/>
          </a:solidFill>
          <a:ln w="12700">
            <a:solidFill>
              <a:schemeClr val="tx1"/>
            </a:solidFill>
            <a:prstDash val="solid"/>
          </a:ln>
        </p:spPr>
      </p:sp>
      <p:pic>
        <p:nvPicPr>
          <p:cNvPr id="10" name="Image 1" descr="preencoded.png">    </p:cNvPr>
          <p:cNvPicPr>
            <a:picLocks noChangeAspect="1"/>
          </p:cNvPicPr>
          <p:nvPr/>
        </p:nvPicPr>
        <p:blipFill>
          <a:blip r:embed="rId2"/>
          <a:stretch>
            <a:fillRect/>
          </a:stretch>
        </p:blipFill>
        <p:spPr>
          <a:xfrm>
            <a:off x="6519672" y="1828800"/>
            <a:ext cx="457200" cy="457200"/>
          </a:xfrm>
          <a:prstGeom prst="rect">
            <a:avLst/>
          </a:prstGeom>
        </p:spPr>
      </p:pic>
      <p:sp>
        <p:nvSpPr>
          <p:cNvPr id="11" name="Text 7"/>
          <p:cNvSpPr txBox="1"/>
          <p:nvPr/>
        </p:nvSpPr>
        <p:spPr>
          <a:xfrm>
            <a:off x="7159752" y="1828800"/>
            <a:ext cx="4297680" cy="457200"/>
          </a:xfrm>
          <a:prstGeom prst="rect">
            <a:avLst/>
          </a:prstGeom>
          <a:noFill/>
          <a:ln/>
        </p:spPr>
        <p:txBody>
          <a:bodyPr wrap="square" lIns="0" tIns="0" rIns="0" bIns="0" rtlCol="0" anchor="ctr"/>
          <a:lstStyle/>
          <a:p>
            <a:pPr indent="0" marL="0">
              <a:buNone/>
            </a:pPr>
            <a:r>
              <a:rPr lang="en-US" sz="2200" b="1" dirty="0">
                <a:solidFill>
                  <a:schemeClr val="bg1"/>
                </a:solidFill>
              </a:rPr>
              <a:t>Micro-segments &amp; Next Best Action</a:t>
            </a:r>
            <a:endParaRPr lang="en-US" sz="2200" dirty="0"/>
          </a:p>
        </p:txBody>
      </p:sp>
      <p:sp>
        <p:nvSpPr>
          <p:cNvPr id="12" name="Text 8"/>
          <p:cNvSpPr txBox="1"/>
          <p:nvPr/>
        </p:nvSpPr>
        <p:spPr>
          <a:xfrm>
            <a:off x="6519672" y="2468880"/>
            <a:ext cx="4846320" cy="365760"/>
          </a:xfrm>
          <a:prstGeom prst="rect">
            <a:avLst/>
          </a:prstGeom>
          <a:noFill/>
          <a:ln/>
        </p:spPr>
        <p:txBody>
          <a:bodyPr wrap="square" lIns="0" tIns="0" rIns="0" bIns="0" rtlCol="0" anchor="t"/>
          <a:lstStyle/>
          <a:p>
            <a:pPr indent="0" marL="0">
              <a:buNone/>
            </a:pPr>
            <a:r>
              <a:rPr lang="en-US" sz="1400" i="1" dirty="0">
                <a:solidFill>
                  <a:schemeClr val="accent6"/>
                </a:solidFill>
              </a:rPr>
              <a:t>Turns the best prospects into actions your reps can use today</a:t>
            </a:r>
            <a:endParaRPr lang="en-US" sz="1400" dirty="0"/>
          </a:p>
        </p:txBody>
      </p:sp>
      <p:sp>
        <p:nvSpPr>
          <p:cNvPr id="13" name="Text 9"/>
          <p:cNvSpPr txBox="1"/>
          <p:nvPr/>
        </p:nvSpPr>
        <p:spPr>
          <a:xfrm>
            <a:off x="6519672" y="3017520"/>
            <a:ext cx="4937760" cy="21945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bg1"/>
                </a:solidFill>
              </a:rPr>
              <a:t>Groups accounts that share a reason into micro-segments</a:t>
            </a:r>
            <a:endParaRPr lang="en-US" sz="1500" dirty="0"/>
          </a:p>
          <a:p>
            <a:pPr marL="177800" indent="-177800">
              <a:spcAft>
                <a:spcPts val="500"/>
              </a:spcAft>
              <a:buSzPct val="100000"/>
              <a:buChar char="•"/>
            </a:pPr>
            <a:r>
              <a:rPr lang="en-US" sz="1500" dirty="0">
                <a:solidFill>
                  <a:schemeClr val="bg1"/>
                </a:solidFill>
              </a:rPr>
              <a:t>Recommends the next best action and channel</a:t>
            </a:r>
            <a:endParaRPr lang="en-US" sz="1500" dirty="0"/>
          </a:p>
          <a:p>
            <a:pPr marL="177800" indent="-177800">
              <a:spcAft>
                <a:spcPts val="500"/>
              </a:spcAft>
              <a:buSzPct val="100000"/>
              <a:buChar char="•"/>
            </a:pPr>
            <a:r>
              <a:rPr lang="en-US" sz="1500" dirty="0">
                <a:solidFill>
                  <a:schemeClr val="bg1"/>
                </a:solidFill>
              </a:rPr>
              <a:t>Drafts the first message from approved content only</a:t>
            </a:r>
            <a:endParaRPr lang="en-US" sz="1500" dirty="0"/>
          </a:p>
          <a:p>
            <a:pPr marL="177800" indent="-177800">
              <a:spcAft>
                <a:spcPts val="500"/>
              </a:spcAft>
              <a:buSzPct val="100000"/>
              <a:buChar char="•"/>
            </a:pPr>
            <a:r>
              <a:rPr lang="en-US" sz="1500" dirty="0">
                <a:solidFill>
                  <a:schemeClr val="bg1"/>
                </a:solidFill>
              </a:rPr>
              <a:t>Checks brand, consent and sensitive topics</a:t>
            </a:r>
            <a:endParaRPr lang="en-US" sz="1500" dirty="0"/>
          </a:p>
          <a:p>
            <a:pPr marL="177800" indent="-177800">
              <a:spcAft>
                <a:spcPts val="500"/>
              </a:spcAft>
              <a:buSzPct val="100000"/>
              <a:buChar char="•"/>
            </a:pPr>
            <a:r>
              <a:rPr lang="en-US" sz="1500" dirty="0">
                <a:solidFill>
                  <a:schemeClr val="bg1"/>
                </a:solidFill>
              </a:rPr>
              <a:t>Routes exceptions to For Review; releases the rest to reps</a:t>
            </a:r>
            <a:endParaRPr lang="en-US" sz="1500" dirty="0"/>
          </a:p>
        </p:txBody>
      </p:sp>
      <p:sp>
        <p:nvSpPr>
          <p:cNvPr id="14" name="Shape 10"/>
          <p:cNvSpPr/>
          <p:nvPr/>
        </p:nvSpPr>
        <p:spPr>
          <a:xfrm>
            <a:off x="6519672" y="5166360"/>
            <a:ext cx="4754880" cy="411480"/>
          </a:xfrm>
          <a:prstGeom prst="roundRect">
            <a:avLst>
              <a:gd name="adj" fmla="val 17778"/>
            </a:avLst>
          </a:prstGeom>
          <a:solidFill>
            <a:schemeClr val="accent1"/>
          </a:solidFill>
          <a:ln w="12700">
            <a:solidFill>
              <a:schemeClr val="accent1"/>
            </a:solidFill>
            <a:prstDash val="solid"/>
          </a:ln>
        </p:spPr>
      </p:sp>
      <p:sp>
        <p:nvSpPr>
          <p:cNvPr id="15" name="Text 11"/>
          <p:cNvSpPr txBox="1"/>
          <p:nvPr/>
        </p:nvSpPr>
        <p:spPr>
          <a:xfrm>
            <a:off x="6519672" y="5166360"/>
            <a:ext cx="4754880" cy="411480"/>
          </a:xfrm>
          <a:prstGeom prst="rect">
            <a:avLst/>
          </a:prstGeom>
          <a:noFill/>
          <a:ln/>
        </p:spPr>
        <p:txBody>
          <a:bodyPr wrap="square" lIns="0" tIns="0" rIns="0" bIns="0" rtlCol="0" anchor="ctr"/>
          <a:lstStyle/>
          <a:p>
            <a:pPr algn="ctr" indent="0" marL="0">
              <a:buNone/>
            </a:pPr>
            <a:r>
              <a:rPr lang="en-US" sz="1400" b="1" dirty="0">
                <a:solidFill>
                  <a:schemeClr val="tx1"/>
                </a:solidFill>
              </a:rPr>
              <a:t>A person decides anything the system cannot.</a:t>
            </a:r>
            <a:endParaRPr lang="en-US" sz="1400" dirty="0"/>
          </a:p>
        </p:txBody>
      </p:sp>
      <p:pic>
        <p:nvPicPr>
          <p:cNvPr id="16" name="Image 2" descr="preencoded.png">    </p:cNvPr>
          <p:cNvPicPr>
            <a:picLocks noChangeAspect="1"/>
          </p:cNvPicPr>
          <p:nvPr/>
        </p:nvPicPr>
        <p:blipFill>
          <a:blip r:embed="rId3"/>
          <a:stretch>
            <a:fillRect/>
          </a:stretch>
        </p:blipFill>
        <p:spPr>
          <a:xfrm>
            <a:off x="5833872" y="3474720"/>
            <a:ext cx="274320" cy="274320"/>
          </a:xfrm>
          <a:prstGeom prst="rect">
            <a:avLst/>
          </a:prstGeom>
        </p:spPr>
      </p:pic>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680960" y="1371600"/>
            <a:ext cx="3840480" cy="3840480"/>
          </a:xfrm>
          <a:prstGeom prst="diamond">
            <a:avLst/>
          </a:prstGeom>
          <a:solidFill>
            <a:schemeClr val="accent1"/>
          </a:solidFill>
          <a:ln w="12700">
            <a:solidFill>
              <a:schemeClr val="accent1"/>
            </a:solidFill>
            <a:prstDash val="solid"/>
          </a:ln>
        </p:spPr>
      </p:sp>
      <p:sp>
        <p:nvSpPr>
          <p:cNvPr id="3" name="Text 1"/>
          <p:cNvSpPr txBox="1"/>
          <p:nvPr/>
        </p:nvSpPr>
        <p:spPr>
          <a:xfrm>
            <a:off x="7680960" y="1371600"/>
            <a:ext cx="3840480" cy="3840480"/>
          </a:xfrm>
          <a:prstGeom prst="rect">
            <a:avLst/>
          </a:prstGeom>
          <a:noFill/>
          <a:ln/>
        </p:spPr>
        <p:txBody>
          <a:bodyPr wrap="square" lIns="0" tIns="0" rIns="0" bIns="0" rtlCol="0" anchor="ctr"/>
          <a:lstStyle/>
          <a:p>
            <a:pPr algn="ctr" indent="0" marL="0">
              <a:buNone/>
            </a:pPr>
            <a:r>
              <a:rPr lang="en-US" sz="7200" b="1" dirty="0">
                <a:solidFill>
                  <a:schemeClr val="tx1"/>
                </a:solidFill>
              </a:rPr>
              <a:t>01</a:t>
            </a:r>
            <a:endParaRPr lang="en-US" sz="7200" dirty="0"/>
          </a:p>
        </p:txBody>
      </p:sp>
      <p:sp>
        <p:nvSpPr>
          <p:cNvPr id="4" name="Text 2"/>
          <p:cNvSpPr txBox="1"/>
          <p:nvPr/>
        </p:nvSpPr>
        <p:spPr>
          <a:xfrm>
            <a:off x="548640" y="2011680"/>
            <a:ext cx="6400800" cy="365760"/>
          </a:xfrm>
          <a:prstGeom prst="rect">
            <a:avLst/>
          </a:prstGeom>
          <a:noFill/>
          <a:ln/>
        </p:spPr>
        <p:txBody>
          <a:bodyPr wrap="square" lIns="0" tIns="0" rIns="0" bIns="0" rtlCol="0" anchor="t"/>
          <a:lstStyle/>
          <a:p>
            <a:pPr indent="0" marL="0">
              <a:buNone/>
            </a:pPr>
            <a:r>
              <a:rPr lang="en-US" sz="1300" b="1" spc="200" kern="0" dirty="0">
                <a:solidFill>
                  <a:schemeClr val="accent1"/>
                </a:solidFill>
              </a:rPr>
              <a:t>DEMAND AI  ·  UNDERSTANDING</a:t>
            </a:r>
            <a:endParaRPr lang="en-US" sz="1300" dirty="0"/>
          </a:p>
        </p:txBody>
      </p:sp>
      <p:sp>
        <p:nvSpPr>
          <p:cNvPr id="5" name="Text 3"/>
          <p:cNvSpPr txBox="1"/>
          <p:nvPr/>
        </p:nvSpPr>
        <p:spPr>
          <a:xfrm>
            <a:off x="548640" y="2560320"/>
            <a:ext cx="6766560" cy="1463040"/>
          </a:xfrm>
          <a:prstGeom prst="rect">
            <a:avLst/>
          </a:prstGeom>
          <a:noFill/>
          <a:ln/>
        </p:spPr>
        <p:txBody>
          <a:bodyPr wrap="square" lIns="0" tIns="0" rIns="0" bIns="0" rtlCol="0" anchor="t"/>
          <a:lstStyle/>
          <a:p>
            <a:pPr indent="0" marL="0">
              <a:buNone/>
            </a:pPr>
            <a:r>
              <a:rPr lang="en-US" sz="4000" b="1" dirty="0">
                <a:solidFill>
                  <a:schemeClr val="bg1"/>
                </a:solidFill>
              </a:rPr>
              <a:t>Understanding the demand process</a:t>
            </a:r>
            <a:endParaRPr lang="en-US" sz="4000" dirty="0"/>
          </a:p>
        </p:txBody>
      </p:sp>
      <p:sp>
        <p:nvSpPr>
          <p:cNvPr id="6" name="Text 4"/>
          <p:cNvSpPr txBox="1"/>
          <p:nvPr/>
        </p:nvSpPr>
        <p:spPr>
          <a:xfrm>
            <a:off x="548640" y="4114800"/>
            <a:ext cx="6400800" cy="731520"/>
          </a:xfrm>
          <a:prstGeom prst="rect">
            <a:avLst/>
          </a:prstGeom>
          <a:noFill/>
          <a:ln/>
        </p:spPr>
        <p:txBody>
          <a:bodyPr wrap="square" lIns="0" tIns="0" rIns="0" bIns="0" rtlCol="0" anchor="t"/>
          <a:lstStyle/>
          <a:p>
            <a:pPr indent="0" marL="0">
              <a:buNone/>
            </a:pPr>
            <a:r>
              <a:rPr lang="en-US" sz="1600" dirty="0">
                <a:solidFill>
                  <a:schemeClr val="accent6"/>
                </a:solidFill>
              </a:rPr>
              <a:t>How prospects are found, prioritised and approached today.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PLATFORM · TECHNOLOGY STACK</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How it all works in DemandAI</a:t>
            </a:r>
            <a:endParaRPr lang="en-US" sz="2800" dirty="0"/>
          </a:p>
        </p:txBody>
      </p:sp>
      <p:sp>
        <p:nvSpPr>
          <p:cNvPr id="4" name="Text 2"/>
          <p:cNvSpPr txBox="1"/>
          <p:nvPr/>
        </p:nvSpPr>
        <p:spPr>
          <a:xfrm>
            <a:off x="548640" y="1188720"/>
            <a:ext cx="7315200" cy="320040"/>
          </a:xfrm>
          <a:prstGeom prst="rect">
            <a:avLst/>
          </a:prstGeom>
          <a:noFill/>
          <a:ln/>
        </p:spPr>
        <p:txBody>
          <a:bodyPr wrap="square" lIns="0" tIns="0" rIns="0" bIns="0" rtlCol="0" anchor="t"/>
          <a:lstStyle/>
          <a:p>
            <a:pPr indent="0" marL="0">
              <a:buNone/>
            </a:pPr>
            <a:r>
              <a:rPr lang="en-US" sz="1400" dirty="0">
                <a:solidFill>
                  <a:schemeClr val="tx2"/>
                </a:solidFill>
              </a:rPr>
              <a:t>How a request travels, and the six layers behind it</a:t>
            </a:r>
            <a:endParaRPr lang="en-US" sz="1400" dirty="0"/>
          </a:p>
        </p:txBody>
      </p:sp>
      <p:sp>
        <p:nvSpPr>
          <p:cNvPr id="5" name="Shape 3"/>
          <p:cNvSpPr/>
          <p:nvPr/>
        </p:nvSpPr>
        <p:spPr>
          <a:xfrm>
            <a:off x="1143000" y="1645920"/>
            <a:ext cx="731520" cy="73152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325880" y="1828800"/>
            <a:ext cx="365760" cy="365760"/>
          </a:xfrm>
          <a:prstGeom prst="rect">
            <a:avLst/>
          </a:prstGeom>
        </p:spPr>
      </p:pic>
      <p:sp>
        <p:nvSpPr>
          <p:cNvPr id="7" name="Text 4"/>
          <p:cNvSpPr txBox="1"/>
          <p:nvPr/>
        </p:nvSpPr>
        <p:spPr>
          <a:xfrm>
            <a:off x="59436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Your team</a:t>
            </a:r>
            <a:endParaRPr lang="en-US" sz="1400" dirty="0"/>
          </a:p>
        </p:txBody>
      </p:sp>
      <p:sp>
        <p:nvSpPr>
          <p:cNvPr id="8" name="Text 5"/>
          <p:cNvSpPr txBox="1"/>
          <p:nvPr/>
        </p:nvSpPr>
        <p:spPr>
          <a:xfrm>
            <a:off x="59436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Browser, invite-only sign-in</a:t>
            </a:r>
            <a:endParaRPr lang="en-US" sz="1100" dirty="0"/>
          </a:p>
        </p:txBody>
      </p:sp>
      <p:pic>
        <p:nvPicPr>
          <p:cNvPr id="9" name="Image 1" descr="preencoded.png">    </p:cNvPr>
          <p:cNvPicPr>
            <a:picLocks noChangeAspect="1"/>
          </p:cNvPicPr>
          <p:nvPr/>
        </p:nvPicPr>
        <p:blipFill>
          <a:blip r:embed="rId2"/>
          <a:stretch>
            <a:fillRect/>
          </a:stretch>
        </p:blipFill>
        <p:spPr>
          <a:xfrm>
            <a:off x="2359152" y="1892808"/>
            <a:ext cx="228600" cy="228600"/>
          </a:xfrm>
          <a:prstGeom prst="rect">
            <a:avLst/>
          </a:prstGeom>
        </p:spPr>
      </p:pic>
      <p:sp>
        <p:nvSpPr>
          <p:cNvPr id="10" name="Shape 6"/>
          <p:cNvSpPr/>
          <p:nvPr/>
        </p:nvSpPr>
        <p:spPr>
          <a:xfrm>
            <a:off x="3017520" y="1645920"/>
            <a:ext cx="731520" cy="731520"/>
          </a:xfrm>
          <a:prstGeom prst="ellipse">
            <a:avLst/>
          </a:prstGeom>
          <a:solidFill>
            <a:schemeClr val="tx1"/>
          </a:solidFill>
          <a:ln w="12700">
            <a:solidFill>
              <a:schemeClr val="tx1"/>
            </a:solidFill>
            <a:prstDash val="solid"/>
          </a:ln>
        </p:spPr>
      </p:sp>
      <p:pic>
        <p:nvPicPr>
          <p:cNvPr id="11" name="Image 2" descr="preencoded.png">    </p:cNvPr>
          <p:cNvPicPr>
            <a:picLocks noChangeAspect="1"/>
          </p:cNvPicPr>
          <p:nvPr/>
        </p:nvPicPr>
        <p:blipFill>
          <a:blip r:embed="rId3"/>
          <a:stretch>
            <a:fillRect/>
          </a:stretch>
        </p:blipFill>
        <p:spPr>
          <a:xfrm>
            <a:off x="3200400" y="1828800"/>
            <a:ext cx="365760" cy="365760"/>
          </a:xfrm>
          <a:prstGeom prst="rect">
            <a:avLst/>
          </a:prstGeom>
        </p:spPr>
      </p:pic>
      <p:sp>
        <p:nvSpPr>
          <p:cNvPr id="12" name="Text 7"/>
          <p:cNvSpPr txBox="1"/>
          <p:nvPr/>
        </p:nvSpPr>
        <p:spPr>
          <a:xfrm>
            <a:off x="246888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Web app</a:t>
            </a:r>
            <a:endParaRPr lang="en-US" sz="1400" dirty="0"/>
          </a:p>
        </p:txBody>
      </p:sp>
      <p:sp>
        <p:nvSpPr>
          <p:cNvPr id="13" name="Text 8"/>
          <p:cNvSpPr txBox="1"/>
          <p:nvPr/>
        </p:nvSpPr>
        <p:spPr>
          <a:xfrm>
            <a:off x="246888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One screen per step</a:t>
            </a:r>
            <a:endParaRPr lang="en-US" sz="1100" dirty="0"/>
          </a:p>
        </p:txBody>
      </p:sp>
      <p:pic>
        <p:nvPicPr>
          <p:cNvPr id="14" name="Image 3" descr="preencoded.png">    </p:cNvPr>
          <p:cNvPicPr>
            <a:picLocks noChangeAspect="1"/>
          </p:cNvPicPr>
          <p:nvPr/>
        </p:nvPicPr>
        <p:blipFill>
          <a:blip r:embed="rId4"/>
          <a:stretch>
            <a:fillRect/>
          </a:stretch>
        </p:blipFill>
        <p:spPr>
          <a:xfrm>
            <a:off x="4233672" y="1892808"/>
            <a:ext cx="228600" cy="228600"/>
          </a:xfrm>
          <a:prstGeom prst="rect">
            <a:avLst/>
          </a:prstGeom>
        </p:spPr>
      </p:pic>
      <p:sp>
        <p:nvSpPr>
          <p:cNvPr id="15" name="Shape 9"/>
          <p:cNvSpPr/>
          <p:nvPr/>
        </p:nvSpPr>
        <p:spPr>
          <a:xfrm>
            <a:off x="4892040" y="1645920"/>
            <a:ext cx="731520" cy="731520"/>
          </a:xfrm>
          <a:prstGeom prst="ellipse">
            <a:avLst/>
          </a:prstGeom>
          <a:solidFill>
            <a:schemeClr val="tx1"/>
          </a:solidFill>
          <a:ln w="12700">
            <a:solidFill>
              <a:schemeClr val="tx1"/>
            </a:solidFill>
            <a:prstDash val="solid"/>
          </a:ln>
        </p:spPr>
      </p:sp>
      <p:pic>
        <p:nvPicPr>
          <p:cNvPr id="16" name="Image 4" descr="preencoded.png">    </p:cNvPr>
          <p:cNvPicPr>
            <a:picLocks noChangeAspect="1"/>
          </p:cNvPicPr>
          <p:nvPr/>
        </p:nvPicPr>
        <p:blipFill>
          <a:blip r:embed="rId5"/>
          <a:stretch>
            <a:fillRect/>
          </a:stretch>
        </p:blipFill>
        <p:spPr>
          <a:xfrm>
            <a:off x="5074920" y="1828800"/>
            <a:ext cx="365760" cy="365760"/>
          </a:xfrm>
          <a:prstGeom prst="rect">
            <a:avLst/>
          </a:prstGeom>
        </p:spPr>
      </p:pic>
      <p:sp>
        <p:nvSpPr>
          <p:cNvPr id="17" name="Text 10"/>
          <p:cNvSpPr txBox="1"/>
          <p:nvPr/>
        </p:nvSpPr>
        <p:spPr>
          <a:xfrm>
            <a:off x="434340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DemandAI engine</a:t>
            </a:r>
            <a:endParaRPr lang="en-US" sz="1400" dirty="0"/>
          </a:p>
        </p:txBody>
      </p:sp>
      <p:sp>
        <p:nvSpPr>
          <p:cNvPr id="18" name="Text 11"/>
          <p:cNvSpPr txBox="1"/>
          <p:nvPr/>
        </p:nvSpPr>
        <p:spPr>
          <a:xfrm>
            <a:off x="434340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Tested rules: score, segment, route</a:t>
            </a:r>
            <a:endParaRPr lang="en-US" sz="1100" dirty="0"/>
          </a:p>
        </p:txBody>
      </p:sp>
      <p:pic>
        <p:nvPicPr>
          <p:cNvPr id="19" name="Image 5" descr="preencoded.png">    </p:cNvPr>
          <p:cNvPicPr>
            <a:picLocks noChangeAspect="1"/>
          </p:cNvPicPr>
          <p:nvPr/>
        </p:nvPicPr>
        <p:blipFill>
          <a:blip r:embed="rId6"/>
          <a:stretch>
            <a:fillRect/>
          </a:stretch>
        </p:blipFill>
        <p:spPr>
          <a:xfrm>
            <a:off x="6108192" y="1892808"/>
            <a:ext cx="228600" cy="228600"/>
          </a:xfrm>
          <a:prstGeom prst="rect">
            <a:avLst/>
          </a:prstGeom>
        </p:spPr>
      </p:pic>
      <p:sp>
        <p:nvSpPr>
          <p:cNvPr id="20" name="Shape 12"/>
          <p:cNvSpPr/>
          <p:nvPr/>
        </p:nvSpPr>
        <p:spPr>
          <a:xfrm>
            <a:off x="6766560" y="1645920"/>
            <a:ext cx="731520" cy="731520"/>
          </a:xfrm>
          <a:prstGeom prst="ellipse">
            <a:avLst/>
          </a:prstGeom>
          <a:solidFill>
            <a:schemeClr val="tx1"/>
          </a:solidFill>
          <a:ln w="12700">
            <a:solidFill>
              <a:schemeClr val="tx1"/>
            </a:solidFill>
            <a:prstDash val="solid"/>
          </a:ln>
        </p:spPr>
      </p:sp>
      <p:pic>
        <p:nvPicPr>
          <p:cNvPr id="21" name="Image 6" descr="preencoded.png">    </p:cNvPr>
          <p:cNvPicPr>
            <a:picLocks noChangeAspect="1"/>
          </p:cNvPicPr>
          <p:nvPr/>
        </p:nvPicPr>
        <p:blipFill>
          <a:blip r:embed="rId7"/>
          <a:stretch>
            <a:fillRect/>
          </a:stretch>
        </p:blipFill>
        <p:spPr>
          <a:xfrm>
            <a:off x="6949440" y="1828800"/>
            <a:ext cx="365760" cy="365760"/>
          </a:xfrm>
          <a:prstGeom prst="rect">
            <a:avLst/>
          </a:prstGeom>
        </p:spPr>
      </p:pic>
      <p:sp>
        <p:nvSpPr>
          <p:cNvPr id="22" name="Text 13"/>
          <p:cNvSpPr txBox="1"/>
          <p:nvPr/>
        </p:nvSpPr>
        <p:spPr>
          <a:xfrm>
            <a:off x="621792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Your content</a:t>
            </a:r>
            <a:endParaRPr lang="en-US" sz="1400" dirty="0"/>
          </a:p>
        </p:txBody>
      </p:sp>
      <p:sp>
        <p:nvSpPr>
          <p:cNvPr id="23" name="Text 14"/>
          <p:cNvSpPr txBox="1"/>
          <p:nvPr/>
        </p:nvSpPr>
        <p:spPr>
          <a:xfrm>
            <a:off x="621792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Brand pack, claims, plays</a:t>
            </a:r>
            <a:endParaRPr lang="en-US" sz="1100" dirty="0"/>
          </a:p>
        </p:txBody>
      </p:sp>
      <p:pic>
        <p:nvPicPr>
          <p:cNvPr id="24" name="Image 7" descr="preencoded.png">    </p:cNvPr>
          <p:cNvPicPr>
            <a:picLocks noChangeAspect="1"/>
          </p:cNvPicPr>
          <p:nvPr/>
        </p:nvPicPr>
        <p:blipFill>
          <a:blip r:embed="rId8"/>
          <a:stretch>
            <a:fillRect/>
          </a:stretch>
        </p:blipFill>
        <p:spPr>
          <a:xfrm>
            <a:off x="7982712" y="1892808"/>
            <a:ext cx="228600" cy="228600"/>
          </a:xfrm>
          <a:prstGeom prst="rect">
            <a:avLst/>
          </a:prstGeom>
        </p:spPr>
      </p:pic>
      <p:sp>
        <p:nvSpPr>
          <p:cNvPr id="25" name="Shape 15"/>
          <p:cNvSpPr/>
          <p:nvPr/>
        </p:nvSpPr>
        <p:spPr>
          <a:xfrm>
            <a:off x="8641080" y="1645920"/>
            <a:ext cx="731520" cy="731520"/>
          </a:xfrm>
          <a:prstGeom prst="ellipse">
            <a:avLst/>
          </a:prstGeom>
          <a:solidFill>
            <a:schemeClr val="tx1"/>
          </a:solidFill>
          <a:ln w="12700">
            <a:solidFill>
              <a:schemeClr val="tx1"/>
            </a:solidFill>
            <a:prstDash val="solid"/>
          </a:ln>
        </p:spPr>
      </p:sp>
      <p:pic>
        <p:nvPicPr>
          <p:cNvPr id="26" name="Image 8" descr="preencoded.png">    </p:cNvPr>
          <p:cNvPicPr>
            <a:picLocks noChangeAspect="1"/>
          </p:cNvPicPr>
          <p:nvPr/>
        </p:nvPicPr>
        <p:blipFill>
          <a:blip r:embed="rId9"/>
          <a:stretch>
            <a:fillRect/>
          </a:stretch>
        </p:blipFill>
        <p:spPr>
          <a:xfrm>
            <a:off x="8823960" y="1828800"/>
            <a:ext cx="365760" cy="365760"/>
          </a:xfrm>
          <a:prstGeom prst="rect">
            <a:avLst/>
          </a:prstGeom>
        </p:spPr>
      </p:pic>
      <p:sp>
        <p:nvSpPr>
          <p:cNvPr id="27" name="Text 16"/>
          <p:cNvSpPr txBox="1"/>
          <p:nvPr/>
        </p:nvSpPr>
        <p:spPr>
          <a:xfrm>
            <a:off x="809244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AI gateway</a:t>
            </a:r>
            <a:endParaRPr lang="en-US" sz="1400" dirty="0"/>
          </a:p>
        </p:txBody>
      </p:sp>
      <p:sp>
        <p:nvSpPr>
          <p:cNvPr id="28" name="Text 17"/>
          <p:cNvSpPr txBox="1"/>
          <p:nvPr/>
        </p:nvSpPr>
        <p:spPr>
          <a:xfrm>
            <a:off x="809244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Flags, checks, rules fallback</a:t>
            </a:r>
            <a:endParaRPr lang="en-US" sz="1100" dirty="0"/>
          </a:p>
        </p:txBody>
      </p:sp>
      <p:pic>
        <p:nvPicPr>
          <p:cNvPr id="29" name="Image 9" descr="preencoded.png">    </p:cNvPr>
          <p:cNvPicPr>
            <a:picLocks noChangeAspect="1"/>
          </p:cNvPicPr>
          <p:nvPr/>
        </p:nvPicPr>
        <p:blipFill>
          <a:blip r:embed="rId10"/>
          <a:stretch>
            <a:fillRect/>
          </a:stretch>
        </p:blipFill>
        <p:spPr>
          <a:xfrm>
            <a:off x="9857232" y="1892808"/>
            <a:ext cx="228600" cy="228600"/>
          </a:xfrm>
          <a:prstGeom prst="rect">
            <a:avLst/>
          </a:prstGeom>
        </p:spPr>
      </p:pic>
      <p:sp>
        <p:nvSpPr>
          <p:cNvPr id="30" name="Shape 18"/>
          <p:cNvSpPr/>
          <p:nvPr/>
        </p:nvSpPr>
        <p:spPr>
          <a:xfrm>
            <a:off x="10515600" y="1645920"/>
            <a:ext cx="731520" cy="731520"/>
          </a:xfrm>
          <a:prstGeom prst="ellipse">
            <a:avLst/>
          </a:prstGeom>
          <a:solidFill>
            <a:schemeClr val="tx1"/>
          </a:solidFill>
          <a:ln w="12700">
            <a:solidFill>
              <a:schemeClr val="tx1"/>
            </a:solidFill>
            <a:prstDash val="solid"/>
          </a:ln>
        </p:spPr>
      </p:sp>
      <p:pic>
        <p:nvPicPr>
          <p:cNvPr id="31" name="Image 10" descr="preencoded.png">    </p:cNvPr>
          <p:cNvPicPr>
            <a:picLocks noChangeAspect="1"/>
          </p:cNvPicPr>
          <p:nvPr/>
        </p:nvPicPr>
        <p:blipFill>
          <a:blip r:embed="rId11"/>
          <a:stretch>
            <a:fillRect/>
          </a:stretch>
        </p:blipFill>
        <p:spPr>
          <a:xfrm>
            <a:off x="10698480" y="1828800"/>
            <a:ext cx="365760" cy="365760"/>
          </a:xfrm>
          <a:prstGeom prst="rect">
            <a:avLst/>
          </a:prstGeom>
        </p:spPr>
      </p:pic>
      <p:sp>
        <p:nvSpPr>
          <p:cNvPr id="32" name="Text 19"/>
          <p:cNvSpPr txBox="1"/>
          <p:nvPr/>
        </p:nvSpPr>
        <p:spPr>
          <a:xfrm>
            <a:off x="9966960" y="2468880"/>
            <a:ext cx="1828800" cy="274320"/>
          </a:xfrm>
          <a:prstGeom prst="rect">
            <a:avLst/>
          </a:prstGeom>
          <a:noFill/>
          <a:ln/>
        </p:spPr>
        <p:txBody>
          <a:bodyPr wrap="square" lIns="0" tIns="0" rIns="0" bIns="0" rtlCol="0" anchor="t"/>
          <a:lstStyle/>
          <a:p>
            <a:pPr algn="ctr" indent="0" marL="0">
              <a:buNone/>
            </a:pPr>
            <a:r>
              <a:rPr lang="en-US" sz="1400" b="1" dirty="0">
                <a:solidFill>
                  <a:schemeClr val="tx1"/>
                </a:solidFill>
              </a:rPr>
              <a:t>AI models</a:t>
            </a:r>
            <a:endParaRPr lang="en-US" sz="1400" dirty="0"/>
          </a:p>
        </p:txBody>
      </p:sp>
      <p:sp>
        <p:nvSpPr>
          <p:cNvPr id="33" name="Text 20"/>
          <p:cNvSpPr txBox="1"/>
          <p:nvPr/>
        </p:nvSpPr>
        <p:spPr>
          <a:xfrm>
            <a:off x="9966960" y="274320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Enterprise LLMs in your cloud</a:t>
            </a:r>
            <a:endParaRPr lang="en-US" sz="1100" dirty="0"/>
          </a:p>
        </p:txBody>
      </p:sp>
      <p:sp>
        <p:nvSpPr>
          <p:cNvPr id="34" name="Shape 21"/>
          <p:cNvSpPr/>
          <p:nvPr/>
        </p:nvSpPr>
        <p:spPr>
          <a:xfrm>
            <a:off x="548640" y="3429000"/>
            <a:ext cx="3566160" cy="1325880"/>
          </a:xfrm>
          <a:prstGeom prst="roundRect">
            <a:avLst>
              <a:gd name="adj" fmla="val 5517"/>
            </a:avLst>
          </a:prstGeom>
          <a:solidFill>
            <a:schemeClr val="bg2"/>
          </a:solidFill>
          <a:ln w="12700">
            <a:solidFill>
              <a:schemeClr val="bg2"/>
            </a:solidFill>
            <a:prstDash val="solid"/>
          </a:ln>
        </p:spPr>
      </p:sp>
      <p:pic>
        <p:nvPicPr>
          <p:cNvPr id="35" name="Image 11" descr="preencoded.png">    </p:cNvPr>
          <p:cNvPicPr>
            <a:picLocks noChangeAspect="1"/>
          </p:cNvPicPr>
          <p:nvPr/>
        </p:nvPicPr>
        <p:blipFill>
          <a:blip r:embed="rId12"/>
          <a:stretch>
            <a:fillRect/>
          </a:stretch>
        </p:blipFill>
        <p:spPr>
          <a:xfrm>
            <a:off x="731520" y="3593592"/>
            <a:ext cx="292608" cy="292608"/>
          </a:xfrm>
          <a:prstGeom prst="rect">
            <a:avLst/>
          </a:prstGeom>
        </p:spPr>
      </p:pic>
      <p:sp>
        <p:nvSpPr>
          <p:cNvPr id="36" name="Text 22"/>
          <p:cNvSpPr txBox="1"/>
          <p:nvPr/>
        </p:nvSpPr>
        <p:spPr>
          <a:xfrm>
            <a:off x="1143000" y="356616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Front end</a:t>
            </a:r>
            <a:endParaRPr lang="en-US" sz="1400" dirty="0"/>
          </a:p>
        </p:txBody>
      </p:sp>
      <p:sp>
        <p:nvSpPr>
          <p:cNvPr id="37" name="Text 23"/>
          <p:cNvSpPr txBox="1"/>
          <p:nvPr/>
        </p:nvSpPr>
        <p:spPr>
          <a:xfrm>
            <a:off x="777240" y="395935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Web application, one screen per step</a:t>
            </a:r>
            <a:endParaRPr lang="en-US" sz="1100" dirty="0"/>
          </a:p>
          <a:p>
            <a:pPr marL="177800" indent="-177800">
              <a:spcAft>
                <a:spcPts val="200"/>
              </a:spcAft>
              <a:buSzPct val="100000"/>
              <a:buChar char="•"/>
            </a:pPr>
            <a:r>
              <a:rPr lang="en-US" sz="1100" dirty="0">
                <a:solidFill>
                  <a:schemeClr val="tx2"/>
                </a:solidFill>
              </a:rPr>
              <a:t>Role-aware screens for rep, manager, admin</a:t>
            </a:r>
            <a:endParaRPr lang="en-US" sz="1100" dirty="0"/>
          </a:p>
          <a:p>
            <a:pPr marL="177800" indent="-177800">
              <a:spcAft>
                <a:spcPts val="200"/>
              </a:spcAft>
              <a:buSzPct val="100000"/>
              <a:buChar char="•"/>
            </a:pPr>
            <a:r>
              <a:rPr lang="en-US" sz="1100" dirty="0">
                <a:solidFill>
                  <a:schemeClr val="tx2"/>
                </a:solidFill>
              </a:rPr>
              <a:t>Strict content policy and security headers</a:t>
            </a:r>
            <a:endParaRPr lang="en-US" sz="1100" dirty="0"/>
          </a:p>
        </p:txBody>
      </p:sp>
      <p:sp>
        <p:nvSpPr>
          <p:cNvPr id="38" name="Shape 24"/>
          <p:cNvSpPr/>
          <p:nvPr/>
        </p:nvSpPr>
        <p:spPr>
          <a:xfrm>
            <a:off x="4279392" y="3429000"/>
            <a:ext cx="3566160" cy="1325880"/>
          </a:xfrm>
          <a:prstGeom prst="roundRect">
            <a:avLst>
              <a:gd name="adj" fmla="val 5517"/>
            </a:avLst>
          </a:prstGeom>
          <a:solidFill>
            <a:schemeClr val="bg2"/>
          </a:solidFill>
          <a:ln w="12700">
            <a:solidFill>
              <a:schemeClr val="bg2"/>
            </a:solidFill>
            <a:prstDash val="solid"/>
          </a:ln>
        </p:spPr>
      </p:sp>
      <p:pic>
        <p:nvPicPr>
          <p:cNvPr id="39" name="Image 12" descr="preencoded.png">    </p:cNvPr>
          <p:cNvPicPr>
            <a:picLocks noChangeAspect="1"/>
          </p:cNvPicPr>
          <p:nvPr/>
        </p:nvPicPr>
        <p:blipFill>
          <a:blip r:embed="rId13"/>
          <a:stretch>
            <a:fillRect/>
          </a:stretch>
        </p:blipFill>
        <p:spPr>
          <a:xfrm>
            <a:off x="4462272" y="3593592"/>
            <a:ext cx="292608" cy="292608"/>
          </a:xfrm>
          <a:prstGeom prst="rect">
            <a:avLst/>
          </a:prstGeom>
        </p:spPr>
      </p:pic>
      <p:sp>
        <p:nvSpPr>
          <p:cNvPr id="40" name="Text 25"/>
          <p:cNvSpPr txBox="1"/>
          <p:nvPr/>
        </p:nvSpPr>
        <p:spPr>
          <a:xfrm>
            <a:off x="4873752" y="356616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Application services</a:t>
            </a:r>
            <a:endParaRPr lang="en-US" sz="1400" dirty="0"/>
          </a:p>
        </p:txBody>
      </p:sp>
      <p:sp>
        <p:nvSpPr>
          <p:cNvPr id="41" name="Text 26"/>
          <p:cNvSpPr txBox="1"/>
          <p:nvPr/>
        </p:nvSpPr>
        <p:spPr>
          <a:xfrm>
            <a:off x="4507992" y="395935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Server-side business rules per screen</a:t>
            </a:r>
            <a:endParaRPr lang="en-US" sz="1100" dirty="0"/>
          </a:p>
          <a:p>
            <a:pPr marL="177800" indent="-177800">
              <a:spcAft>
                <a:spcPts val="200"/>
              </a:spcAft>
              <a:buSzPct val="100000"/>
              <a:buChar char="•"/>
            </a:pPr>
            <a:r>
              <a:rPr lang="en-US" sz="1100" dirty="0">
                <a:solidFill>
                  <a:schemeClr val="tx2"/>
                </a:solidFill>
              </a:rPr>
              <a:t>Background jobs for uploads, scoring, builds</a:t>
            </a:r>
            <a:endParaRPr lang="en-US" sz="1100" dirty="0"/>
          </a:p>
          <a:p>
            <a:pPr marL="177800" indent="-177800">
              <a:spcAft>
                <a:spcPts val="200"/>
              </a:spcAft>
              <a:buSzPct val="100000"/>
              <a:buChar char="•"/>
            </a:pPr>
            <a:r>
              <a:rPr lang="en-US" sz="1100" dirty="0">
                <a:solidFill>
                  <a:schemeClr val="tx2"/>
                </a:solidFill>
              </a:rPr>
              <a:t>Every action logged in an audit trail</a:t>
            </a:r>
            <a:endParaRPr lang="en-US" sz="1100" dirty="0"/>
          </a:p>
        </p:txBody>
      </p:sp>
      <p:sp>
        <p:nvSpPr>
          <p:cNvPr id="42" name="Shape 27"/>
          <p:cNvSpPr/>
          <p:nvPr/>
        </p:nvSpPr>
        <p:spPr>
          <a:xfrm>
            <a:off x="8010144" y="3429000"/>
            <a:ext cx="3566160" cy="1325880"/>
          </a:xfrm>
          <a:prstGeom prst="roundRect">
            <a:avLst>
              <a:gd name="adj" fmla="val 5517"/>
            </a:avLst>
          </a:prstGeom>
          <a:solidFill>
            <a:schemeClr val="bg2"/>
          </a:solidFill>
          <a:ln w="12700">
            <a:solidFill>
              <a:schemeClr val="bg2"/>
            </a:solidFill>
            <a:prstDash val="solid"/>
          </a:ln>
        </p:spPr>
      </p:sp>
      <p:pic>
        <p:nvPicPr>
          <p:cNvPr id="43" name="Image 13" descr="preencoded.png">    </p:cNvPr>
          <p:cNvPicPr>
            <a:picLocks noChangeAspect="1"/>
          </p:cNvPicPr>
          <p:nvPr/>
        </p:nvPicPr>
        <p:blipFill>
          <a:blip r:embed="rId14"/>
          <a:stretch>
            <a:fillRect/>
          </a:stretch>
        </p:blipFill>
        <p:spPr>
          <a:xfrm>
            <a:off x="8193024" y="3593592"/>
            <a:ext cx="292608" cy="292608"/>
          </a:xfrm>
          <a:prstGeom prst="rect">
            <a:avLst/>
          </a:prstGeom>
        </p:spPr>
      </p:pic>
      <p:sp>
        <p:nvSpPr>
          <p:cNvPr id="44" name="Text 28"/>
          <p:cNvSpPr txBox="1"/>
          <p:nvPr/>
        </p:nvSpPr>
        <p:spPr>
          <a:xfrm>
            <a:off x="8604504" y="356616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Identity and access</a:t>
            </a:r>
            <a:endParaRPr lang="en-US" sz="1400" dirty="0"/>
          </a:p>
        </p:txBody>
      </p:sp>
      <p:sp>
        <p:nvSpPr>
          <p:cNvPr id="45" name="Text 29"/>
          <p:cNvSpPr txBox="1"/>
          <p:nvPr/>
        </p:nvSpPr>
        <p:spPr>
          <a:xfrm>
            <a:off x="8238744" y="395935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Invite-only sign-in; SSO at go-live*</a:t>
            </a:r>
            <a:endParaRPr lang="en-US" sz="1100" dirty="0"/>
          </a:p>
          <a:p>
            <a:pPr marL="177800" indent="-177800">
              <a:spcAft>
                <a:spcPts val="200"/>
              </a:spcAft>
              <a:buSzPct val="100000"/>
              <a:buChar char="•"/>
            </a:pPr>
            <a:r>
              <a:rPr lang="en-US" sz="1100" dirty="0">
                <a:solidFill>
                  <a:schemeClr val="tx2"/>
                </a:solidFill>
              </a:rPr>
              <a:t>Roles: admin, manager, rep, viewer</a:t>
            </a:r>
            <a:endParaRPr lang="en-US" sz="1100" dirty="0"/>
          </a:p>
          <a:p>
            <a:pPr marL="177800" indent="-177800">
              <a:spcAft>
                <a:spcPts val="200"/>
              </a:spcAft>
              <a:buSzPct val="100000"/>
              <a:buChar char="•"/>
            </a:pPr>
            <a:r>
              <a:rPr lang="en-US" sz="1100" dirty="0">
                <a:solidFill>
                  <a:schemeClr val="tx2"/>
                </a:solidFill>
              </a:rPr>
              <a:t>Reps see only the accounts they own</a:t>
            </a:r>
            <a:endParaRPr lang="en-US" sz="1100" dirty="0"/>
          </a:p>
        </p:txBody>
      </p:sp>
      <p:sp>
        <p:nvSpPr>
          <p:cNvPr id="46" name="Shape 30"/>
          <p:cNvSpPr/>
          <p:nvPr/>
        </p:nvSpPr>
        <p:spPr>
          <a:xfrm>
            <a:off x="548640" y="4892040"/>
            <a:ext cx="3566160" cy="1325880"/>
          </a:xfrm>
          <a:prstGeom prst="roundRect">
            <a:avLst>
              <a:gd name="adj" fmla="val 5517"/>
            </a:avLst>
          </a:prstGeom>
          <a:solidFill>
            <a:schemeClr val="bg2"/>
          </a:solidFill>
          <a:ln w="12700">
            <a:solidFill>
              <a:schemeClr val="bg2"/>
            </a:solidFill>
            <a:prstDash val="solid"/>
          </a:ln>
        </p:spPr>
      </p:sp>
      <p:pic>
        <p:nvPicPr>
          <p:cNvPr id="47" name="Image 14" descr="preencoded.png">    </p:cNvPr>
          <p:cNvPicPr>
            <a:picLocks noChangeAspect="1"/>
          </p:cNvPicPr>
          <p:nvPr/>
        </p:nvPicPr>
        <p:blipFill>
          <a:blip r:embed="rId15"/>
          <a:stretch>
            <a:fillRect/>
          </a:stretch>
        </p:blipFill>
        <p:spPr>
          <a:xfrm>
            <a:off x="731520" y="5056632"/>
            <a:ext cx="292608" cy="292608"/>
          </a:xfrm>
          <a:prstGeom prst="rect">
            <a:avLst/>
          </a:prstGeom>
        </p:spPr>
      </p:pic>
      <p:sp>
        <p:nvSpPr>
          <p:cNvPr id="48" name="Text 31"/>
          <p:cNvSpPr txBox="1"/>
          <p:nvPr/>
        </p:nvSpPr>
        <p:spPr>
          <a:xfrm>
            <a:off x="1143000" y="502920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Data</a:t>
            </a:r>
            <a:endParaRPr lang="en-US" sz="1400" dirty="0"/>
          </a:p>
        </p:txBody>
      </p:sp>
      <p:sp>
        <p:nvSpPr>
          <p:cNvPr id="49" name="Text 32"/>
          <p:cNvSpPr txBox="1"/>
          <p:nvPr/>
        </p:nvSpPr>
        <p:spPr>
          <a:xfrm>
            <a:off x="777240" y="542239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Managed PostgreSQL, private endpoint</a:t>
            </a:r>
            <a:endParaRPr lang="en-US" sz="1100" dirty="0"/>
          </a:p>
          <a:p>
            <a:pPr marL="177800" indent="-177800">
              <a:spcAft>
                <a:spcPts val="200"/>
              </a:spcAft>
              <a:buSzPct val="100000"/>
              <a:buChar char="•"/>
            </a:pPr>
            <a:r>
              <a:rPr lang="en-US" sz="1100" dirty="0">
                <a:solidFill>
                  <a:schemeClr val="tx2"/>
                </a:solidFill>
              </a:rPr>
              <a:t>Row-level security per business unit</a:t>
            </a:r>
            <a:endParaRPr lang="en-US" sz="1100" dirty="0"/>
          </a:p>
          <a:p>
            <a:pPr marL="177800" indent="-177800">
              <a:spcAft>
                <a:spcPts val="200"/>
              </a:spcAft>
              <a:buSzPct val="100000"/>
              <a:buChar char="•"/>
            </a:pPr>
            <a:r>
              <a:rPr lang="en-US" sz="1100" dirty="0">
                <a:solidFill>
                  <a:schemeClr val="tx2"/>
                </a:solidFill>
              </a:rPr>
              <a:t>Append-only logs; purge at pilot end</a:t>
            </a:r>
            <a:endParaRPr lang="en-US" sz="1100" dirty="0"/>
          </a:p>
        </p:txBody>
      </p:sp>
      <p:sp>
        <p:nvSpPr>
          <p:cNvPr id="50" name="Shape 33"/>
          <p:cNvSpPr/>
          <p:nvPr/>
        </p:nvSpPr>
        <p:spPr>
          <a:xfrm>
            <a:off x="4279392" y="4892040"/>
            <a:ext cx="3566160" cy="1325880"/>
          </a:xfrm>
          <a:prstGeom prst="roundRect">
            <a:avLst>
              <a:gd name="adj" fmla="val 5517"/>
            </a:avLst>
          </a:prstGeom>
          <a:solidFill>
            <a:schemeClr val="bg2"/>
          </a:solidFill>
          <a:ln w="12700">
            <a:solidFill>
              <a:schemeClr val="bg2"/>
            </a:solidFill>
            <a:prstDash val="solid"/>
          </a:ln>
        </p:spPr>
      </p:sp>
      <p:pic>
        <p:nvPicPr>
          <p:cNvPr id="51" name="Image 15" descr="preencoded.png">    </p:cNvPr>
          <p:cNvPicPr>
            <a:picLocks noChangeAspect="1"/>
          </p:cNvPicPr>
          <p:nvPr/>
        </p:nvPicPr>
        <p:blipFill>
          <a:blip r:embed="rId16"/>
          <a:stretch>
            <a:fillRect/>
          </a:stretch>
        </p:blipFill>
        <p:spPr>
          <a:xfrm>
            <a:off x="4462272" y="5056632"/>
            <a:ext cx="292608" cy="292608"/>
          </a:xfrm>
          <a:prstGeom prst="rect">
            <a:avLst/>
          </a:prstGeom>
        </p:spPr>
      </p:pic>
      <p:sp>
        <p:nvSpPr>
          <p:cNvPr id="52" name="Text 34"/>
          <p:cNvSpPr txBox="1"/>
          <p:nvPr/>
        </p:nvSpPr>
        <p:spPr>
          <a:xfrm>
            <a:off x="4873752" y="502920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AI layer</a:t>
            </a:r>
            <a:endParaRPr lang="en-US" sz="1400" dirty="0"/>
          </a:p>
        </p:txBody>
      </p:sp>
      <p:sp>
        <p:nvSpPr>
          <p:cNvPr id="53" name="Text 35"/>
          <p:cNvSpPr txBox="1"/>
          <p:nvPr/>
        </p:nvSpPr>
        <p:spPr>
          <a:xfrm>
            <a:off x="4507992" y="542239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Enterprise large language models</a:t>
            </a:r>
            <a:endParaRPr lang="en-US" sz="1100" dirty="0"/>
          </a:p>
          <a:p>
            <a:pPr marL="177800" indent="-177800">
              <a:spcAft>
                <a:spcPts val="200"/>
              </a:spcAft>
              <a:buSzPct val="100000"/>
              <a:buChar char="•"/>
            </a:pPr>
            <a:r>
              <a:rPr lang="en-US" sz="1100" dirty="0">
                <a:solidFill>
                  <a:schemeClr val="tx2"/>
                </a:solidFill>
              </a:rPr>
              <a:t>Each AI step off until you approve it</a:t>
            </a:r>
            <a:endParaRPr lang="en-US" sz="1100" dirty="0"/>
          </a:p>
          <a:p>
            <a:pPr marL="177800" indent="-177800">
              <a:spcAft>
                <a:spcPts val="200"/>
              </a:spcAft>
              <a:buSzPct val="100000"/>
              <a:buChar char="•"/>
            </a:pPr>
            <a:r>
              <a:rPr lang="en-US" sz="1100" dirty="0">
                <a:solidFill>
                  <a:schemeClr val="tx2"/>
                </a:solidFill>
              </a:rPr>
              <a:t>Rules fallback if the AI is unsure</a:t>
            </a:r>
            <a:endParaRPr lang="en-US" sz="1100" dirty="0"/>
          </a:p>
        </p:txBody>
      </p:sp>
      <p:sp>
        <p:nvSpPr>
          <p:cNvPr id="54" name="Shape 36"/>
          <p:cNvSpPr/>
          <p:nvPr/>
        </p:nvSpPr>
        <p:spPr>
          <a:xfrm>
            <a:off x="8010144" y="4892040"/>
            <a:ext cx="3566160" cy="1325880"/>
          </a:xfrm>
          <a:prstGeom prst="roundRect">
            <a:avLst>
              <a:gd name="adj" fmla="val 5517"/>
            </a:avLst>
          </a:prstGeom>
          <a:solidFill>
            <a:schemeClr val="bg2"/>
          </a:solidFill>
          <a:ln w="12700">
            <a:solidFill>
              <a:schemeClr val="bg2"/>
            </a:solidFill>
            <a:prstDash val="solid"/>
          </a:ln>
        </p:spPr>
      </p:sp>
      <p:pic>
        <p:nvPicPr>
          <p:cNvPr id="55" name="Image 16" descr="preencoded.png">    </p:cNvPr>
          <p:cNvPicPr>
            <a:picLocks noChangeAspect="1"/>
          </p:cNvPicPr>
          <p:nvPr/>
        </p:nvPicPr>
        <p:blipFill>
          <a:blip r:embed="rId17"/>
          <a:stretch>
            <a:fillRect/>
          </a:stretch>
        </p:blipFill>
        <p:spPr>
          <a:xfrm>
            <a:off x="8193024" y="5056632"/>
            <a:ext cx="292608" cy="292608"/>
          </a:xfrm>
          <a:prstGeom prst="rect">
            <a:avLst/>
          </a:prstGeom>
        </p:spPr>
      </p:pic>
      <p:sp>
        <p:nvSpPr>
          <p:cNvPr id="56" name="Text 37"/>
          <p:cNvSpPr txBox="1"/>
          <p:nvPr/>
        </p:nvSpPr>
        <p:spPr>
          <a:xfrm>
            <a:off x="8604504" y="5029200"/>
            <a:ext cx="2834640" cy="347472"/>
          </a:xfrm>
          <a:prstGeom prst="rect">
            <a:avLst/>
          </a:prstGeom>
          <a:noFill/>
          <a:ln/>
        </p:spPr>
        <p:txBody>
          <a:bodyPr wrap="square" lIns="0" tIns="0" rIns="0" bIns="0" rtlCol="0" anchor="ctr"/>
          <a:lstStyle/>
          <a:p>
            <a:pPr indent="0" marL="0">
              <a:buNone/>
            </a:pPr>
            <a:r>
              <a:rPr lang="en-US" sz="1400" b="1" dirty="0">
                <a:solidFill>
                  <a:schemeClr val="tx1"/>
                </a:solidFill>
              </a:rPr>
              <a:t>Hosting and operations</a:t>
            </a:r>
            <a:endParaRPr lang="en-US" sz="1400" dirty="0"/>
          </a:p>
        </p:txBody>
      </p:sp>
      <p:sp>
        <p:nvSpPr>
          <p:cNvPr id="57" name="Text 38"/>
          <p:cNvSpPr txBox="1"/>
          <p:nvPr/>
        </p:nvSpPr>
        <p:spPr>
          <a:xfrm>
            <a:off x="8238744" y="5422392"/>
            <a:ext cx="3246120" cy="749808"/>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chemeClr val="tx2"/>
                </a:solidFill>
              </a:rPr>
              <a:t>Containers on a private cloud network</a:t>
            </a:r>
            <a:endParaRPr lang="en-US" sz="1100" dirty="0"/>
          </a:p>
          <a:p>
            <a:pPr marL="177800" indent="-177800">
              <a:spcAft>
                <a:spcPts val="200"/>
              </a:spcAft>
              <a:buSzPct val="100000"/>
              <a:buChar char="•"/>
            </a:pPr>
            <a:r>
              <a:rPr lang="en-US" sz="1100" dirty="0">
                <a:solidFill>
                  <a:schemeClr val="tx2"/>
                </a:solidFill>
              </a:rPr>
              <a:t>Outbound traffic on an allow-list only</a:t>
            </a:r>
            <a:endParaRPr lang="en-US" sz="1100" dirty="0"/>
          </a:p>
          <a:p>
            <a:pPr marL="177800" indent="-177800">
              <a:spcAft>
                <a:spcPts val="200"/>
              </a:spcAft>
              <a:buSzPct val="100000"/>
              <a:buChar char="•"/>
            </a:pPr>
            <a:r>
              <a:rPr lang="en-US" sz="1100" dirty="0">
                <a:solidFill>
                  <a:schemeClr val="tx2"/>
                </a:solidFill>
              </a:rPr>
              <a:t>Automated CI/CD, central logging</a:t>
            </a:r>
            <a:endParaRPr lang="en-US" sz="1100" dirty="0"/>
          </a:p>
        </p:txBody>
      </p:sp>
      <p:sp>
        <p:nvSpPr>
          <p:cNvPr id="58" name="Text 39"/>
          <p:cNvSpPr txBox="1"/>
          <p:nvPr/>
        </p:nvSpPr>
        <p:spPr>
          <a:xfrm>
            <a:off x="548640" y="6446520"/>
            <a:ext cx="4572000" cy="274320"/>
          </a:xfrm>
          <a:prstGeom prst="rect">
            <a:avLst/>
          </a:prstGeom>
          <a:noFill/>
          <a:ln/>
        </p:spPr>
        <p:txBody>
          <a:bodyPr wrap="square" lIns="0" tIns="0" rIns="0" bIns="0" rtlCol="0" anchor="t"/>
          <a:lstStyle/>
          <a:p>
            <a:pPr indent="0" marL="0">
              <a:buNone/>
            </a:pPr>
            <a:r>
              <a:rPr lang="en-US" sz="1000" dirty="0">
                <a:solidFill>
                  <a:schemeClr val="accent4"/>
                </a:solidFill>
              </a:rPr>
              <a:t>* Single sign-on with your directory at commercial go-live</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OVERVIEW</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20 agents across the demand journey</a:t>
            </a:r>
            <a:endParaRPr lang="en-US" sz="2800" dirty="0"/>
          </a:p>
        </p:txBody>
      </p:sp>
      <p:sp>
        <p:nvSpPr>
          <p:cNvPr id="4" name="Shape 2"/>
          <p:cNvSpPr/>
          <p:nvPr/>
        </p:nvSpPr>
        <p:spPr>
          <a:xfrm>
            <a:off x="548640" y="1417320"/>
            <a:ext cx="2103120" cy="685800"/>
          </a:xfrm>
          <a:prstGeom prst="roundRect">
            <a:avLst>
              <a:gd name="adj" fmla="val 10667"/>
            </a:avLst>
          </a:prstGeom>
          <a:solidFill>
            <a:schemeClr val="tx1"/>
          </a:solidFill>
          <a:ln w="12700">
            <a:solidFill>
              <a:schemeClr val="tx1"/>
            </a:solidFill>
            <a:prstDash val="solid"/>
          </a:ln>
        </p:spPr>
      </p:sp>
      <p:sp>
        <p:nvSpPr>
          <p:cNvPr id="5" name="Text 3"/>
          <p:cNvSpPr txBox="1"/>
          <p:nvPr/>
        </p:nvSpPr>
        <p:spPr>
          <a:xfrm>
            <a:off x="685800" y="1463040"/>
            <a:ext cx="1828800" cy="594360"/>
          </a:xfrm>
          <a:prstGeom prst="rect">
            <a:avLst/>
          </a:prstGeom>
          <a:noFill/>
          <a:ln/>
        </p:spPr>
        <p:txBody>
          <a:bodyPr wrap="square" lIns="0" tIns="0" rIns="0" bIns="0" rtlCol="0" anchor="ctr"/>
          <a:lstStyle/>
          <a:p>
            <a:pPr indent="0" marL="0">
              <a:buNone/>
            </a:pPr>
            <a:r>
              <a:rPr lang="en-US" sz="1400" b="1" dirty="0">
                <a:solidFill>
                  <a:schemeClr val="bg1"/>
                </a:solidFill>
              </a:rPr>
              <a:t>Find and score</a:t>
            </a:r>
            <a:endParaRPr lang="en-US" sz="1400" dirty="0"/>
          </a:p>
          <a:p>
            <a:pPr indent="0" marL="0">
              <a:buNone/>
            </a:pPr>
            <a:r>
              <a:rPr lang="en-US" sz="1200" dirty="0">
                <a:solidFill>
                  <a:schemeClr val="accent1"/>
                </a:solidFill>
              </a:rPr>
              <a:t>5 agents</a:t>
            </a:r>
            <a:endParaRPr lang="en-US" sz="1400" dirty="0"/>
          </a:p>
        </p:txBody>
      </p:sp>
      <p:sp>
        <p:nvSpPr>
          <p:cNvPr id="6" name="Shape 4"/>
          <p:cNvSpPr/>
          <p:nvPr/>
        </p:nvSpPr>
        <p:spPr>
          <a:xfrm>
            <a:off x="548640" y="2240280"/>
            <a:ext cx="2103120" cy="475488"/>
          </a:xfrm>
          <a:prstGeom prst="roundRect">
            <a:avLst>
              <a:gd name="adj" fmla="val 15385"/>
            </a:avLst>
          </a:prstGeom>
          <a:solidFill>
            <a:schemeClr val="bg2"/>
          </a:solidFill>
          <a:ln w="12700">
            <a:solidFill>
              <a:schemeClr val="bg2"/>
            </a:solidFill>
            <a:prstDash val="solid"/>
          </a:ln>
        </p:spPr>
      </p:sp>
      <p:sp>
        <p:nvSpPr>
          <p:cNvPr id="7" name="Shape 5"/>
          <p:cNvSpPr/>
          <p:nvPr/>
        </p:nvSpPr>
        <p:spPr>
          <a:xfrm>
            <a:off x="658368" y="2359152"/>
            <a:ext cx="237744" cy="237744"/>
          </a:xfrm>
          <a:prstGeom prst="ellipse">
            <a:avLst/>
          </a:prstGeom>
          <a:solidFill>
            <a:schemeClr val="accent1"/>
          </a:solidFill>
          <a:ln w="12700">
            <a:solidFill>
              <a:schemeClr val="accent1"/>
            </a:solidFill>
            <a:prstDash val="solid"/>
          </a:ln>
        </p:spPr>
      </p:sp>
      <p:sp>
        <p:nvSpPr>
          <p:cNvPr id="8" name="Text 6"/>
          <p:cNvSpPr txBox="1"/>
          <p:nvPr/>
        </p:nvSpPr>
        <p:spPr>
          <a:xfrm>
            <a:off x="1005840" y="2240280"/>
            <a:ext cx="1600200" cy="475488"/>
          </a:xfrm>
          <a:prstGeom prst="rect">
            <a:avLst/>
          </a:prstGeom>
          <a:noFill/>
          <a:ln/>
        </p:spPr>
        <p:txBody>
          <a:bodyPr wrap="square" lIns="0" tIns="0" rIns="0" bIns="0" rtlCol="0" anchor="ctr"/>
          <a:lstStyle/>
          <a:p>
            <a:pPr indent="0" marL="0">
              <a:buNone/>
            </a:pPr>
            <a:r>
              <a:rPr lang="en-US" sz="1300" dirty="0">
                <a:solidFill>
                  <a:schemeClr val="tx1"/>
                </a:solidFill>
              </a:rPr>
              <a:t>List Checker</a:t>
            </a:r>
            <a:endParaRPr lang="en-US" sz="1300" dirty="0"/>
          </a:p>
        </p:txBody>
      </p:sp>
      <p:sp>
        <p:nvSpPr>
          <p:cNvPr id="9" name="Shape 7"/>
          <p:cNvSpPr/>
          <p:nvPr/>
        </p:nvSpPr>
        <p:spPr>
          <a:xfrm>
            <a:off x="548640" y="2807208"/>
            <a:ext cx="2103120" cy="475488"/>
          </a:xfrm>
          <a:prstGeom prst="roundRect">
            <a:avLst>
              <a:gd name="adj" fmla="val 15385"/>
            </a:avLst>
          </a:prstGeom>
          <a:solidFill>
            <a:schemeClr val="bg2"/>
          </a:solidFill>
          <a:ln w="12700">
            <a:solidFill>
              <a:schemeClr val="bg2"/>
            </a:solidFill>
            <a:prstDash val="solid"/>
          </a:ln>
        </p:spPr>
      </p:sp>
      <p:sp>
        <p:nvSpPr>
          <p:cNvPr id="10" name="Shape 8"/>
          <p:cNvSpPr/>
          <p:nvPr/>
        </p:nvSpPr>
        <p:spPr>
          <a:xfrm>
            <a:off x="658368" y="2926080"/>
            <a:ext cx="237744" cy="237744"/>
          </a:xfrm>
          <a:prstGeom prst="ellipse">
            <a:avLst/>
          </a:prstGeom>
          <a:solidFill>
            <a:schemeClr val="accent1"/>
          </a:solidFill>
          <a:ln w="12700">
            <a:solidFill>
              <a:schemeClr val="accent1"/>
            </a:solidFill>
            <a:prstDash val="solid"/>
          </a:ln>
        </p:spPr>
      </p:sp>
      <p:sp>
        <p:nvSpPr>
          <p:cNvPr id="11" name="Text 9"/>
          <p:cNvSpPr txBox="1"/>
          <p:nvPr/>
        </p:nvSpPr>
        <p:spPr>
          <a:xfrm>
            <a:off x="1005840" y="2807208"/>
            <a:ext cx="1600200" cy="475488"/>
          </a:xfrm>
          <a:prstGeom prst="rect">
            <a:avLst/>
          </a:prstGeom>
          <a:noFill/>
          <a:ln/>
        </p:spPr>
        <p:txBody>
          <a:bodyPr wrap="square" lIns="0" tIns="0" rIns="0" bIns="0" rtlCol="0" anchor="ctr"/>
          <a:lstStyle/>
          <a:p>
            <a:pPr indent="0" marL="0">
              <a:buNone/>
            </a:pPr>
            <a:r>
              <a:rPr lang="en-US" sz="1300" dirty="0">
                <a:solidFill>
                  <a:schemeClr val="tx1"/>
                </a:solidFill>
              </a:rPr>
              <a:t>Fit Scorer</a:t>
            </a:r>
            <a:endParaRPr lang="en-US" sz="1300" dirty="0"/>
          </a:p>
        </p:txBody>
      </p:sp>
      <p:sp>
        <p:nvSpPr>
          <p:cNvPr id="12" name="Shape 10"/>
          <p:cNvSpPr/>
          <p:nvPr/>
        </p:nvSpPr>
        <p:spPr>
          <a:xfrm>
            <a:off x="548640" y="3374136"/>
            <a:ext cx="2103120" cy="475488"/>
          </a:xfrm>
          <a:prstGeom prst="roundRect">
            <a:avLst>
              <a:gd name="adj" fmla="val 15385"/>
            </a:avLst>
          </a:prstGeom>
          <a:solidFill>
            <a:schemeClr val="bg2"/>
          </a:solidFill>
          <a:ln w="12700">
            <a:solidFill>
              <a:schemeClr val="bg2"/>
            </a:solidFill>
            <a:prstDash val="solid"/>
          </a:ln>
        </p:spPr>
      </p:sp>
      <p:sp>
        <p:nvSpPr>
          <p:cNvPr id="13" name="Shape 11"/>
          <p:cNvSpPr/>
          <p:nvPr/>
        </p:nvSpPr>
        <p:spPr>
          <a:xfrm>
            <a:off x="658368" y="3493008"/>
            <a:ext cx="237744" cy="237744"/>
          </a:xfrm>
          <a:prstGeom prst="ellipse">
            <a:avLst/>
          </a:prstGeom>
          <a:solidFill>
            <a:schemeClr val="accent1"/>
          </a:solidFill>
          <a:ln w="12700">
            <a:solidFill>
              <a:schemeClr val="accent1"/>
            </a:solidFill>
            <a:prstDash val="solid"/>
          </a:ln>
        </p:spPr>
      </p:sp>
      <p:sp>
        <p:nvSpPr>
          <p:cNvPr id="14" name="Text 12"/>
          <p:cNvSpPr txBox="1"/>
          <p:nvPr/>
        </p:nvSpPr>
        <p:spPr>
          <a:xfrm>
            <a:off x="1005840" y="3374136"/>
            <a:ext cx="1600200" cy="475488"/>
          </a:xfrm>
          <a:prstGeom prst="rect">
            <a:avLst/>
          </a:prstGeom>
          <a:noFill/>
          <a:ln/>
        </p:spPr>
        <p:txBody>
          <a:bodyPr wrap="square" lIns="0" tIns="0" rIns="0" bIns="0" rtlCol="0" anchor="ctr"/>
          <a:lstStyle/>
          <a:p>
            <a:pPr indent="0" marL="0">
              <a:buNone/>
            </a:pPr>
            <a:r>
              <a:rPr lang="en-US" sz="1300" dirty="0">
                <a:solidFill>
                  <a:schemeClr val="tx1"/>
                </a:solidFill>
              </a:rPr>
              <a:t>Signal Reader</a:t>
            </a:r>
            <a:endParaRPr lang="en-US" sz="1300" dirty="0"/>
          </a:p>
        </p:txBody>
      </p:sp>
      <p:sp>
        <p:nvSpPr>
          <p:cNvPr id="15" name="Shape 13"/>
          <p:cNvSpPr/>
          <p:nvPr/>
        </p:nvSpPr>
        <p:spPr>
          <a:xfrm>
            <a:off x="548640" y="3941064"/>
            <a:ext cx="2103120" cy="475488"/>
          </a:xfrm>
          <a:prstGeom prst="roundRect">
            <a:avLst>
              <a:gd name="adj" fmla="val 15385"/>
            </a:avLst>
          </a:prstGeom>
          <a:solidFill>
            <a:schemeClr val="bg2"/>
          </a:solidFill>
          <a:ln w="12700">
            <a:solidFill>
              <a:schemeClr val="bg2"/>
            </a:solidFill>
            <a:prstDash val="solid"/>
          </a:ln>
        </p:spPr>
      </p:sp>
      <p:sp>
        <p:nvSpPr>
          <p:cNvPr id="16" name="Shape 14"/>
          <p:cNvSpPr/>
          <p:nvPr/>
        </p:nvSpPr>
        <p:spPr>
          <a:xfrm>
            <a:off x="658368" y="4059936"/>
            <a:ext cx="237744" cy="237744"/>
          </a:xfrm>
          <a:prstGeom prst="ellipse">
            <a:avLst/>
          </a:prstGeom>
          <a:solidFill>
            <a:schemeClr val="accent1"/>
          </a:solidFill>
          <a:ln w="12700">
            <a:solidFill>
              <a:schemeClr val="accent1"/>
            </a:solidFill>
            <a:prstDash val="solid"/>
          </a:ln>
        </p:spPr>
      </p:sp>
      <p:sp>
        <p:nvSpPr>
          <p:cNvPr id="17" name="Text 15"/>
          <p:cNvSpPr txBox="1"/>
          <p:nvPr/>
        </p:nvSpPr>
        <p:spPr>
          <a:xfrm>
            <a:off x="1005840" y="3941064"/>
            <a:ext cx="1600200" cy="475488"/>
          </a:xfrm>
          <a:prstGeom prst="rect">
            <a:avLst/>
          </a:prstGeom>
          <a:noFill/>
          <a:ln/>
        </p:spPr>
        <p:txBody>
          <a:bodyPr wrap="square" lIns="0" tIns="0" rIns="0" bIns="0" rtlCol="0" anchor="ctr"/>
          <a:lstStyle/>
          <a:p>
            <a:pPr indent="0" marL="0">
              <a:buNone/>
            </a:pPr>
            <a:r>
              <a:rPr lang="en-US" sz="1300" dirty="0">
                <a:solidFill>
                  <a:schemeClr val="tx1"/>
                </a:solidFill>
              </a:rPr>
              <a:t>Timing Scorer</a:t>
            </a:r>
            <a:endParaRPr lang="en-US" sz="1300" dirty="0"/>
          </a:p>
        </p:txBody>
      </p:sp>
      <p:sp>
        <p:nvSpPr>
          <p:cNvPr id="18" name="Shape 16"/>
          <p:cNvSpPr/>
          <p:nvPr/>
        </p:nvSpPr>
        <p:spPr>
          <a:xfrm>
            <a:off x="548640" y="4507992"/>
            <a:ext cx="2103120" cy="475488"/>
          </a:xfrm>
          <a:prstGeom prst="roundRect">
            <a:avLst>
              <a:gd name="adj" fmla="val 15385"/>
            </a:avLst>
          </a:prstGeom>
          <a:solidFill>
            <a:schemeClr val="bg2"/>
          </a:solidFill>
          <a:ln w="12700">
            <a:solidFill>
              <a:schemeClr val="bg2"/>
            </a:solidFill>
            <a:prstDash val="solid"/>
          </a:ln>
        </p:spPr>
      </p:sp>
      <p:sp>
        <p:nvSpPr>
          <p:cNvPr id="19" name="Shape 17"/>
          <p:cNvSpPr/>
          <p:nvPr/>
        </p:nvSpPr>
        <p:spPr>
          <a:xfrm>
            <a:off x="658368" y="4626864"/>
            <a:ext cx="237744" cy="237744"/>
          </a:xfrm>
          <a:prstGeom prst="ellipse">
            <a:avLst/>
          </a:prstGeom>
          <a:solidFill>
            <a:schemeClr val="accent1"/>
          </a:solidFill>
          <a:ln w="12700">
            <a:solidFill>
              <a:schemeClr val="accent1"/>
            </a:solidFill>
            <a:prstDash val="solid"/>
          </a:ln>
        </p:spPr>
      </p:sp>
      <p:sp>
        <p:nvSpPr>
          <p:cNvPr id="20" name="Text 18"/>
          <p:cNvSpPr txBox="1"/>
          <p:nvPr/>
        </p:nvSpPr>
        <p:spPr>
          <a:xfrm>
            <a:off x="1005840" y="4507992"/>
            <a:ext cx="1600200" cy="475488"/>
          </a:xfrm>
          <a:prstGeom prst="rect">
            <a:avLst/>
          </a:prstGeom>
          <a:noFill/>
          <a:ln/>
        </p:spPr>
        <p:txBody>
          <a:bodyPr wrap="square" lIns="0" tIns="0" rIns="0" bIns="0" rtlCol="0" anchor="ctr"/>
          <a:lstStyle/>
          <a:p>
            <a:pPr indent="0" marL="0">
              <a:buNone/>
            </a:pPr>
            <a:r>
              <a:rPr lang="en-US" sz="1300" dirty="0">
                <a:solidFill>
                  <a:schemeClr val="tx1"/>
                </a:solidFill>
              </a:rPr>
              <a:t>Tier Ranker</a:t>
            </a:r>
            <a:endParaRPr lang="en-US" sz="1300" dirty="0"/>
          </a:p>
        </p:txBody>
      </p:sp>
      <p:sp>
        <p:nvSpPr>
          <p:cNvPr id="21" name="Shape 19"/>
          <p:cNvSpPr/>
          <p:nvPr/>
        </p:nvSpPr>
        <p:spPr>
          <a:xfrm>
            <a:off x="2788920" y="1417320"/>
            <a:ext cx="2103120" cy="685800"/>
          </a:xfrm>
          <a:prstGeom prst="roundRect">
            <a:avLst>
              <a:gd name="adj" fmla="val 10667"/>
            </a:avLst>
          </a:prstGeom>
          <a:solidFill>
            <a:schemeClr val="tx1"/>
          </a:solidFill>
          <a:ln w="12700">
            <a:solidFill>
              <a:schemeClr val="tx1"/>
            </a:solidFill>
            <a:prstDash val="solid"/>
          </a:ln>
        </p:spPr>
      </p:sp>
      <p:sp>
        <p:nvSpPr>
          <p:cNvPr id="22" name="Text 20"/>
          <p:cNvSpPr txBox="1"/>
          <p:nvPr/>
        </p:nvSpPr>
        <p:spPr>
          <a:xfrm>
            <a:off x="2926080" y="1463040"/>
            <a:ext cx="1828800" cy="594360"/>
          </a:xfrm>
          <a:prstGeom prst="rect">
            <a:avLst/>
          </a:prstGeom>
          <a:noFill/>
          <a:ln/>
        </p:spPr>
        <p:txBody>
          <a:bodyPr wrap="square" lIns="0" tIns="0" rIns="0" bIns="0" rtlCol="0" anchor="ctr"/>
          <a:lstStyle/>
          <a:p>
            <a:pPr indent="0" marL="0">
              <a:buNone/>
            </a:pPr>
            <a:r>
              <a:rPr lang="en-US" sz="1400" b="1" dirty="0">
                <a:solidFill>
                  <a:schemeClr val="bg1"/>
                </a:solidFill>
              </a:rPr>
              <a:t>Segment and plan</a:t>
            </a:r>
            <a:endParaRPr lang="en-US" sz="1400" dirty="0"/>
          </a:p>
          <a:p>
            <a:pPr indent="0" marL="0">
              <a:buNone/>
            </a:pPr>
            <a:r>
              <a:rPr lang="en-US" sz="1200" dirty="0">
                <a:solidFill>
                  <a:schemeClr val="accent1"/>
                </a:solidFill>
              </a:rPr>
              <a:t>4 agents</a:t>
            </a:r>
            <a:endParaRPr lang="en-US" sz="1400" dirty="0"/>
          </a:p>
        </p:txBody>
      </p:sp>
      <p:sp>
        <p:nvSpPr>
          <p:cNvPr id="23" name="Shape 21"/>
          <p:cNvSpPr/>
          <p:nvPr/>
        </p:nvSpPr>
        <p:spPr>
          <a:xfrm>
            <a:off x="2788920" y="2240280"/>
            <a:ext cx="2103120" cy="475488"/>
          </a:xfrm>
          <a:prstGeom prst="roundRect">
            <a:avLst>
              <a:gd name="adj" fmla="val 15385"/>
            </a:avLst>
          </a:prstGeom>
          <a:solidFill>
            <a:schemeClr val="bg2"/>
          </a:solidFill>
          <a:ln w="12700">
            <a:solidFill>
              <a:schemeClr val="bg2"/>
            </a:solidFill>
            <a:prstDash val="solid"/>
          </a:ln>
        </p:spPr>
      </p:sp>
      <p:sp>
        <p:nvSpPr>
          <p:cNvPr id="24" name="Shape 22"/>
          <p:cNvSpPr/>
          <p:nvPr/>
        </p:nvSpPr>
        <p:spPr>
          <a:xfrm>
            <a:off x="2898648" y="2359152"/>
            <a:ext cx="237744" cy="237744"/>
          </a:xfrm>
          <a:prstGeom prst="ellipse">
            <a:avLst/>
          </a:prstGeom>
          <a:solidFill>
            <a:schemeClr val="accent1"/>
          </a:solidFill>
          <a:ln w="12700">
            <a:solidFill>
              <a:schemeClr val="accent1"/>
            </a:solidFill>
            <a:prstDash val="solid"/>
          </a:ln>
        </p:spPr>
      </p:sp>
      <p:sp>
        <p:nvSpPr>
          <p:cNvPr id="25" name="Text 23"/>
          <p:cNvSpPr txBox="1"/>
          <p:nvPr/>
        </p:nvSpPr>
        <p:spPr>
          <a:xfrm>
            <a:off x="3246120" y="2240280"/>
            <a:ext cx="1600200" cy="475488"/>
          </a:xfrm>
          <a:prstGeom prst="rect">
            <a:avLst/>
          </a:prstGeom>
          <a:noFill/>
          <a:ln/>
        </p:spPr>
        <p:txBody>
          <a:bodyPr wrap="square" lIns="0" tIns="0" rIns="0" bIns="0" rtlCol="0" anchor="ctr"/>
          <a:lstStyle/>
          <a:p>
            <a:pPr indent="0" marL="0">
              <a:buNone/>
            </a:pPr>
            <a:r>
              <a:rPr lang="en-US" sz="1300" dirty="0">
                <a:solidFill>
                  <a:schemeClr val="tx1"/>
                </a:solidFill>
              </a:rPr>
              <a:t>Segmenter</a:t>
            </a:r>
            <a:endParaRPr lang="en-US" sz="1300" dirty="0"/>
          </a:p>
        </p:txBody>
      </p:sp>
      <p:sp>
        <p:nvSpPr>
          <p:cNvPr id="26" name="Shape 24"/>
          <p:cNvSpPr/>
          <p:nvPr/>
        </p:nvSpPr>
        <p:spPr>
          <a:xfrm>
            <a:off x="2788920" y="2807208"/>
            <a:ext cx="2103120" cy="475488"/>
          </a:xfrm>
          <a:prstGeom prst="roundRect">
            <a:avLst>
              <a:gd name="adj" fmla="val 15385"/>
            </a:avLst>
          </a:prstGeom>
          <a:solidFill>
            <a:schemeClr val="bg2"/>
          </a:solidFill>
          <a:ln w="12700">
            <a:solidFill>
              <a:schemeClr val="bg2"/>
            </a:solidFill>
            <a:prstDash val="solid"/>
          </a:ln>
        </p:spPr>
      </p:sp>
      <p:sp>
        <p:nvSpPr>
          <p:cNvPr id="27" name="Shape 25"/>
          <p:cNvSpPr/>
          <p:nvPr/>
        </p:nvSpPr>
        <p:spPr>
          <a:xfrm>
            <a:off x="2898648" y="2926080"/>
            <a:ext cx="237744" cy="237744"/>
          </a:xfrm>
          <a:prstGeom prst="ellipse">
            <a:avLst/>
          </a:prstGeom>
          <a:solidFill>
            <a:schemeClr val="accent1"/>
          </a:solidFill>
          <a:ln w="12700">
            <a:solidFill>
              <a:schemeClr val="accent1"/>
            </a:solidFill>
            <a:prstDash val="solid"/>
          </a:ln>
        </p:spPr>
      </p:sp>
      <p:sp>
        <p:nvSpPr>
          <p:cNvPr id="28" name="Text 26"/>
          <p:cNvSpPr txBox="1"/>
          <p:nvPr/>
        </p:nvSpPr>
        <p:spPr>
          <a:xfrm>
            <a:off x="3246120" y="2807208"/>
            <a:ext cx="1600200" cy="475488"/>
          </a:xfrm>
          <a:prstGeom prst="rect">
            <a:avLst/>
          </a:prstGeom>
          <a:noFill/>
          <a:ln/>
        </p:spPr>
        <p:txBody>
          <a:bodyPr wrap="square" lIns="0" tIns="0" rIns="0" bIns="0" rtlCol="0" anchor="ctr"/>
          <a:lstStyle/>
          <a:p>
            <a:pPr indent="0" marL="0">
              <a:buNone/>
            </a:pPr>
            <a:r>
              <a:rPr lang="en-US" sz="1300" dirty="0">
                <a:solidFill>
                  <a:schemeClr val="tx1"/>
                </a:solidFill>
              </a:rPr>
              <a:t>Action Recommender</a:t>
            </a:r>
            <a:endParaRPr lang="en-US" sz="1300" dirty="0"/>
          </a:p>
        </p:txBody>
      </p:sp>
      <p:sp>
        <p:nvSpPr>
          <p:cNvPr id="29" name="Shape 27"/>
          <p:cNvSpPr/>
          <p:nvPr/>
        </p:nvSpPr>
        <p:spPr>
          <a:xfrm>
            <a:off x="2788920" y="3374136"/>
            <a:ext cx="2103120" cy="475488"/>
          </a:xfrm>
          <a:prstGeom prst="roundRect">
            <a:avLst>
              <a:gd name="adj" fmla="val 15385"/>
            </a:avLst>
          </a:prstGeom>
          <a:solidFill>
            <a:schemeClr val="bg2"/>
          </a:solidFill>
          <a:ln w="12700">
            <a:solidFill>
              <a:schemeClr val="bg2"/>
            </a:solidFill>
            <a:prstDash val="solid"/>
          </a:ln>
        </p:spPr>
      </p:sp>
      <p:sp>
        <p:nvSpPr>
          <p:cNvPr id="30" name="Shape 28"/>
          <p:cNvSpPr/>
          <p:nvPr/>
        </p:nvSpPr>
        <p:spPr>
          <a:xfrm>
            <a:off x="2898648" y="3493008"/>
            <a:ext cx="237744" cy="237744"/>
          </a:xfrm>
          <a:prstGeom prst="ellipse">
            <a:avLst/>
          </a:prstGeom>
          <a:solidFill>
            <a:schemeClr val="accent1"/>
          </a:solidFill>
          <a:ln w="12700">
            <a:solidFill>
              <a:schemeClr val="accent1"/>
            </a:solidFill>
            <a:prstDash val="solid"/>
          </a:ln>
        </p:spPr>
      </p:sp>
      <p:sp>
        <p:nvSpPr>
          <p:cNvPr id="31" name="Text 29"/>
          <p:cNvSpPr txBox="1"/>
          <p:nvPr/>
        </p:nvSpPr>
        <p:spPr>
          <a:xfrm>
            <a:off x="3246120" y="3374136"/>
            <a:ext cx="1600200" cy="475488"/>
          </a:xfrm>
          <a:prstGeom prst="rect">
            <a:avLst/>
          </a:prstGeom>
          <a:noFill/>
          <a:ln/>
        </p:spPr>
        <p:txBody>
          <a:bodyPr wrap="square" lIns="0" tIns="0" rIns="0" bIns="0" rtlCol="0" anchor="ctr"/>
          <a:lstStyle/>
          <a:p>
            <a:pPr indent="0" marL="0">
              <a:buNone/>
            </a:pPr>
            <a:r>
              <a:rPr lang="en-US" sz="1300" dirty="0">
                <a:solidFill>
                  <a:schemeClr val="tx1"/>
                </a:solidFill>
              </a:rPr>
              <a:t>Channel Picker</a:t>
            </a:r>
            <a:endParaRPr lang="en-US" sz="1300" dirty="0"/>
          </a:p>
        </p:txBody>
      </p:sp>
      <p:sp>
        <p:nvSpPr>
          <p:cNvPr id="32" name="Shape 30"/>
          <p:cNvSpPr/>
          <p:nvPr/>
        </p:nvSpPr>
        <p:spPr>
          <a:xfrm>
            <a:off x="2788920" y="3941064"/>
            <a:ext cx="2103120" cy="475488"/>
          </a:xfrm>
          <a:prstGeom prst="roundRect">
            <a:avLst>
              <a:gd name="adj" fmla="val 15385"/>
            </a:avLst>
          </a:prstGeom>
          <a:solidFill>
            <a:schemeClr val="bg2"/>
          </a:solidFill>
          <a:ln w="12700">
            <a:solidFill>
              <a:schemeClr val="bg2"/>
            </a:solidFill>
            <a:prstDash val="solid"/>
          </a:ln>
        </p:spPr>
      </p:sp>
      <p:sp>
        <p:nvSpPr>
          <p:cNvPr id="33" name="Shape 31"/>
          <p:cNvSpPr/>
          <p:nvPr/>
        </p:nvSpPr>
        <p:spPr>
          <a:xfrm>
            <a:off x="2898648" y="4059936"/>
            <a:ext cx="237744" cy="237744"/>
          </a:xfrm>
          <a:prstGeom prst="ellipse">
            <a:avLst/>
          </a:prstGeom>
          <a:solidFill>
            <a:schemeClr val="accent1"/>
          </a:solidFill>
          <a:ln w="12700">
            <a:solidFill>
              <a:schemeClr val="accent1"/>
            </a:solidFill>
            <a:prstDash val="solid"/>
          </a:ln>
        </p:spPr>
      </p:sp>
      <p:sp>
        <p:nvSpPr>
          <p:cNvPr id="34" name="Text 32"/>
          <p:cNvSpPr txBox="1"/>
          <p:nvPr/>
        </p:nvSpPr>
        <p:spPr>
          <a:xfrm>
            <a:off x="3246120" y="3941064"/>
            <a:ext cx="1600200" cy="475488"/>
          </a:xfrm>
          <a:prstGeom prst="rect">
            <a:avLst/>
          </a:prstGeom>
          <a:noFill/>
          <a:ln/>
        </p:spPr>
        <p:txBody>
          <a:bodyPr wrap="square" lIns="0" tIns="0" rIns="0" bIns="0" rtlCol="0" anchor="ctr"/>
          <a:lstStyle/>
          <a:p>
            <a:pPr indent="0" marL="0">
              <a:buNone/>
            </a:pPr>
            <a:r>
              <a:rPr lang="en-US" sz="1300" dirty="0">
                <a:solidFill>
                  <a:schemeClr val="tx1"/>
                </a:solidFill>
              </a:rPr>
              <a:t>Deal Sizer</a:t>
            </a:r>
            <a:endParaRPr lang="en-US" sz="1300" dirty="0"/>
          </a:p>
        </p:txBody>
      </p:sp>
      <p:sp>
        <p:nvSpPr>
          <p:cNvPr id="35" name="Shape 33"/>
          <p:cNvSpPr/>
          <p:nvPr/>
        </p:nvSpPr>
        <p:spPr>
          <a:xfrm>
            <a:off x="5029200" y="1417320"/>
            <a:ext cx="2103120" cy="685800"/>
          </a:xfrm>
          <a:prstGeom prst="roundRect">
            <a:avLst>
              <a:gd name="adj" fmla="val 10667"/>
            </a:avLst>
          </a:prstGeom>
          <a:solidFill>
            <a:schemeClr val="tx1"/>
          </a:solidFill>
          <a:ln w="12700">
            <a:solidFill>
              <a:schemeClr val="tx1"/>
            </a:solidFill>
            <a:prstDash val="solid"/>
          </a:ln>
        </p:spPr>
      </p:sp>
      <p:sp>
        <p:nvSpPr>
          <p:cNvPr id="36" name="Text 34"/>
          <p:cNvSpPr txBox="1"/>
          <p:nvPr/>
        </p:nvSpPr>
        <p:spPr>
          <a:xfrm>
            <a:off x="5166360" y="1463040"/>
            <a:ext cx="1828800" cy="594360"/>
          </a:xfrm>
          <a:prstGeom prst="rect">
            <a:avLst/>
          </a:prstGeom>
          <a:noFill/>
          <a:ln/>
        </p:spPr>
        <p:txBody>
          <a:bodyPr wrap="square" lIns="0" tIns="0" rIns="0" bIns="0" rtlCol="0" anchor="ctr"/>
          <a:lstStyle/>
          <a:p>
            <a:pPr indent="0" marL="0">
              <a:buNone/>
            </a:pPr>
            <a:r>
              <a:rPr lang="en-US" sz="1400" b="1" dirty="0">
                <a:solidFill>
                  <a:schemeClr val="bg1"/>
                </a:solidFill>
              </a:rPr>
              <a:t>Draft</a:t>
            </a:r>
            <a:endParaRPr lang="en-US" sz="1400" dirty="0"/>
          </a:p>
          <a:p>
            <a:pPr indent="0" marL="0">
              <a:buNone/>
            </a:pPr>
            <a:r>
              <a:rPr lang="en-US" sz="1200" dirty="0">
                <a:solidFill>
                  <a:schemeClr val="accent1"/>
                </a:solidFill>
              </a:rPr>
              <a:t>4 agents</a:t>
            </a:r>
            <a:endParaRPr lang="en-US" sz="1400" dirty="0"/>
          </a:p>
        </p:txBody>
      </p:sp>
      <p:sp>
        <p:nvSpPr>
          <p:cNvPr id="37" name="Shape 35"/>
          <p:cNvSpPr/>
          <p:nvPr/>
        </p:nvSpPr>
        <p:spPr>
          <a:xfrm>
            <a:off x="5029200" y="2240280"/>
            <a:ext cx="2103120" cy="475488"/>
          </a:xfrm>
          <a:prstGeom prst="roundRect">
            <a:avLst>
              <a:gd name="adj" fmla="val 15385"/>
            </a:avLst>
          </a:prstGeom>
          <a:solidFill>
            <a:schemeClr val="bg2"/>
          </a:solidFill>
          <a:ln w="12700">
            <a:solidFill>
              <a:schemeClr val="bg2"/>
            </a:solidFill>
            <a:prstDash val="solid"/>
          </a:ln>
        </p:spPr>
      </p:sp>
      <p:sp>
        <p:nvSpPr>
          <p:cNvPr id="38" name="Shape 36"/>
          <p:cNvSpPr/>
          <p:nvPr/>
        </p:nvSpPr>
        <p:spPr>
          <a:xfrm>
            <a:off x="5138928" y="2359152"/>
            <a:ext cx="237744" cy="237744"/>
          </a:xfrm>
          <a:prstGeom prst="ellipse">
            <a:avLst/>
          </a:prstGeom>
          <a:solidFill>
            <a:schemeClr val="accent1"/>
          </a:solidFill>
          <a:ln w="12700">
            <a:solidFill>
              <a:schemeClr val="accent1"/>
            </a:solidFill>
            <a:prstDash val="solid"/>
          </a:ln>
        </p:spPr>
      </p:sp>
      <p:sp>
        <p:nvSpPr>
          <p:cNvPr id="39" name="Text 37"/>
          <p:cNvSpPr txBox="1"/>
          <p:nvPr/>
        </p:nvSpPr>
        <p:spPr>
          <a:xfrm>
            <a:off x="5486400" y="2240280"/>
            <a:ext cx="1600200" cy="475488"/>
          </a:xfrm>
          <a:prstGeom prst="rect">
            <a:avLst/>
          </a:prstGeom>
          <a:noFill/>
          <a:ln/>
        </p:spPr>
        <p:txBody>
          <a:bodyPr wrap="square" lIns="0" tIns="0" rIns="0" bIns="0" rtlCol="0" anchor="ctr"/>
          <a:lstStyle/>
          <a:p>
            <a:pPr indent="0" marL="0">
              <a:buNone/>
            </a:pPr>
            <a:r>
              <a:rPr lang="en-US" sz="1300" dirty="0">
                <a:solidFill>
                  <a:schemeClr val="tx1"/>
                </a:solidFill>
              </a:rPr>
              <a:t>Brief Builder</a:t>
            </a:r>
            <a:endParaRPr lang="en-US" sz="1300" dirty="0"/>
          </a:p>
        </p:txBody>
      </p:sp>
      <p:sp>
        <p:nvSpPr>
          <p:cNvPr id="40" name="Shape 38"/>
          <p:cNvSpPr/>
          <p:nvPr/>
        </p:nvSpPr>
        <p:spPr>
          <a:xfrm>
            <a:off x="5029200" y="2807208"/>
            <a:ext cx="2103120" cy="475488"/>
          </a:xfrm>
          <a:prstGeom prst="roundRect">
            <a:avLst>
              <a:gd name="adj" fmla="val 15385"/>
            </a:avLst>
          </a:prstGeom>
          <a:solidFill>
            <a:schemeClr val="bg2"/>
          </a:solidFill>
          <a:ln w="12700">
            <a:solidFill>
              <a:schemeClr val="bg2"/>
            </a:solidFill>
            <a:prstDash val="solid"/>
          </a:ln>
        </p:spPr>
      </p:sp>
      <p:sp>
        <p:nvSpPr>
          <p:cNvPr id="41" name="Shape 39"/>
          <p:cNvSpPr/>
          <p:nvPr/>
        </p:nvSpPr>
        <p:spPr>
          <a:xfrm>
            <a:off x="5138928" y="2926080"/>
            <a:ext cx="237744" cy="237744"/>
          </a:xfrm>
          <a:prstGeom prst="ellipse">
            <a:avLst/>
          </a:prstGeom>
          <a:solidFill>
            <a:schemeClr val="accent1"/>
          </a:solidFill>
          <a:ln w="12700">
            <a:solidFill>
              <a:schemeClr val="accent1"/>
            </a:solidFill>
            <a:prstDash val="solid"/>
          </a:ln>
        </p:spPr>
      </p:sp>
      <p:sp>
        <p:nvSpPr>
          <p:cNvPr id="42" name="Text 40"/>
          <p:cNvSpPr txBox="1"/>
          <p:nvPr/>
        </p:nvSpPr>
        <p:spPr>
          <a:xfrm>
            <a:off x="5486400" y="2807208"/>
            <a:ext cx="1600200" cy="475488"/>
          </a:xfrm>
          <a:prstGeom prst="rect">
            <a:avLst/>
          </a:prstGeom>
          <a:noFill/>
          <a:ln/>
        </p:spPr>
        <p:txBody>
          <a:bodyPr wrap="square" lIns="0" tIns="0" rIns="0" bIns="0" rtlCol="0" anchor="ctr"/>
          <a:lstStyle/>
          <a:p>
            <a:pPr indent="0" marL="0">
              <a:buNone/>
            </a:pPr>
            <a:r>
              <a:rPr lang="en-US" sz="1300" dirty="0">
                <a:solidFill>
                  <a:schemeClr val="tx1"/>
                </a:solidFill>
              </a:rPr>
              <a:t>Draft Writer</a:t>
            </a:r>
            <a:endParaRPr lang="en-US" sz="1300" dirty="0"/>
          </a:p>
        </p:txBody>
      </p:sp>
      <p:sp>
        <p:nvSpPr>
          <p:cNvPr id="43" name="Shape 41"/>
          <p:cNvSpPr/>
          <p:nvPr/>
        </p:nvSpPr>
        <p:spPr>
          <a:xfrm>
            <a:off x="5029200" y="3374136"/>
            <a:ext cx="2103120" cy="475488"/>
          </a:xfrm>
          <a:prstGeom prst="roundRect">
            <a:avLst>
              <a:gd name="adj" fmla="val 15385"/>
            </a:avLst>
          </a:prstGeom>
          <a:solidFill>
            <a:schemeClr val="bg2"/>
          </a:solidFill>
          <a:ln w="12700">
            <a:solidFill>
              <a:schemeClr val="bg2"/>
            </a:solidFill>
            <a:prstDash val="solid"/>
          </a:ln>
        </p:spPr>
      </p:sp>
      <p:sp>
        <p:nvSpPr>
          <p:cNvPr id="44" name="Shape 42"/>
          <p:cNvSpPr/>
          <p:nvPr/>
        </p:nvSpPr>
        <p:spPr>
          <a:xfrm>
            <a:off x="5138928" y="3493008"/>
            <a:ext cx="237744" cy="237744"/>
          </a:xfrm>
          <a:prstGeom prst="ellipse">
            <a:avLst/>
          </a:prstGeom>
          <a:solidFill>
            <a:schemeClr val="accent1"/>
          </a:solidFill>
          <a:ln w="12700">
            <a:solidFill>
              <a:schemeClr val="accent1"/>
            </a:solidFill>
            <a:prstDash val="solid"/>
          </a:ln>
        </p:spPr>
      </p:sp>
      <p:sp>
        <p:nvSpPr>
          <p:cNvPr id="45" name="Text 43"/>
          <p:cNvSpPr txBox="1"/>
          <p:nvPr/>
        </p:nvSpPr>
        <p:spPr>
          <a:xfrm>
            <a:off x="5486400" y="3374136"/>
            <a:ext cx="1600200" cy="475488"/>
          </a:xfrm>
          <a:prstGeom prst="rect">
            <a:avLst/>
          </a:prstGeom>
          <a:noFill/>
          <a:ln/>
        </p:spPr>
        <p:txBody>
          <a:bodyPr wrap="square" lIns="0" tIns="0" rIns="0" bIns="0" rtlCol="0" anchor="ctr"/>
          <a:lstStyle/>
          <a:p>
            <a:pPr indent="0" marL="0">
              <a:buNone/>
            </a:pPr>
            <a:r>
              <a:rPr lang="en-US" sz="1300" dirty="0">
                <a:solidFill>
                  <a:schemeClr val="tx1"/>
                </a:solidFill>
              </a:rPr>
              <a:t>Claim Matcher</a:t>
            </a:r>
            <a:endParaRPr lang="en-US" sz="1300" dirty="0"/>
          </a:p>
        </p:txBody>
      </p:sp>
      <p:sp>
        <p:nvSpPr>
          <p:cNvPr id="46" name="Shape 44"/>
          <p:cNvSpPr/>
          <p:nvPr/>
        </p:nvSpPr>
        <p:spPr>
          <a:xfrm>
            <a:off x="5029200" y="3941064"/>
            <a:ext cx="2103120" cy="475488"/>
          </a:xfrm>
          <a:prstGeom prst="roundRect">
            <a:avLst>
              <a:gd name="adj" fmla="val 15385"/>
            </a:avLst>
          </a:prstGeom>
          <a:solidFill>
            <a:schemeClr val="bg2"/>
          </a:solidFill>
          <a:ln w="12700">
            <a:solidFill>
              <a:schemeClr val="bg2"/>
            </a:solidFill>
            <a:prstDash val="solid"/>
          </a:ln>
        </p:spPr>
      </p:sp>
      <p:sp>
        <p:nvSpPr>
          <p:cNvPr id="47" name="Shape 45"/>
          <p:cNvSpPr/>
          <p:nvPr/>
        </p:nvSpPr>
        <p:spPr>
          <a:xfrm>
            <a:off x="5138928" y="4059936"/>
            <a:ext cx="237744" cy="237744"/>
          </a:xfrm>
          <a:prstGeom prst="ellipse">
            <a:avLst/>
          </a:prstGeom>
          <a:solidFill>
            <a:schemeClr val="accent1"/>
          </a:solidFill>
          <a:ln w="12700">
            <a:solidFill>
              <a:schemeClr val="accent1"/>
            </a:solidFill>
            <a:prstDash val="solid"/>
          </a:ln>
        </p:spPr>
      </p:sp>
      <p:sp>
        <p:nvSpPr>
          <p:cNvPr id="48" name="Text 46"/>
          <p:cNvSpPr txBox="1"/>
          <p:nvPr/>
        </p:nvSpPr>
        <p:spPr>
          <a:xfrm>
            <a:off x="5486400" y="3941064"/>
            <a:ext cx="1600200" cy="475488"/>
          </a:xfrm>
          <a:prstGeom prst="rect">
            <a:avLst/>
          </a:prstGeom>
          <a:noFill/>
          <a:ln/>
        </p:spPr>
        <p:txBody>
          <a:bodyPr wrap="square" lIns="0" tIns="0" rIns="0" bIns="0" rtlCol="0" anchor="ctr"/>
          <a:lstStyle/>
          <a:p>
            <a:pPr indent="0" marL="0">
              <a:buNone/>
            </a:pPr>
            <a:r>
              <a:rPr lang="en-US" sz="1300" dirty="0">
                <a:solidFill>
                  <a:schemeClr val="tx1"/>
                </a:solidFill>
              </a:rPr>
              <a:t>Call Script Writer</a:t>
            </a:r>
            <a:endParaRPr lang="en-US" sz="1300" dirty="0"/>
          </a:p>
        </p:txBody>
      </p:sp>
      <p:sp>
        <p:nvSpPr>
          <p:cNvPr id="49" name="Shape 47"/>
          <p:cNvSpPr/>
          <p:nvPr/>
        </p:nvSpPr>
        <p:spPr>
          <a:xfrm>
            <a:off x="7269480" y="1417320"/>
            <a:ext cx="2103120" cy="685800"/>
          </a:xfrm>
          <a:prstGeom prst="roundRect">
            <a:avLst>
              <a:gd name="adj" fmla="val 10667"/>
            </a:avLst>
          </a:prstGeom>
          <a:solidFill>
            <a:schemeClr val="tx1"/>
          </a:solidFill>
          <a:ln w="12700">
            <a:solidFill>
              <a:schemeClr val="tx1"/>
            </a:solidFill>
            <a:prstDash val="solid"/>
          </a:ln>
        </p:spPr>
      </p:sp>
      <p:sp>
        <p:nvSpPr>
          <p:cNvPr id="50" name="Text 48"/>
          <p:cNvSpPr txBox="1"/>
          <p:nvPr/>
        </p:nvSpPr>
        <p:spPr>
          <a:xfrm>
            <a:off x="7406640" y="1463040"/>
            <a:ext cx="1828800" cy="594360"/>
          </a:xfrm>
          <a:prstGeom prst="rect">
            <a:avLst/>
          </a:prstGeom>
          <a:noFill/>
          <a:ln/>
        </p:spPr>
        <p:txBody>
          <a:bodyPr wrap="square" lIns="0" tIns="0" rIns="0" bIns="0" rtlCol="0" anchor="ctr"/>
          <a:lstStyle/>
          <a:p>
            <a:pPr indent="0" marL="0">
              <a:buNone/>
            </a:pPr>
            <a:r>
              <a:rPr lang="en-US" sz="1400" b="1" dirty="0">
                <a:solidFill>
                  <a:schemeClr val="bg1"/>
                </a:solidFill>
              </a:rPr>
              <a:t>Review and compliance</a:t>
            </a:r>
            <a:endParaRPr lang="en-US" sz="1400" dirty="0"/>
          </a:p>
          <a:p>
            <a:pPr indent="0" marL="0">
              <a:buNone/>
            </a:pPr>
            <a:r>
              <a:rPr lang="en-US" sz="1200" dirty="0">
                <a:solidFill>
                  <a:schemeClr val="accent1"/>
                </a:solidFill>
              </a:rPr>
              <a:t>4 agents</a:t>
            </a:r>
            <a:endParaRPr lang="en-US" sz="1400" dirty="0"/>
          </a:p>
        </p:txBody>
      </p:sp>
      <p:sp>
        <p:nvSpPr>
          <p:cNvPr id="51" name="Shape 49"/>
          <p:cNvSpPr/>
          <p:nvPr/>
        </p:nvSpPr>
        <p:spPr>
          <a:xfrm>
            <a:off x="7269480" y="2240280"/>
            <a:ext cx="2103120" cy="475488"/>
          </a:xfrm>
          <a:prstGeom prst="roundRect">
            <a:avLst>
              <a:gd name="adj" fmla="val 15385"/>
            </a:avLst>
          </a:prstGeom>
          <a:solidFill>
            <a:schemeClr val="bg2"/>
          </a:solidFill>
          <a:ln w="12700">
            <a:solidFill>
              <a:schemeClr val="bg2"/>
            </a:solidFill>
            <a:prstDash val="solid"/>
          </a:ln>
        </p:spPr>
      </p:sp>
      <p:sp>
        <p:nvSpPr>
          <p:cNvPr id="52" name="Shape 50"/>
          <p:cNvSpPr/>
          <p:nvPr/>
        </p:nvSpPr>
        <p:spPr>
          <a:xfrm>
            <a:off x="7379208" y="2359152"/>
            <a:ext cx="237744" cy="237744"/>
          </a:xfrm>
          <a:prstGeom prst="ellipse">
            <a:avLst/>
          </a:prstGeom>
          <a:solidFill>
            <a:schemeClr val="accent1"/>
          </a:solidFill>
          <a:ln w="12700">
            <a:solidFill>
              <a:schemeClr val="accent1"/>
            </a:solidFill>
            <a:prstDash val="solid"/>
          </a:ln>
        </p:spPr>
      </p:sp>
      <p:sp>
        <p:nvSpPr>
          <p:cNvPr id="53" name="Text 51"/>
          <p:cNvSpPr txBox="1"/>
          <p:nvPr/>
        </p:nvSpPr>
        <p:spPr>
          <a:xfrm>
            <a:off x="7726680" y="2240280"/>
            <a:ext cx="1600200" cy="475488"/>
          </a:xfrm>
          <a:prstGeom prst="rect">
            <a:avLst/>
          </a:prstGeom>
          <a:noFill/>
          <a:ln/>
        </p:spPr>
        <p:txBody>
          <a:bodyPr wrap="square" lIns="0" tIns="0" rIns="0" bIns="0" rtlCol="0" anchor="ctr"/>
          <a:lstStyle/>
          <a:p>
            <a:pPr indent="0" marL="0">
              <a:buNone/>
            </a:pPr>
            <a:r>
              <a:rPr lang="en-US" sz="1300" dirty="0">
                <a:solidFill>
                  <a:schemeClr val="tx1"/>
                </a:solidFill>
              </a:rPr>
              <a:t>Brand Checker</a:t>
            </a:r>
            <a:endParaRPr lang="en-US" sz="1300" dirty="0"/>
          </a:p>
        </p:txBody>
      </p:sp>
      <p:sp>
        <p:nvSpPr>
          <p:cNvPr id="54" name="Shape 52"/>
          <p:cNvSpPr/>
          <p:nvPr/>
        </p:nvSpPr>
        <p:spPr>
          <a:xfrm>
            <a:off x="7269480" y="2807208"/>
            <a:ext cx="2103120" cy="475488"/>
          </a:xfrm>
          <a:prstGeom prst="roundRect">
            <a:avLst>
              <a:gd name="adj" fmla="val 15385"/>
            </a:avLst>
          </a:prstGeom>
          <a:solidFill>
            <a:schemeClr val="bg2"/>
          </a:solidFill>
          <a:ln w="12700">
            <a:solidFill>
              <a:schemeClr val="bg2"/>
            </a:solidFill>
            <a:prstDash val="solid"/>
          </a:ln>
        </p:spPr>
      </p:sp>
      <p:sp>
        <p:nvSpPr>
          <p:cNvPr id="55" name="Shape 53"/>
          <p:cNvSpPr/>
          <p:nvPr/>
        </p:nvSpPr>
        <p:spPr>
          <a:xfrm>
            <a:off x="7379208" y="2926080"/>
            <a:ext cx="237744" cy="237744"/>
          </a:xfrm>
          <a:prstGeom prst="ellipse">
            <a:avLst/>
          </a:prstGeom>
          <a:solidFill>
            <a:schemeClr val="accent1"/>
          </a:solidFill>
          <a:ln w="12700">
            <a:solidFill>
              <a:schemeClr val="accent1"/>
            </a:solidFill>
            <a:prstDash val="solid"/>
          </a:ln>
        </p:spPr>
      </p:sp>
      <p:sp>
        <p:nvSpPr>
          <p:cNvPr id="56" name="Text 54"/>
          <p:cNvSpPr txBox="1"/>
          <p:nvPr/>
        </p:nvSpPr>
        <p:spPr>
          <a:xfrm>
            <a:off x="7726680" y="2807208"/>
            <a:ext cx="1600200" cy="475488"/>
          </a:xfrm>
          <a:prstGeom prst="rect">
            <a:avLst/>
          </a:prstGeom>
          <a:noFill/>
          <a:ln/>
        </p:spPr>
        <p:txBody>
          <a:bodyPr wrap="square" lIns="0" tIns="0" rIns="0" bIns="0" rtlCol="0" anchor="ctr"/>
          <a:lstStyle/>
          <a:p>
            <a:pPr indent="0" marL="0">
              <a:buNone/>
            </a:pPr>
            <a:r>
              <a:rPr lang="en-US" sz="1300" dirty="0">
                <a:solidFill>
                  <a:schemeClr val="tx1"/>
                </a:solidFill>
              </a:rPr>
              <a:t>Consent Guard</a:t>
            </a:r>
            <a:endParaRPr lang="en-US" sz="1300" dirty="0"/>
          </a:p>
        </p:txBody>
      </p:sp>
      <p:sp>
        <p:nvSpPr>
          <p:cNvPr id="57" name="Shape 55"/>
          <p:cNvSpPr/>
          <p:nvPr/>
        </p:nvSpPr>
        <p:spPr>
          <a:xfrm>
            <a:off x="7269480" y="3374136"/>
            <a:ext cx="2103120" cy="475488"/>
          </a:xfrm>
          <a:prstGeom prst="roundRect">
            <a:avLst>
              <a:gd name="adj" fmla="val 15385"/>
            </a:avLst>
          </a:prstGeom>
          <a:solidFill>
            <a:schemeClr val="bg2"/>
          </a:solidFill>
          <a:ln w="12700">
            <a:solidFill>
              <a:schemeClr val="bg2"/>
            </a:solidFill>
            <a:prstDash val="solid"/>
          </a:ln>
        </p:spPr>
      </p:sp>
      <p:sp>
        <p:nvSpPr>
          <p:cNvPr id="58" name="Shape 56"/>
          <p:cNvSpPr/>
          <p:nvPr/>
        </p:nvSpPr>
        <p:spPr>
          <a:xfrm>
            <a:off x="7379208" y="3493008"/>
            <a:ext cx="237744" cy="237744"/>
          </a:xfrm>
          <a:prstGeom prst="ellipse">
            <a:avLst/>
          </a:prstGeom>
          <a:solidFill>
            <a:schemeClr val="accent1"/>
          </a:solidFill>
          <a:ln w="12700">
            <a:solidFill>
              <a:schemeClr val="accent1"/>
            </a:solidFill>
            <a:prstDash val="solid"/>
          </a:ln>
        </p:spPr>
      </p:sp>
      <p:sp>
        <p:nvSpPr>
          <p:cNvPr id="59" name="Text 57"/>
          <p:cNvSpPr txBox="1"/>
          <p:nvPr/>
        </p:nvSpPr>
        <p:spPr>
          <a:xfrm>
            <a:off x="7726680" y="3374136"/>
            <a:ext cx="1600200" cy="475488"/>
          </a:xfrm>
          <a:prstGeom prst="rect">
            <a:avLst/>
          </a:prstGeom>
          <a:noFill/>
          <a:ln/>
        </p:spPr>
        <p:txBody>
          <a:bodyPr wrap="square" lIns="0" tIns="0" rIns="0" bIns="0" rtlCol="0" anchor="ctr"/>
          <a:lstStyle/>
          <a:p>
            <a:pPr indent="0" marL="0">
              <a:buNone/>
            </a:pPr>
            <a:r>
              <a:rPr lang="en-US" sz="1300" dirty="0">
                <a:solidFill>
                  <a:schemeClr val="tx1"/>
                </a:solidFill>
              </a:rPr>
              <a:t>Sensitive-topic Router</a:t>
            </a:r>
            <a:endParaRPr lang="en-US" sz="1300" dirty="0"/>
          </a:p>
        </p:txBody>
      </p:sp>
      <p:sp>
        <p:nvSpPr>
          <p:cNvPr id="60" name="Shape 58"/>
          <p:cNvSpPr/>
          <p:nvPr/>
        </p:nvSpPr>
        <p:spPr>
          <a:xfrm>
            <a:off x="7269480" y="3941064"/>
            <a:ext cx="2103120" cy="475488"/>
          </a:xfrm>
          <a:prstGeom prst="roundRect">
            <a:avLst>
              <a:gd name="adj" fmla="val 15385"/>
            </a:avLst>
          </a:prstGeom>
          <a:solidFill>
            <a:schemeClr val="bg2"/>
          </a:solidFill>
          <a:ln w="12700">
            <a:solidFill>
              <a:schemeClr val="bg2"/>
            </a:solidFill>
            <a:prstDash val="solid"/>
          </a:ln>
        </p:spPr>
      </p:sp>
      <p:sp>
        <p:nvSpPr>
          <p:cNvPr id="61" name="Shape 59"/>
          <p:cNvSpPr/>
          <p:nvPr/>
        </p:nvSpPr>
        <p:spPr>
          <a:xfrm>
            <a:off x="7379208" y="4059936"/>
            <a:ext cx="237744" cy="237744"/>
          </a:xfrm>
          <a:prstGeom prst="ellipse">
            <a:avLst/>
          </a:prstGeom>
          <a:solidFill>
            <a:schemeClr val="accent1"/>
          </a:solidFill>
          <a:ln w="12700">
            <a:solidFill>
              <a:schemeClr val="accent1"/>
            </a:solidFill>
            <a:prstDash val="solid"/>
          </a:ln>
        </p:spPr>
      </p:sp>
      <p:sp>
        <p:nvSpPr>
          <p:cNvPr id="62" name="Text 60"/>
          <p:cNvSpPr txBox="1"/>
          <p:nvPr/>
        </p:nvSpPr>
        <p:spPr>
          <a:xfrm>
            <a:off x="7726680" y="3941064"/>
            <a:ext cx="1600200" cy="475488"/>
          </a:xfrm>
          <a:prstGeom prst="rect">
            <a:avLst/>
          </a:prstGeom>
          <a:noFill/>
          <a:ln/>
        </p:spPr>
        <p:txBody>
          <a:bodyPr wrap="square" lIns="0" tIns="0" rIns="0" bIns="0" rtlCol="0" anchor="ctr"/>
          <a:lstStyle/>
          <a:p>
            <a:pPr indent="0" marL="0">
              <a:buNone/>
            </a:pPr>
            <a:r>
              <a:rPr lang="en-US" sz="1300" dirty="0">
                <a:solidFill>
                  <a:schemeClr val="tx1"/>
                </a:solidFill>
              </a:rPr>
              <a:t>Spot-checker</a:t>
            </a:r>
            <a:endParaRPr lang="en-US" sz="1300" dirty="0"/>
          </a:p>
        </p:txBody>
      </p:sp>
      <p:sp>
        <p:nvSpPr>
          <p:cNvPr id="63" name="Shape 61"/>
          <p:cNvSpPr/>
          <p:nvPr/>
        </p:nvSpPr>
        <p:spPr>
          <a:xfrm>
            <a:off x="9509760" y="1417320"/>
            <a:ext cx="2103120" cy="685800"/>
          </a:xfrm>
          <a:prstGeom prst="roundRect">
            <a:avLst>
              <a:gd name="adj" fmla="val 10667"/>
            </a:avLst>
          </a:prstGeom>
          <a:solidFill>
            <a:schemeClr val="tx1"/>
          </a:solidFill>
          <a:ln w="12700">
            <a:solidFill>
              <a:schemeClr val="tx1"/>
            </a:solidFill>
            <a:prstDash val="solid"/>
          </a:ln>
        </p:spPr>
      </p:sp>
      <p:sp>
        <p:nvSpPr>
          <p:cNvPr id="64" name="Text 62"/>
          <p:cNvSpPr txBox="1"/>
          <p:nvPr/>
        </p:nvSpPr>
        <p:spPr>
          <a:xfrm>
            <a:off x="9646920" y="1463040"/>
            <a:ext cx="1828800" cy="594360"/>
          </a:xfrm>
          <a:prstGeom prst="rect">
            <a:avLst/>
          </a:prstGeom>
          <a:noFill/>
          <a:ln/>
        </p:spPr>
        <p:txBody>
          <a:bodyPr wrap="square" lIns="0" tIns="0" rIns="0" bIns="0" rtlCol="0" anchor="ctr"/>
          <a:lstStyle/>
          <a:p>
            <a:pPr indent="0" marL="0">
              <a:buNone/>
            </a:pPr>
            <a:r>
              <a:rPr lang="en-US" sz="1400" b="1" dirty="0">
                <a:solidFill>
                  <a:schemeClr val="bg1"/>
                </a:solidFill>
              </a:rPr>
              <a:t>Release and measure</a:t>
            </a:r>
            <a:endParaRPr lang="en-US" sz="1400" dirty="0"/>
          </a:p>
          <a:p>
            <a:pPr indent="0" marL="0">
              <a:buNone/>
            </a:pPr>
            <a:r>
              <a:rPr lang="en-US" sz="1200" dirty="0">
                <a:solidFill>
                  <a:schemeClr val="accent1"/>
                </a:solidFill>
              </a:rPr>
              <a:t>3 agents</a:t>
            </a:r>
            <a:endParaRPr lang="en-US" sz="1400" dirty="0"/>
          </a:p>
        </p:txBody>
      </p:sp>
      <p:sp>
        <p:nvSpPr>
          <p:cNvPr id="65" name="Shape 63"/>
          <p:cNvSpPr/>
          <p:nvPr/>
        </p:nvSpPr>
        <p:spPr>
          <a:xfrm>
            <a:off x="9509760" y="2240280"/>
            <a:ext cx="2103120" cy="475488"/>
          </a:xfrm>
          <a:prstGeom prst="roundRect">
            <a:avLst>
              <a:gd name="adj" fmla="val 15385"/>
            </a:avLst>
          </a:prstGeom>
          <a:solidFill>
            <a:schemeClr val="bg2"/>
          </a:solidFill>
          <a:ln w="12700">
            <a:solidFill>
              <a:schemeClr val="bg2"/>
            </a:solidFill>
            <a:prstDash val="solid"/>
          </a:ln>
        </p:spPr>
      </p:sp>
      <p:sp>
        <p:nvSpPr>
          <p:cNvPr id="66" name="Shape 64"/>
          <p:cNvSpPr/>
          <p:nvPr/>
        </p:nvSpPr>
        <p:spPr>
          <a:xfrm>
            <a:off x="9619488" y="2359152"/>
            <a:ext cx="237744" cy="237744"/>
          </a:xfrm>
          <a:prstGeom prst="ellipse">
            <a:avLst/>
          </a:prstGeom>
          <a:solidFill>
            <a:schemeClr val="accent1"/>
          </a:solidFill>
          <a:ln w="12700">
            <a:solidFill>
              <a:schemeClr val="accent1"/>
            </a:solidFill>
            <a:prstDash val="solid"/>
          </a:ln>
        </p:spPr>
      </p:sp>
      <p:sp>
        <p:nvSpPr>
          <p:cNvPr id="67" name="Text 65"/>
          <p:cNvSpPr txBox="1"/>
          <p:nvPr/>
        </p:nvSpPr>
        <p:spPr>
          <a:xfrm>
            <a:off x="9966960" y="2240280"/>
            <a:ext cx="1600200" cy="475488"/>
          </a:xfrm>
          <a:prstGeom prst="rect">
            <a:avLst/>
          </a:prstGeom>
          <a:noFill/>
          <a:ln/>
        </p:spPr>
        <p:txBody>
          <a:bodyPr wrap="square" lIns="0" tIns="0" rIns="0" bIns="0" rtlCol="0" anchor="ctr"/>
          <a:lstStyle/>
          <a:p>
            <a:pPr indent="0" marL="0">
              <a:buNone/>
            </a:pPr>
            <a:r>
              <a:rPr lang="en-US" sz="1300" dirty="0">
                <a:solidFill>
                  <a:schemeClr val="tx1"/>
                </a:solidFill>
              </a:rPr>
              <a:t>Rep Hand-off</a:t>
            </a:r>
            <a:endParaRPr lang="en-US" sz="1300" dirty="0"/>
          </a:p>
        </p:txBody>
      </p:sp>
      <p:sp>
        <p:nvSpPr>
          <p:cNvPr id="68" name="Shape 66"/>
          <p:cNvSpPr/>
          <p:nvPr/>
        </p:nvSpPr>
        <p:spPr>
          <a:xfrm>
            <a:off x="9509760" y="2807208"/>
            <a:ext cx="2103120" cy="475488"/>
          </a:xfrm>
          <a:prstGeom prst="roundRect">
            <a:avLst>
              <a:gd name="adj" fmla="val 15385"/>
            </a:avLst>
          </a:prstGeom>
          <a:solidFill>
            <a:schemeClr val="bg2"/>
          </a:solidFill>
          <a:ln w="12700">
            <a:solidFill>
              <a:schemeClr val="bg2"/>
            </a:solidFill>
            <a:prstDash val="solid"/>
          </a:ln>
        </p:spPr>
      </p:sp>
      <p:sp>
        <p:nvSpPr>
          <p:cNvPr id="69" name="Shape 67"/>
          <p:cNvSpPr/>
          <p:nvPr/>
        </p:nvSpPr>
        <p:spPr>
          <a:xfrm>
            <a:off x="9619488" y="2926080"/>
            <a:ext cx="237744" cy="237744"/>
          </a:xfrm>
          <a:prstGeom prst="ellipse">
            <a:avLst/>
          </a:prstGeom>
          <a:solidFill>
            <a:schemeClr val="accent1"/>
          </a:solidFill>
          <a:ln w="12700">
            <a:solidFill>
              <a:schemeClr val="accent1"/>
            </a:solidFill>
            <a:prstDash val="solid"/>
          </a:ln>
        </p:spPr>
      </p:sp>
      <p:sp>
        <p:nvSpPr>
          <p:cNvPr id="70" name="Text 68"/>
          <p:cNvSpPr txBox="1"/>
          <p:nvPr/>
        </p:nvSpPr>
        <p:spPr>
          <a:xfrm>
            <a:off x="9966960" y="2807208"/>
            <a:ext cx="1600200" cy="475488"/>
          </a:xfrm>
          <a:prstGeom prst="rect">
            <a:avLst/>
          </a:prstGeom>
          <a:noFill/>
          <a:ln/>
        </p:spPr>
        <p:txBody>
          <a:bodyPr wrap="square" lIns="0" tIns="0" rIns="0" bIns="0" rtlCol="0" anchor="ctr"/>
          <a:lstStyle/>
          <a:p>
            <a:pPr indent="0" marL="0">
              <a:buNone/>
            </a:pPr>
            <a:r>
              <a:rPr lang="en-US" sz="1300" dirty="0">
                <a:solidFill>
                  <a:schemeClr val="tx1"/>
                </a:solidFill>
              </a:rPr>
              <a:t>Decision Log</a:t>
            </a:r>
            <a:endParaRPr lang="en-US" sz="1300" dirty="0"/>
          </a:p>
        </p:txBody>
      </p:sp>
      <p:sp>
        <p:nvSpPr>
          <p:cNvPr id="71" name="Shape 69"/>
          <p:cNvSpPr/>
          <p:nvPr/>
        </p:nvSpPr>
        <p:spPr>
          <a:xfrm>
            <a:off x="9509760" y="3374136"/>
            <a:ext cx="2103120" cy="475488"/>
          </a:xfrm>
          <a:prstGeom prst="roundRect">
            <a:avLst>
              <a:gd name="adj" fmla="val 15385"/>
            </a:avLst>
          </a:prstGeom>
          <a:solidFill>
            <a:schemeClr val="bg2"/>
          </a:solidFill>
          <a:ln w="12700">
            <a:solidFill>
              <a:schemeClr val="bg2"/>
            </a:solidFill>
            <a:prstDash val="solid"/>
          </a:ln>
        </p:spPr>
      </p:sp>
      <p:sp>
        <p:nvSpPr>
          <p:cNvPr id="72" name="Shape 70"/>
          <p:cNvSpPr/>
          <p:nvPr/>
        </p:nvSpPr>
        <p:spPr>
          <a:xfrm>
            <a:off x="9619488" y="3493008"/>
            <a:ext cx="237744" cy="237744"/>
          </a:xfrm>
          <a:prstGeom prst="ellipse">
            <a:avLst/>
          </a:prstGeom>
          <a:solidFill>
            <a:schemeClr val="accent1"/>
          </a:solidFill>
          <a:ln w="12700">
            <a:solidFill>
              <a:schemeClr val="accent1"/>
            </a:solidFill>
            <a:prstDash val="solid"/>
          </a:ln>
        </p:spPr>
      </p:sp>
      <p:sp>
        <p:nvSpPr>
          <p:cNvPr id="73" name="Text 71"/>
          <p:cNvSpPr txBox="1"/>
          <p:nvPr/>
        </p:nvSpPr>
        <p:spPr>
          <a:xfrm>
            <a:off x="9966960" y="3374136"/>
            <a:ext cx="1600200" cy="475488"/>
          </a:xfrm>
          <a:prstGeom prst="rect">
            <a:avLst/>
          </a:prstGeom>
          <a:noFill/>
          <a:ln/>
        </p:spPr>
        <p:txBody>
          <a:bodyPr wrap="square" lIns="0" tIns="0" rIns="0" bIns="0" rtlCol="0" anchor="ctr"/>
          <a:lstStyle/>
          <a:p>
            <a:pPr indent="0" marL="0">
              <a:buNone/>
            </a:pPr>
            <a:r>
              <a:rPr lang="en-US" sz="1300" dirty="0">
                <a:solidFill>
                  <a:schemeClr val="tx1"/>
                </a:solidFill>
              </a:rPr>
              <a:t>Metrics Reporter</a:t>
            </a:r>
            <a:endParaRPr lang="en-US" sz="1300" dirty="0"/>
          </a:p>
        </p:txBody>
      </p:sp>
      <p:sp>
        <p:nvSpPr>
          <p:cNvPr id="74" name="Shape 72"/>
          <p:cNvSpPr/>
          <p:nvPr/>
        </p:nvSpPr>
        <p:spPr>
          <a:xfrm>
            <a:off x="548640" y="5257800"/>
            <a:ext cx="11094415" cy="685800"/>
          </a:xfrm>
          <a:prstGeom prst="roundRect">
            <a:avLst>
              <a:gd name="adj" fmla="val 10667"/>
            </a:avLst>
          </a:prstGeom>
          <a:solidFill>
            <a:schemeClr val="accent5"/>
          </a:solidFill>
          <a:ln w="12700">
            <a:solidFill>
              <a:schemeClr val="accent5"/>
            </a:solidFill>
            <a:prstDash val="solid"/>
          </a:ln>
        </p:spPr>
      </p:sp>
      <p:sp>
        <p:nvSpPr>
          <p:cNvPr id="75" name="Text 73"/>
          <p:cNvSpPr txBox="1"/>
          <p:nvPr/>
        </p:nvSpPr>
        <p:spPr>
          <a:xfrm>
            <a:off x="777240" y="5303520"/>
            <a:ext cx="3108960" cy="594360"/>
          </a:xfrm>
          <a:prstGeom prst="rect">
            <a:avLst/>
          </a:prstGeom>
          <a:noFill/>
          <a:ln/>
        </p:spPr>
        <p:txBody>
          <a:bodyPr wrap="square" lIns="0" tIns="0" rIns="0" bIns="0" rtlCol="0" anchor="ctr"/>
          <a:lstStyle/>
          <a:p>
            <a:pPr indent="0" marL="0">
              <a:buNone/>
            </a:pPr>
            <a:r>
              <a:rPr lang="en-US" sz="1400" b="1" dirty="0">
                <a:solidFill>
                  <a:schemeClr val="tx1"/>
                </a:solidFill>
              </a:rPr>
              <a:t>Behind every stage: For Review</a:t>
            </a:r>
            <a:endParaRPr lang="en-US" sz="1400" dirty="0"/>
          </a:p>
          <a:p>
            <a:pPr indent="0" marL="0">
              <a:buNone/>
            </a:pPr>
            <a:r>
              <a:rPr lang="en-US" sz="1200" dirty="0">
                <a:solidFill>
                  <a:schemeClr val="tx2"/>
                </a:solidFill>
              </a:rPr>
              <a:t>People decide what the system could not</a:t>
            </a:r>
            <a:endParaRPr lang="en-US" sz="1400" dirty="0"/>
          </a:p>
        </p:txBody>
      </p:sp>
      <p:sp>
        <p:nvSpPr>
          <p:cNvPr id="76" name="Shape 74"/>
          <p:cNvSpPr/>
          <p:nvPr/>
        </p:nvSpPr>
        <p:spPr>
          <a:xfrm>
            <a:off x="3657600" y="5468112"/>
            <a:ext cx="274320" cy="274320"/>
          </a:xfrm>
          <a:prstGeom prst="ellipse">
            <a:avLst/>
          </a:prstGeom>
          <a:solidFill>
            <a:schemeClr val="accent2"/>
          </a:solidFill>
          <a:ln w="12700">
            <a:solidFill>
              <a:schemeClr val="accent2"/>
            </a:solidFill>
            <a:prstDash val="solid"/>
          </a:ln>
        </p:spPr>
      </p:sp>
      <p:sp>
        <p:nvSpPr>
          <p:cNvPr id="77" name="Text 75"/>
          <p:cNvSpPr txBox="1"/>
          <p:nvPr/>
        </p:nvSpPr>
        <p:spPr>
          <a:xfrm>
            <a:off x="4041648" y="530352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Exception queue</a:t>
            </a:r>
            <a:endParaRPr lang="en-US" sz="1400" dirty="0"/>
          </a:p>
          <a:p>
            <a:pPr indent="0" marL="0">
              <a:buNone/>
            </a:pPr>
            <a:r>
              <a:rPr lang="en-US" sz="1100" dirty="0">
                <a:solidFill>
                  <a:schemeClr val="tx2"/>
                </a:solidFill>
              </a:rPr>
              <a:t>rep's own checks</a:t>
            </a:r>
            <a:endParaRPr lang="en-US" sz="1400" dirty="0"/>
          </a:p>
        </p:txBody>
      </p:sp>
      <p:sp>
        <p:nvSpPr>
          <p:cNvPr id="78" name="Shape 76"/>
          <p:cNvSpPr/>
          <p:nvPr/>
        </p:nvSpPr>
        <p:spPr>
          <a:xfrm>
            <a:off x="6355080" y="5468112"/>
            <a:ext cx="274320" cy="274320"/>
          </a:xfrm>
          <a:prstGeom prst="ellipse">
            <a:avLst/>
          </a:prstGeom>
          <a:solidFill>
            <a:schemeClr val="accent2"/>
          </a:solidFill>
          <a:ln w="12700">
            <a:solidFill>
              <a:schemeClr val="accent2"/>
            </a:solidFill>
            <a:prstDash val="solid"/>
          </a:ln>
        </p:spPr>
      </p:sp>
      <p:sp>
        <p:nvSpPr>
          <p:cNvPr id="79" name="Text 77"/>
          <p:cNvSpPr txBox="1"/>
          <p:nvPr/>
        </p:nvSpPr>
        <p:spPr>
          <a:xfrm>
            <a:off x="6739128" y="530352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Approvals</a:t>
            </a:r>
            <a:endParaRPr lang="en-US" sz="1400" dirty="0"/>
          </a:p>
          <a:p>
            <a:pPr indent="0" marL="0">
              <a:buNone/>
            </a:pPr>
            <a:r>
              <a:rPr lang="en-US" sz="1100" dirty="0">
                <a:solidFill>
                  <a:schemeClr val="tx2"/>
                </a:solidFill>
              </a:rPr>
              <a:t>sensitive items, sales manager</a:t>
            </a:r>
            <a:endParaRPr lang="en-US" sz="1400" dirty="0"/>
          </a:p>
        </p:txBody>
      </p:sp>
      <p:sp>
        <p:nvSpPr>
          <p:cNvPr id="80" name="Shape 78"/>
          <p:cNvSpPr/>
          <p:nvPr/>
        </p:nvSpPr>
        <p:spPr>
          <a:xfrm>
            <a:off x="9052560" y="5468112"/>
            <a:ext cx="274320" cy="274320"/>
          </a:xfrm>
          <a:prstGeom prst="ellipse">
            <a:avLst/>
          </a:prstGeom>
          <a:solidFill>
            <a:schemeClr val="accent2"/>
          </a:solidFill>
          <a:ln w="12700">
            <a:solidFill>
              <a:schemeClr val="accent2"/>
            </a:solidFill>
            <a:prstDash val="solid"/>
          </a:ln>
        </p:spPr>
      </p:sp>
      <p:sp>
        <p:nvSpPr>
          <p:cNvPr id="81" name="Text 79"/>
          <p:cNvSpPr txBox="1"/>
          <p:nvPr/>
        </p:nvSpPr>
        <p:spPr>
          <a:xfrm>
            <a:off x="9436608" y="5303520"/>
            <a:ext cx="2286000" cy="594360"/>
          </a:xfrm>
          <a:prstGeom prst="rect">
            <a:avLst/>
          </a:prstGeom>
          <a:noFill/>
          <a:ln/>
        </p:spPr>
        <p:txBody>
          <a:bodyPr wrap="square" lIns="0" tIns="0" rIns="0" bIns="0" rtlCol="0" anchor="ctr"/>
          <a:lstStyle/>
          <a:p>
            <a:pPr indent="0" marL="0">
              <a:buNone/>
            </a:pPr>
            <a:r>
              <a:rPr lang="en-US" sz="1400" b="1" dirty="0">
                <a:solidFill>
                  <a:schemeClr val="tx1"/>
                </a:solidFill>
              </a:rPr>
              <a:t>Weekly spot-check</a:t>
            </a:r>
            <a:endParaRPr lang="en-US" sz="1400" dirty="0"/>
          </a:p>
          <a:p>
            <a:pPr indent="0" marL="0">
              <a:buNone/>
            </a:pPr>
            <a:r>
              <a:rPr lang="en-US" sz="1100" dirty="0">
                <a:solidFill>
                  <a:schemeClr val="tx2"/>
                </a:solidFill>
              </a:rPr>
              <a:t>about 20% of released items</a:t>
            </a:r>
            <a:endParaRPr lang="en-US" sz="1400" dirty="0"/>
          </a:p>
        </p:txBody>
      </p:sp>
      <p:sp>
        <p:nvSpPr>
          <p:cNvPr id="82" name="Text 80"/>
          <p:cNvSpPr txBox="1"/>
          <p:nvPr/>
        </p:nvSpPr>
        <p:spPr>
          <a:xfrm>
            <a:off x="548640" y="6053328"/>
            <a:ext cx="6400800" cy="274320"/>
          </a:xfrm>
          <a:prstGeom prst="rect">
            <a:avLst/>
          </a:prstGeom>
          <a:noFill/>
          <a:ln/>
        </p:spPr>
        <p:txBody>
          <a:bodyPr wrap="square" lIns="0" tIns="0" rIns="0" bIns="0" rtlCol="0" anchor="t"/>
          <a:lstStyle/>
          <a:p>
            <a:pPr indent="0" marL="0">
              <a:buNone/>
            </a:pPr>
            <a:r>
              <a:rPr lang="en-US" sz="1300" i="1" dirty="0">
                <a:solidFill>
                  <a:schemeClr val="tx2"/>
                </a:solidFill>
              </a:rPr>
              <a:t>Agents prepare the work. Your team makes every decision.</a:t>
            </a:r>
            <a:endParaRPr lang="en-US" sz="13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THE FLOW</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Understanding the demand process</a:t>
            </a:r>
            <a:endParaRPr lang="en-US" sz="2800" dirty="0"/>
          </a:p>
        </p:txBody>
      </p:sp>
      <p:sp>
        <p:nvSpPr>
          <p:cNvPr id="4" name="Text 2"/>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PROSPECT &amp; ACCOUNT SCORING</a:t>
            </a:r>
            <a:endParaRPr lang="en-US" sz="1200" dirty="0"/>
          </a:p>
        </p:txBody>
      </p:sp>
      <p:sp>
        <p:nvSpPr>
          <p:cNvPr id="5" name="Shape 3"/>
          <p:cNvSpPr/>
          <p:nvPr/>
        </p:nvSpPr>
        <p:spPr>
          <a:xfrm>
            <a:off x="548640" y="1783080"/>
            <a:ext cx="3657600" cy="914400"/>
          </a:xfrm>
          <a:prstGeom prst="homePlate">
            <a:avLst/>
          </a:prstGeom>
          <a:solidFill>
            <a:schemeClr val="accent5"/>
          </a:solidFill>
          <a:ln w="12700">
            <a:solidFill>
              <a:schemeClr val="accent5"/>
            </a:solidFill>
            <a:prstDash val="solid"/>
          </a:ln>
        </p:spPr>
      </p:sp>
      <p:sp>
        <p:nvSpPr>
          <p:cNvPr id="6" name="Shape 4"/>
          <p:cNvSpPr/>
          <p:nvPr/>
        </p:nvSpPr>
        <p:spPr>
          <a:xfrm>
            <a:off x="713232" y="2066544"/>
            <a:ext cx="347472" cy="347472"/>
          </a:xfrm>
          <a:prstGeom prst="ellipse">
            <a:avLst/>
          </a:prstGeom>
          <a:solidFill>
            <a:schemeClr val="accent1"/>
          </a:solidFill>
          <a:ln w="12700">
            <a:solidFill>
              <a:schemeClr val="accent1"/>
            </a:solidFill>
            <a:prstDash val="solid"/>
          </a:ln>
        </p:spPr>
      </p:sp>
      <p:sp>
        <p:nvSpPr>
          <p:cNvPr id="7" name="Text 5"/>
          <p:cNvSpPr txBox="1"/>
          <p:nvPr/>
        </p:nvSpPr>
        <p:spPr>
          <a:xfrm>
            <a:off x="713232" y="2066544"/>
            <a:ext cx="347472" cy="347472"/>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Text 6"/>
          <p:cNvSpPr txBox="1"/>
          <p:nvPr/>
        </p:nvSpPr>
        <p:spPr>
          <a:xfrm>
            <a:off x="1143000" y="1783080"/>
            <a:ext cx="2788920" cy="914400"/>
          </a:xfrm>
          <a:prstGeom prst="rect">
            <a:avLst/>
          </a:prstGeom>
          <a:noFill/>
          <a:ln/>
        </p:spPr>
        <p:txBody>
          <a:bodyPr wrap="square" lIns="0" tIns="0" rIns="0" bIns="0" rtlCol="0" anchor="ctr"/>
          <a:lstStyle/>
          <a:p>
            <a:pPr indent="0" marL="0">
              <a:buNone/>
            </a:pPr>
            <a:r>
              <a:rPr lang="en-US" sz="1300" b="1" dirty="0">
                <a:solidFill>
                  <a:schemeClr val="tx1"/>
                </a:solidFill>
              </a:rPr>
              <a:t>Prospect list upload</a:t>
            </a:r>
            <a:endParaRPr lang="en-US" sz="1300" dirty="0"/>
          </a:p>
        </p:txBody>
      </p:sp>
      <p:sp>
        <p:nvSpPr>
          <p:cNvPr id="9" name="Shape 7"/>
          <p:cNvSpPr/>
          <p:nvPr/>
        </p:nvSpPr>
        <p:spPr>
          <a:xfrm>
            <a:off x="4279392" y="1783080"/>
            <a:ext cx="3657600" cy="914400"/>
          </a:xfrm>
          <a:prstGeom prst="chevron">
            <a:avLst/>
          </a:prstGeom>
          <a:solidFill>
            <a:schemeClr val="accent5"/>
          </a:solidFill>
          <a:ln w="12700">
            <a:solidFill>
              <a:schemeClr val="accent5"/>
            </a:solidFill>
            <a:prstDash val="solid"/>
          </a:ln>
        </p:spPr>
      </p:sp>
      <p:sp>
        <p:nvSpPr>
          <p:cNvPr id="10" name="Shape 8"/>
          <p:cNvSpPr/>
          <p:nvPr/>
        </p:nvSpPr>
        <p:spPr>
          <a:xfrm>
            <a:off x="4626864" y="2066544"/>
            <a:ext cx="347472" cy="347472"/>
          </a:xfrm>
          <a:prstGeom prst="ellipse">
            <a:avLst/>
          </a:prstGeom>
          <a:solidFill>
            <a:schemeClr val="accent1"/>
          </a:solidFill>
          <a:ln w="12700">
            <a:solidFill>
              <a:schemeClr val="accent1"/>
            </a:solidFill>
            <a:prstDash val="solid"/>
          </a:ln>
        </p:spPr>
      </p:sp>
      <p:sp>
        <p:nvSpPr>
          <p:cNvPr id="11" name="Text 9"/>
          <p:cNvSpPr txBox="1"/>
          <p:nvPr/>
        </p:nvSpPr>
        <p:spPr>
          <a:xfrm>
            <a:off x="4626864" y="2066544"/>
            <a:ext cx="347472" cy="347472"/>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2" name="Text 10"/>
          <p:cNvSpPr txBox="1"/>
          <p:nvPr/>
        </p:nvSpPr>
        <p:spPr>
          <a:xfrm>
            <a:off x="5056632" y="1783080"/>
            <a:ext cx="2514600" cy="914400"/>
          </a:xfrm>
          <a:prstGeom prst="rect">
            <a:avLst/>
          </a:prstGeom>
          <a:noFill/>
          <a:ln/>
        </p:spPr>
        <p:txBody>
          <a:bodyPr wrap="square" lIns="0" tIns="0" rIns="0" bIns="0" rtlCol="0" anchor="ctr"/>
          <a:lstStyle/>
          <a:p>
            <a:pPr indent="0" marL="0">
              <a:buNone/>
            </a:pPr>
            <a:r>
              <a:rPr lang="en-US" sz="1300" b="1" dirty="0">
                <a:solidFill>
                  <a:schemeClr val="tx1"/>
                </a:solidFill>
              </a:rPr>
              <a:t>Account fit scoring</a:t>
            </a:r>
            <a:endParaRPr lang="en-US" sz="1300" dirty="0"/>
          </a:p>
        </p:txBody>
      </p:sp>
      <p:sp>
        <p:nvSpPr>
          <p:cNvPr id="13" name="Shape 11"/>
          <p:cNvSpPr/>
          <p:nvPr/>
        </p:nvSpPr>
        <p:spPr>
          <a:xfrm>
            <a:off x="8010144" y="1783080"/>
            <a:ext cx="3657600" cy="914400"/>
          </a:xfrm>
          <a:prstGeom prst="chevron">
            <a:avLst/>
          </a:prstGeom>
          <a:solidFill>
            <a:schemeClr val="accent5"/>
          </a:solidFill>
          <a:ln w="12700">
            <a:solidFill>
              <a:schemeClr val="accent5"/>
            </a:solidFill>
            <a:prstDash val="solid"/>
          </a:ln>
        </p:spPr>
      </p:sp>
      <p:sp>
        <p:nvSpPr>
          <p:cNvPr id="14" name="Shape 12"/>
          <p:cNvSpPr/>
          <p:nvPr/>
        </p:nvSpPr>
        <p:spPr>
          <a:xfrm>
            <a:off x="8357616" y="2066544"/>
            <a:ext cx="347472" cy="347472"/>
          </a:xfrm>
          <a:prstGeom prst="ellipse">
            <a:avLst/>
          </a:prstGeom>
          <a:solidFill>
            <a:schemeClr val="accent1"/>
          </a:solidFill>
          <a:ln w="12700">
            <a:solidFill>
              <a:schemeClr val="accent1"/>
            </a:solidFill>
            <a:prstDash val="solid"/>
          </a:ln>
        </p:spPr>
      </p:sp>
      <p:sp>
        <p:nvSpPr>
          <p:cNvPr id="15" name="Text 13"/>
          <p:cNvSpPr txBox="1"/>
          <p:nvPr/>
        </p:nvSpPr>
        <p:spPr>
          <a:xfrm>
            <a:off x="8357616" y="2066544"/>
            <a:ext cx="347472" cy="347472"/>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6" name="Text 14"/>
          <p:cNvSpPr txBox="1"/>
          <p:nvPr/>
        </p:nvSpPr>
        <p:spPr>
          <a:xfrm>
            <a:off x="8787384" y="1783080"/>
            <a:ext cx="2514600" cy="914400"/>
          </a:xfrm>
          <a:prstGeom prst="rect">
            <a:avLst/>
          </a:prstGeom>
          <a:noFill/>
          <a:ln/>
        </p:spPr>
        <p:txBody>
          <a:bodyPr wrap="square" lIns="0" tIns="0" rIns="0" bIns="0" rtlCol="0" anchor="ctr"/>
          <a:lstStyle/>
          <a:p>
            <a:pPr indent="0" marL="0">
              <a:buNone/>
            </a:pPr>
            <a:r>
              <a:rPr lang="en-US" sz="1300" b="1" dirty="0">
                <a:solidFill>
                  <a:schemeClr val="tx1"/>
                </a:solidFill>
              </a:rPr>
              <a:t>Signal upload &amp; tiering</a:t>
            </a:r>
            <a:endParaRPr lang="en-US" sz="1300" dirty="0"/>
          </a:p>
        </p:txBody>
      </p:sp>
      <p:sp>
        <p:nvSpPr>
          <p:cNvPr id="17" name="Text 15"/>
          <p:cNvSpPr txBox="1"/>
          <p:nvPr/>
        </p:nvSpPr>
        <p:spPr>
          <a:xfrm>
            <a:off x="548640" y="3154680"/>
            <a:ext cx="64008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MICRO-SEGMENTS, NEXT BEST ACTION &amp; FOR REVIEW</a:t>
            </a:r>
            <a:endParaRPr lang="en-US" sz="1200" dirty="0"/>
          </a:p>
        </p:txBody>
      </p:sp>
      <p:sp>
        <p:nvSpPr>
          <p:cNvPr id="18" name="Shape 16"/>
          <p:cNvSpPr/>
          <p:nvPr/>
        </p:nvSpPr>
        <p:spPr>
          <a:xfrm>
            <a:off x="548640" y="3520440"/>
            <a:ext cx="1517904" cy="685800"/>
          </a:xfrm>
          <a:prstGeom prst="homePlate">
            <a:avLst/>
          </a:prstGeom>
          <a:solidFill>
            <a:schemeClr val="tx1"/>
          </a:solidFill>
          <a:ln w="12700">
            <a:solidFill>
              <a:schemeClr val="tx1"/>
            </a:solidFill>
            <a:prstDash val="solid"/>
          </a:ln>
        </p:spPr>
      </p:sp>
      <p:sp>
        <p:nvSpPr>
          <p:cNvPr id="19" name="Shape 17"/>
          <p:cNvSpPr/>
          <p:nvPr/>
        </p:nvSpPr>
        <p:spPr>
          <a:xfrm>
            <a:off x="1005840" y="3685032"/>
            <a:ext cx="365760" cy="365760"/>
          </a:xfrm>
          <a:prstGeom prst="ellipse">
            <a:avLst/>
          </a:prstGeom>
          <a:solidFill>
            <a:schemeClr val="accent1"/>
          </a:solidFill>
          <a:ln w="12700">
            <a:solidFill>
              <a:schemeClr val="accent1"/>
            </a:solidFill>
            <a:prstDash val="solid"/>
          </a:ln>
        </p:spPr>
      </p:sp>
      <p:sp>
        <p:nvSpPr>
          <p:cNvPr id="20" name="Text 18"/>
          <p:cNvSpPr txBox="1"/>
          <p:nvPr/>
        </p:nvSpPr>
        <p:spPr>
          <a:xfrm>
            <a:off x="1005840"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1" name="Text 19"/>
          <p:cNvSpPr txBox="1"/>
          <p:nvPr/>
        </p:nvSpPr>
        <p:spPr>
          <a:xfrm>
            <a:off x="594360"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Hand-off of tier A and B</a:t>
            </a:r>
            <a:endParaRPr lang="en-US" sz="1300" dirty="0"/>
          </a:p>
        </p:txBody>
      </p:sp>
      <p:sp>
        <p:nvSpPr>
          <p:cNvPr id="22" name="Shape 20"/>
          <p:cNvSpPr/>
          <p:nvPr/>
        </p:nvSpPr>
        <p:spPr>
          <a:xfrm>
            <a:off x="2139696" y="3520440"/>
            <a:ext cx="1517904" cy="685800"/>
          </a:xfrm>
          <a:prstGeom prst="chevron">
            <a:avLst/>
          </a:prstGeom>
          <a:solidFill>
            <a:schemeClr val="tx1"/>
          </a:solidFill>
          <a:ln w="12700">
            <a:solidFill>
              <a:schemeClr val="tx1"/>
            </a:solidFill>
            <a:prstDash val="solid"/>
          </a:ln>
        </p:spPr>
      </p:sp>
      <p:sp>
        <p:nvSpPr>
          <p:cNvPr id="23" name="Shape 21"/>
          <p:cNvSpPr/>
          <p:nvPr/>
        </p:nvSpPr>
        <p:spPr>
          <a:xfrm>
            <a:off x="2706624" y="3685032"/>
            <a:ext cx="365760" cy="365760"/>
          </a:xfrm>
          <a:prstGeom prst="ellipse">
            <a:avLst/>
          </a:prstGeom>
          <a:solidFill>
            <a:schemeClr val="accent1"/>
          </a:solidFill>
          <a:ln w="12700">
            <a:solidFill>
              <a:schemeClr val="accent1"/>
            </a:solidFill>
            <a:prstDash val="solid"/>
          </a:ln>
        </p:spPr>
      </p:sp>
      <p:sp>
        <p:nvSpPr>
          <p:cNvPr id="24" name="Text 22"/>
          <p:cNvSpPr txBox="1"/>
          <p:nvPr/>
        </p:nvSpPr>
        <p:spPr>
          <a:xfrm>
            <a:off x="2706624"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5" name="Text 23"/>
          <p:cNvSpPr txBox="1"/>
          <p:nvPr/>
        </p:nvSpPr>
        <p:spPr>
          <a:xfrm>
            <a:off x="2185416"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Micro-segmentation</a:t>
            </a:r>
            <a:endParaRPr lang="en-US" sz="1300" dirty="0"/>
          </a:p>
        </p:txBody>
      </p:sp>
      <p:sp>
        <p:nvSpPr>
          <p:cNvPr id="26" name="Shape 24"/>
          <p:cNvSpPr/>
          <p:nvPr/>
        </p:nvSpPr>
        <p:spPr>
          <a:xfrm>
            <a:off x="3730752" y="3520440"/>
            <a:ext cx="1517904" cy="685800"/>
          </a:xfrm>
          <a:prstGeom prst="chevron">
            <a:avLst/>
          </a:prstGeom>
          <a:solidFill>
            <a:schemeClr val="tx1"/>
          </a:solidFill>
          <a:ln w="12700">
            <a:solidFill>
              <a:schemeClr val="tx1"/>
            </a:solidFill>
            <a:prstDash val="solid"/>
          </a:ln>
        </p:spPr>
      </p:sp>
      <p:sp>
        <p:nvSpPr>
          <p:cNvPr id="27" name="Shape 25"/>
          <p:cNvSpPr/>
          <p:nvPr/>
        </p:nvSpPr>
        <p:spPr>
          <a:xfrm>
            <a:off x="4297680" y="3685032"/>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4297680"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29" name="Text 27"/>
          <p:cNvSpPr txBox="1"/>
          <p:nvPr/>
        </p:nvSpPr>
        <p:spPr>
          <a:xfrm>
            <a:off x="3776472"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Next best action</a:t>
            </a:r>
            <a:endParaRPr lang="en-US" sz="1300" dirty="0"/>
          </a:p>
        </p:txBody>
      </p:sp>
      <p:sp>
        <p:nvSpPr>
          <p:cNvPr id="30" name="Shape 28"/>
          <p:cNvSpPr/>
          <p:nvPr/>
        </p:nvSpPr>
        <p:spPr>
          <a:xfrm>
            <a:off x="5321808" y="3520440"/>
            <a:ext cx="1517904" cy="685800"/>
          </a:xfrm>
          <a:prstGeom prst="chevron">
            <a:avLst/>
          </a:prstGeom>
          <a:solidFill>
            <a:schemeClr val="tx1"/>
          </a:solidFill>
          <a:ln w="12700">
            <a:solidFill>
              <a:schemeClr val="tx1"/>
            </a:solidFill>
            <a:prstDash val="solid"/>
          </a:ln>
        </p:spPr>
      </p:sp>
      <p:sp>
        <p:nvSpPr>
          <p:cNvPr id="31" name="Shape 29"/>
          <p:cNvSpPr/>
          <p:nvPr/>
        </p:nvSpPr>
        <p:spPr>
          <a:xfrm>
            <a:off x="5888736" y="3685032"/>
            <a:ext cx="365760" cy="365760"/>
          </a:xfrm>
          <a:prstGeom prst="ellipse">
            <a:avLst/>
          </a:prstGeom>
          <a:solidFill>
            <a:schemeClr val="accent1"/>
          </a:solidFill>
          <a:ln w="12700">
            <a:solidFill>
              <a:schemeClr val="accent1"/>
            </a:solidFill>
            <a:prstDash val="solid"/>
          </a:ln>
        </p:spPr>
      </p:sp>
      <p:sp>
        <p:nvSpPr>
          <p:cNvPr id="32" name="Text 30"/>
          <p:cNvSpPr txBox="1"/>
          <p:nvPr/>
        </p:nvSpPr>
        <p:spPr>
          <a:xfrm>
            <a:off x="5888736"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33" name="Text 31"/>
          <p:cNvSpPr txBox="1"/>
          <p:nvPr/>
        </p:nvSpPr>
        <p:spPr>
          <a:xfrm>
            <a:off x="5367528"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Draft &amp; checks</a:t>
            </a:r>
            <a:endParaRPr lang="en-US" sz="1300" dirty="0"/>
          </a:p>
        </p:txBody>
      </p:sp>
      <p:sp>
        <p:nvSpPr>
          <p:cNvPr id="34" name="Shape 32"/>
          <p:cNvSpPr/>
          <p:nvPr/>
        </p:nvSpPr>
        <p:spPr>
          <a:xfrm>
            <a:off x="6912864" y="3520440"/>
            <a:ext cx="1517904" cy="685800"/>
          </a:xfrm>
          <a:prstGeom prst="chevron">
            <a:avLst/>
          </a:prstGeom>
          <a:solidFill>
            <a:schemeClr val="accent2"/>
          </a:solidFill>
          <a:ln w="12700">
            <a:solidFill>
              <a:schemeClr val="accent2"/>
            </a:solidFill>
            <a:prstDash val="solid"/>
          </a:ln>
        </p:spPr>
      </p:sp>
      <p:sp>
        <p:nvSpPr>
          <p:cNvPr id="35" name="Shape 33"/>
          <p:cNvSpPr/>
          <p:nvPr/>
        </p:nvSpPr>
        <p:spPr>
          <a:xfrm>
            <a:off x="7479792" y="3685032"/>
            <a:ext cx="365760" cy="365760"/>
          </a:xfrm>
          <a:prstGeom prst="ellipse">
            <a:avLst/>
          </a:prstGeom>
          <a:solidFill>
            <a:schemeClr val="accent1"/>
          </a:solidFill>
          <a:ln w="12700">
            <a:solidFill>
              <a:schemeClr val="accent1"/>
            </a:solidFill>
            <a:prstDash val="solid"/>
          </a:ln>
        </p:spPr>
      </p:sp>
      <p:sp>
        <p:nvSpPr>
          <p:cNvPr id="36" name="Text 34"/>
          <p:cNvSpPr txBox="1"/>
          <p:nvPr/>
        </p:nvSpPr>
        <p:spPr>
          <a:xfrm>
            <a:off x="7479792"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37" name="Text 35"/>
          <p:cNvSpPr txBox="1"/>
          <p:nvPr/>
        </p:nvSpPr>
        <p:spPr>
          <a:xfrm>
            <a:off x="6958584"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For Review</a:t>
            </a:r>
            <a:endParaRPr lang="en-US" sz="1300" dirty="0"/>
          </a:p>
        </p:txBody>
      </p:sp>
      <p:sp>
        <p:nvSpPr>
          <p:cNvPr id="38" name="Shape 36"/>
          <p:cNvSpPr/>
          <p:nvPr/>
        </p:nvSpPr>
        <p:spPr>
          <a:xfrm>
            <a:off x="8503920" y="3520440"/>
            <a:ext cx="1517904" cy="685800"/>
          </a:xfrm>
          <a:prstGeom prst="chevron">
            <a:avLst/>
          </a:prstGeom>
          <a:solidFill>
            <a:schemeClr val="tx1"/>
          </a:solidFill>
          <a:ln w="12700">
            <a:solidFill>
              <a:schemeClr val="tx1"/>
            </a:solidFill>
            <a:prstDash val="solid"/>
          </a:ln>
        </p:spPr>
      </p:sp>
      <p:sp>
        <p:nvSpPr>
          <p:cNvPr id="39" name="Shape 37"/>
          <p:cNvSpPr/>
          <p:nvPr/>
        </p:nvSpPr>
        <p:spPr>
          <a:xfrm>
            <a:off x="9070848" y="3685032"/>
            <a:ext cx="365760" cy="365760"/>
          </a:xfrm>
          <a:prstGeom prst="ellipse">
            <a:avLst/>
          </a:prstGeom>
          <a:solidFill>
            <a:schemeClr val="accent1"/>
          </a:solidFill>
          <a:ln w="12700">
            <a:solidFill>
              <a:schemeClr val="accent1"/>
            </a:solidFill>
            <a:prstDash val="solid"/>
          </a:ln>
        </p:spPr>
      </p:sp>
      <p:sp>
        <p:nvSpPr>
          <p:cNvPr id="40" name="Text 38"/>
          <p:cNvSpPr txBox="1"/>
          <p:nvPr/>
        </p:nvSpPr>
        <p:spPr>
          <a:xfrm>
            <a:off x="9070848"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41" name="Text 39"/>
          <p:cNvSpPr txBox="1"/>
          <p:nvPr/>
        </p:nvSpPr>
        <p:spPr>
          <a:xfrm>
            <a:off x="8549640"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Release to reps</a:t>
            </a:r>
            <a:endParaRPr lang="en-US" sz="1300" dirty="0"/>
          </a:p>
        </p:txBody>
      </p:sp>
      <p:sp>
        <p:nvSpPr>
          <p:cNvPr id="42" name="Shape 40"/>
          <p:cNvSpPr/>
          <p:nvPr/>
        </p:nvSpPr>
        <p:spPr>
          <a:xfrm>
            <a:off x="10094976" y="3520440"/>
            <a:ext cx="1517904" cy="685800"/>
          </a:xfrm>
          <a:prstGeom prst="chevron">
            <a:avLst/>
          </a:prstGeom>
          <a:solidFill>
            <a:schemeClr val="tx1"/>
          </a:solidFill>
          <a:ln w="12700">
            <a:solidFill>
              <a:schemeClr val="tx1"/>
            </a:solidFill>
            <a:prstDash val="solid"/>
          </a:ln>
        </p:spPr>
      </p:sp>
      <p:sp>
        <p:nvSpPr>
          <p:cNvPr id="43" name="Shape 41"/>
          <p:cNvSpPr/>
          <p:nvPr/>
        </p:nvSpPr>
        <p:spPr>
          <a:xfrm>
            <a:off x="10661904" y="3685032"/>
            <a:ext cx="365760" cy="365760"/>
          </a:xfrm>
          <a:prstGeom prst="ellipse">
            <a:avLst/>
          </a:prstGeom>
          <a:solidFill>
            <a:schemeClr val="accent1"/>
          </a:solidFill>
          <a:ln w="12700">
            <a:solidFill>
              <a:schemeClr val="accent1"/>
            </a:solidFill>
            <a:prstDash val="solid"/>
          </a:ln>
        </p:spPr>
      </p:sp>
      <p:sp>
        <p:nvSpPr>
          <p:cNvPr id="44" name="Text 42"/>
          <p:cNvSpPr txBox="1"/>
          <p:nvPr/>
        </p:nvSpPr>
        <p:spPr>
          <a:xfrm>
            <a:off x="10661904" y="3685032"/>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45" name="Text 43"/>
          <p:cNvSpPr txBox="1"/>
          <p:nvPr/>
        </p:nvSpPr>
        <p:spPr>
          <a:xfrm>
            <a:off x="10140696" y="4297680"/>
            <a:ext cx="1417320" cy="548640"/>
          </a:xfrm>
          <a:prstGeom prst="rect">
            <a:avLst/>
          </a:prstGeom>
          <a:noFill/>
          <a:ln/>
        </p:spPr>
        <p:txBody>
          <a:bodyPr wrap="square" lIns="0" tIns="0" rIns="0" bIns="0" rtlCol="0" anchor="t"/>
          <a:lstStyle/>
          <a:p>
            <a:pPr algn="ctr" indent="0" marL="0">
              <a:buNone/>
            </a:pPr>
            <a:r>
              <a:rPr lang="en-US" sz="1300" b="1" dirty="0">
                <a:solidFill>
                  <a:schemeClr val="tx1"/>
                </a:solidFill>
              </a:rPr>
              <a:t>Analytics: G1 and G2</a:t>
            </a:r>
            <a:endParaRPr lang="en-US" sz="1300" dirty="0"/>
          </a:p>
        </p:txBody>
      </p:sp>
      <p:sp>
        <p:nvSpPr>
          <p:cNvPr id="46" name="Shape 44"/>
          <p:cNvSpPr/>
          <p:nvPr/>
        </p:nvSpPr>
        <p:spPr>
          <a:xfrm>
            <a:off x="548640" y="5074920"/>
            <a:ext cx="11094415" cy="822960"/>
          </a:xfrm>
          <a:prstGeom prst="roundRect">
            <a:avLst>
              <a:gd name="adj" fmla="val 8889"/>
            </a:avLst>
          </a:prstGeom>
          <a:solidFill>
            <a:schemeClr val="bg2"/>
          </a:solidFill>
          <a:ln w="12700">
            <a:solidFill>
              <a:schemeClr val="bg2"/>
            </a:solidFill>
            <a:prstDash val="solid"/>
          </a:ln>
        </p:spPr>
      </p:sp>
      <p:sp>
        <p:nvSpPr>
          <p:cNvPr id="47" name="Text 45"/>
          <p:cNvSpPr txBox="1"/>
          <p:nvPr/>
        </p:nvSpPr>
        <p:spPr>
          <a:xfrm>
            <a:off x="822960" y="5074920"/>
            <a:ext cx="10545775" cy="822960"/>
          </a:xfrm>
          <a:prstGeom prst="rect">
            <a:avLst/>
          </a:prstGeom>
          <a:noFill/>
          <a:ln/>
        </p:spPr>
        <p:txBody>
          <a:bodyPr wrap="square" lIns="0" tIns="0" rIns="0" bIns="0" rtlCol="0" anchor="ctr"/>
          <a:lstStyle/>
          <a:p>
            <a:pPr indent="0" marL="0">
              <a:buNone/>
            </a:pPr>
            <a:r>
              <a:rPr lang="en-US" sz="1500" b="1" dirty="0">
                <a:solidFill>
                  <a:schemeClr val="tx1"/>
                </a:solidFill>
              </a:rPr>
              <a:t>Next: </a:t>
            </a:r>
            <a:pPr indent="0" marL="0">
              <a:buNone/>
            </a:pPr>
            <a:r>
              <a:rPr lang="en-US" sz="1500" dirty="0">
                <a:solidFill>
                  <a:schemeClr val="tx1"/>
                </a:solidFill>
              </a:rPr>
              <a:t>each step is described on the next three slides. The workshop walks through how your team does each one today, so the pilot is configured to your process.</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EACH STEP · 1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Prospect &amp; Account Scoring, step by step</a:t>
            </a:r>
            <a:endParaRPr lang="en-US" sz="2800" dirty="0"/>
          </a:p>
        </p:txBody>
      </p:sp>
      <p:sp>
        <p:nvSpPr>
          <p:cNvPr id="4" name="Shape 2"/>
          <p:cNvSpPr/>
          <p:nvPr/>
        </p:nvSpPr>
        <p:spPr>
          <a:xfrm>
            <a:off x="548640" y="1417320"/>
            <a:ext cx="3545738" cy="731520"/>
          </a:xfrm>
          <a:prstGeom prst="roundRect">
            <a:avLst>
              <a:gd name="adj" fmla="val 10000"/>
            </a:avLst>
          </a:prstGeom>
          <a:solidFill>
            <a:schemeClr val="tx1"/>
          </a:solidFill>
          <a:ln w="12700">
            <a:solidFill>
              <a:schemeClr val="tx1"/>
            </a:solidFill>
            <a:prstDash val="solid"/>
          </a:ln>
        </p:spPr>
      </p:sp>
      <p:sp>
        <p:nvSpPr>
          <p:cNvPr id="5" name="Shape 3"/>
          <p:cNvSpPr/>
          <p:nvPr/>
        </p:nvSpPr>
        <p:spPr>
          <a:xfrm>
            <a:off x="713232" y="1591056"/>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13232"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Text 5"/>
          <p:cNvSpPr txBox="1"/>
          <p:nvPr/>
        </p:nvSpPr>
        <p:spPr>
          <a:xfrm>
            <a:off x="1207008"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Prospect list upload</a:t>
            </a:r>
            <a:endParaRPr lang="en-US" sz="1600" dirty="0"/>
          </a:p>
        </p:txBody>
      </p:sp>
      <p:sp>
        <p:nvSpPr>
          <p:cNvPr id="8" name="Shape 6"/>
          <p:cNvSpPr/>
          <p:nvPr/>
        </p:nvSpPr>
        <p:spPr>
          <a:xfrm>
            <a:off x="548640" y="2148840"/>
            <a:ext cx="3545738" cy="3977640"/>
          </a:xfrm>
          <a:prstGeom prst="roundRect">
            <a:avLst>
              <a:gd name="adj" fmla="val 1032"/>
            </a:avLst>
          </a:prstGeom>
          <a:solidFill>
            <a:schemeClr val="bg2"/>
          </a:solidFill>
          <a:ln w="12700">
            <a:solidFill>
              <a:schemeClr val="bg2"/>
            </a:solidFill>
            <a:prstDash val="solid"/>
          </a:ln>
        </p:spPr>
      </p:sp>
      <p:sp>
        <p:nvSpPr>
          <p:cNvPr id="9" name="Text 7"/>
          <p:cNvSpPr txBox="1"/>
          <p:nvPr/>
        </p:nvSpPr>
        <p:spPr>
          <a:xfrm>
            <a:off x="731520"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Your prospect list in the DemandAI template (Excel or CSV): people, company, site, consent, opt-out, owner.</a:t>
            </a:r>
            <a:endParaRPr lang="en-US" sz="1400" dirty="0"/>
          </a:p>
        </p:txBody>
      </p:sp>
      <p:sp>
        <p:nvSpPr>
          <p:cNvPr id="10" name="Text 8"/>
          <p:cNvSpPr txBox="1"/>
          <p:nvPr/>
        </p:nvSpPr>
        <p:spPr>
          <a:xfrm>
            <a:off x="731520"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11" name="Text 9"/>
          <p:cNvSpPr txBox="1"/>
          <p:nvPr/>
        </p:nvSpPr>
        <p:spPr>
          <a:xfrm>
            <a:off x="731520"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Checks every required column</a:t>
            </a:r>
            <a:endParaRPr lang="en-US" sz="1350" dirty="0"/>
          </a:p>
          <a:p>
            <a:pPr marL="177800" indent="-177800">
              <a:spcAft>
                <a:spcPts val="300"/>
              </a:spcAft>
              <a:buSzPct val="100000"/>
              <a:buChar char="•"/>
            </a:pPr>
            <a:r>
              <a:rPr lang="en-US" sz="1350" dirty="0">
                <a:solidFill>
                  <a:schemeClr val="tx1"/>
                </a:solidFill>
              </a:rPr>
              <a:t>Fixes or flags bad rows: duplicates, missing fields</a:t>
            </a:r>
            <a:endParaRPr lang="en-US" sz="1350" dirty="0"/>
          </a:p>
          <a:p>
            <a:pPr marL="177800" indent="-177800">
              <a:spcAft>
                <a:spcPts val="300"/>
              </a:spcAft>
              <a:buSzPct val="100000"/>
              <a:buChar char="•"/>
            </a:pPr>
            <a:r>
              <a:rPr lang="en-US" sz="1350" dirty="0">
                <a:solidFill>
                  <a:schemeClr val="tx1"/>
                </a:solidFill>
              </a:rPr>
              <a:t>Holds back opt-outs and unknown consent</a:t>
            </a:r>
            <a:endParaRPr lang="en-US" sz="1350" dirty="0"/>
          </a:p>
          <a:p>
            <a:pPr marL="177800" indent="-177800">
              <a:spcAft>
                <a:spcPts val="300"/>
              </a:spcAft>
              <a:buSzPct val="100000"/>
              <a:buChar char="•"/>
            </a:pPr>
            <a:r>
              <a:rPr lang="en-US" sz="1350" dirty="0">
                <a:solidFill>
                  <a:schemeClr val="tx1"/>
                </a:solidFill>
              </a:rPr>
              <a:t>Groups people into accounts by domain</a:t>
            </a:r>
            <a:endParaRPr lang="en-US" sz="1350" dirty="0"/>
          </a:p>
        </p:txBody>
      </p:sp>
      <p:sp>
        <p:nvSpPr>
          <p:cNvPr id="12" name="Shape 10"/>
          <p:cNvSpPr/>
          <p:nvPr/>
        </p:nvSpPr>
        <p:spPr>
          <a:xfrm>
            <a:off x="658368" y="5285232"/>
            <a:ext cx="3326282" cy="731520"/>
          </a:xfrm>
          <a:prstGeom prst="roundRect">
            <a:avLst>
              <a:gd name="adj" fmla="val 10000"/>
            </a:avLst>
          </a:prstGeom>
          <a:solidFill>
            <a:schemeClr val="accent5"/>
          </a:solidFill>
          <a:ln w="12700">
            <a:solidFill>
              <a:schemeClr val="accent5"/>
            </a:solidFill>
            <a:prstDash val="solid"/>
          </a:ln>
        </p:spPr>
      </p:sp>
      <p:sp>
        <p:nvSpPr>
          <p:cNvPr id="13" name="Text 11"/>
          <p:cNvSpPr txBox="1"/>
          <p:nvPr/>
        </p:nvSpPr>
        <p:spPr>
          <a:xfrm>
            <a:off x="777240"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Accounts and contacts loaded, with each issue and its fix.</a:t>
            </a:r>
            <a:endParaRPr lang="en-US" sz="1400" dirty="0"/>
          </a:p>
        </p:txBody>
      </p:sp>
      <p:sp>
        <p:nvSpPr>
          <p:cNvPr id="14" name="Shape 12"/>
          <p:cNvSpPr/>
          <p:nvPr/>
        </p:nvSpPr>
        <p:spPr>
          <a:xfrm>
            <a:off x="4322978" y="1417320"/>
            <a:ext cx="3545738" cy="731520"/>
          </a:xfrm>
          <a:prstGeom prst="roundRect">
            <a:avLst>
              <a:gd name="adj" fmla="val 10000"/>
            </a:avLst>
          </a:prstGeom>
          <a:solidFill>
            <a:schemeClr val="tx1"/>
          </a:solidFill>
          <a:ln w="12700">
            <a:solidFill>
              <a:schemeClr val="tx1"/>
            </a:solidFill>
            <a:prstDash val="solid"/>
          </a:ln>
        </p:spPr>
      </p:sp>
      <p:sp>
        <p:nvSpPr>
          <p:cNvPr id="15" name="Shape 13"/>
          <p:cNvSpPr/>
          <p:nvPr/>
        </p:nvSpPr>
        <p:spPr>
          <a:xfrm>
            <a:off x="4487570" y="1591056"/>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4487570"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7" name="Text 15"/>
          <p:cNvSpPr txBox="1"/>
          <p:nvPr/>
        </p:nvSpPr>
        <p:spPr>
          <a:xfrm>
            <a:off x="4981346"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Account fit scoring</a:t>
            </a:r>
            <a:endParaRPr lang="en-US" sz="1600" dirty="0"/>
          </a:p>
        </p:txBody>
      </p:sp>
      <p:sp>
        <p:nvSpPr>
          <p:cNvPr id="18" name="Shape 16"/>
          <p:cNvSpPr/>
          <p:nvPr/>
        </p:nvSpPr>
        <p:spPr>
          <a:xfrm>
            <a:off x="4322978" y="2148840"/>
            <a:ext cx="3545738" cy="3977640"/>
          </a:xfrm>
          <a:prstGeom prst="roundRect">
            <a:avLst>
              <a:gd name="adj" fmla="val 1032"/>
            </a:avLst>
          </a:prstGeom>
          <a:solidFill>
            <a:schemeClr val="bg2"/>
          </a:solidFill>
          <a:ln w="12700">
            <a:solidFill>
              <a:schemeClr val="bg2"/>
            </a:solidFill>
            <a:prstDash val="solid"/>
          </a:ln>
        </p:spPr>
      </p:sp>
      <p:sp>
        <p:nvSpPr>
          <p:cNvPr id="19" name="Text 17"/>
          <p:cNvSpPr txBox="1"/>
          <p:nvPr/>
        </p:nvSpPr>
        <p:spPr>
          <a:xfrm>
            <a:off x="4505858"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Your ICP rubric: vertical, size, site profile, relationship, account type, contact coverage.</a:t>
            </a:r>
            <a:endParaRPr lang="en-US" sz="1400" dirty="0"/>
          </a:p>
        </p:txBody>
      </p:sp>
      <p:sp>
        <p:nvSpPr>
          <p:cNvPr id="20" name="Text 18"/>
          <p:cNvSpPr txBox="1"/>
          <p:nvPr/>
        </p:nvSpPr>
        <p:spPr>
          <a:xfrm>
            <a:off x="4505858"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21" name="Text 19"/>
          <p:cNvSpPr txBox="1"/>
          <p:nvPr/>
        </p:nvSpPr>
        <p:spPr>
          <a:xfrm>
            <a:off x="4505858"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Scores each account out of 100 on the rubric</a:t>
            </a:r>
            <a:endParaRPr lang="en-US" sz="1350" dirty="0"/>
          </a:p>
          <a:p>
            <a:pPr marL="177800" indent="-177800">
              <a:spcAft>
                <a:spcPts val="300"/>
              </a:spcAft>
              <a:buSzPct val="100000"/>
              <a:buChar char="•"/>
            </a:pPr>
            <a:r>
              <a:rPr lang="en-US" sz="1350" dirty="0">
                <a:solidFill>
                  <a:schemeClr val="tx1"/>
                </a:solidFill>
              </a:rPr>
              <a:t>Applies the fit floor</a:t>
            </a:r>
            <a:endParaRPr lang="en-US" sz="1350" dirty="0"/>
          </a:p>
          <a:p>
            <a:pPr marL="177800" indent="-177800">
              <a:spcAft>
                <a:spcPts val="300"/>
              </a:spcAft>
              <a:buSzPct val="100000"/>
              <a:buChar char="•"/>
            </a:pPr>
            <a:r>
              <a:rPr lang="en-US" sz="1350" dirty="0">
                <a:solidFill>
                  <a:schemeClr val="tx1"/>
                </a:solidFill>
              </a:rPr>
              <a:t>Marks key accounts managed separately</a:t>
            </a:r>
            <a:endParaRPr lang="en-US" sz="1350" dirty="0"/>
          </a:p>
        </p:txBody>
      </p:sp>
      <p:sp>
        <p:nvSpPr>
          <p:cNvPr id="22" name="Shape 20"/>
          <p:cNvSpPr/>
          <p:nvPr/>
        </p:nvSpPr>
        <p:spPr>
          <a:xfrm>
            <a:off x="4432706" y="5285232"/>
            <a:ext cx="3326282" cy="731520"/>
          </a:xfrm>
          <a:prstGeom prst="roundRect">
            <a:avLst>
              <a:gd name="adj" fmla="val 10000"/>
            </a:avLst>
          </a:prstGeom>
          <a:solidFill>
            <a:schemeClr val="accent5"/>
          </a:solidFill>
          <a:ln w="12700">
            <a:solidFill>
              <a:schemeClr val="accent5"/>
            </a:solidFill>
            <a:prstDash val="solid"/>
          </a:ln>
        </p:spPr>
      </p:sp>
      <p:sp>
        <p:nvSpPr>
          <p:cNvPr id="23" name="Text 21"/>
          <p:cNvSpPr txBox="1"/>
          <p:nvPr/>
        </p:nvSpPr>
        <p:spPr>
          <a:xfrm>
            <a:off x="4551578"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A fit score for every account, with the reason behind it.</a:t>
            </a:r>
            <a:endParaRPr lang="en-US" sz="1400" dirty="0"/>
          </a:p>
        </p:txBody>
      </p:sp>
      <p:sp>
        <p:nvSpPr>
          <p:cNvPr id="24" name="Shape 22"/>
          <p:cNvSpPr/>
          <p:nvPr/>
        </p:nvSpPr>
        <p:spPr>
          <a:xfrm>
            <a:off x="8097317" y="1417320"/>
            <a:ext cx="3545738" cy="731520"/>
          </a:xfrm>
          <a:prstGeom prst="roundRect">
            <a:avLst>
              <a:gd name="adj" fmla="val 10000"/>
            </a:avLst>
          </a:prstGeom>
          <a:solidFill>
            <a:schemeClr val="tx1"/>
          </a:solidFill>
          <a:ln w="12700">
            <a:solidFill>
              <a:schemeClr val="tx1"/>
            </a:solidFill>
            <a:prstDash val="solid"/>
          </a:ln>
        </p:spPr>
      </p:sp>
      <p:sp>
        <p:nvSpPr>
          <p:cNvPr id="25" name="Shape 23"/>
          <p:cNvSpPr/>
          <p:nvPr/>
        </p:nvSpPr>
        <p:spPr>
          <a:xfrm>
            <a:off x="8261909" y="1591056"/>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8261909"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7" name="Text 25"/>
          <p:cNvSpPr txBox="1"/>
          <p:nvPr/>
        </p:nvSpPr>
        <p:spPr>
          <a:xfrm>
            <a:off x="8755685"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Signal upload &amp; tiering</a:t>
            </a:r>
            <a:endParaRPr lang="en-US" sz="1600" dirty="0"/>
          </a:p>
        </p:txBody>
      </p:sp>
      <p:sp>
        <p:nvSpPr>
          <p:cNvPr id="28" name="Shape 26"/>
          <p:cNvSpPr/>
          <p:nvPr/>
        </p:nvSpPr>
        <p:spPr>
          <a:xfrm>
            <a:off x="8097317" y="2148840"/>
            <a:ext cx="3545738" cy="3977640"/>
          </a:xfrm>
          <a:prstGeom prst="roundRect">
            <a:avLst>
              <a:gd name="adj" fmla="val 1032"/>
            </a:avLst>
          </a:prstGeom>
          <a:solidFill>
            <a:schemeClr val="bg2"/>
          </a:solidFill>
          <a:ln w="12700">
            <a:solidFill>
              <a:schemeClr val="bg2"/>
            </a:solidFill>
            <a:prstDash val="solid"/>
          </a:ln>
        </p:spPr>
      </p:sp>
      <p:sp>
        <p:nvSpPr>
          <p:cNvPr id="29" name="Text 27"/>
          <p:cNvSpPr txBox="1"/>
          <p:nvPr/>
        </p:nvSpPr>
        <p:spPr>
          <a:xfrm>
            <a:off x="8280197"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Your signals in the signal template: company, contact, signal type, date, detail.</a:t>
            </a:r>
            <a:endParaRPr lang="en-US" sz="1400" dirty="0"/>
          </a:p>
        </p:txBody>
      </p:sp>
      <p:sp>
        <p:nvSpPr>
          <p:cNvPr id="30" name="Text 28"/>
          <p:cNvSpPr txBox="1"/>
          <p:nvPr/>
        </p:nvSpPr>
        <p:spPr>
          <a:xfrm>
            <a:off x="8280197"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31" name="Text 29"/>
          <p:cNvSpPr txBox="1"/>
          <p:nvPr/>
        </p:nvSpPr>
        <p:spPr>
          <a:xfrm>
            <a:off x="8280197"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Matches each signal to the account and person</a:t>
            </a:r>
            <a:endParaRPr lang="en-US" sz="1350" dirty="0"/>
          </a:p>
          <a:p>
            <a:pPr marL="177800" indent="-177800">
              <a:spcAft>
                <a:spcPts val="300"/>
              </a:spcAft>
              <a:buSzPct val="100000"/>
              <a:buChar char="•"/>
            </a:pPr>
            <a:r>
              <a:rPr lang="en-US" sz="1350" dirty="0">
                <a:solidFill>
                  <a:schemeClr val="tx1"/>
                </a:solidFill>
              </a:rPr>
              <a:t>Weights it by type and age</a:t>
            </a:r>
            <a:endParaRPr lang="en-US" sz="1350" dirty="0"/>
          </a:p>
          <a:p>
            <a:pPr marL="177800" indent="-177800">
              <a:spcAft>
                <a:spcPts val="300"/>
              </a:spcAft>
              <a:buSzPct val="100000"/>
              <a:buChar char="•"/>
            </a:pPr>
            <a:r>
              <a:rPr lang="en-US" sz="1350" dirty="0">
                <a:solidFill>
                  <a:schemeClr val="tx1"/>
                </a:solidFill>
              </a:rPr>
              <a:t>Combines it with fit into a score</a:t>
            </a:r>
            <a:endParaRPr lang="en-US" sz="1350" dirty="0"/>
          </a:p>
          <a:p>
            <a:pPr marL="177800" indent="-177800">
              <a:spcAft>
                <a:spcPts val="300"/>
              </a:spcAft>
              <a:buSzPct val="100000"/>
              <a:buChar char="•"/>
            </a:pPr>
            <a:r>
              <a:rPr lang="en-US" sz="1350" dirty="0">
                <a:solidFill>
                  <a:schemeClr val="tx1"/>
                </a:solidFill>
              </a:rPr>
              <a:t>Ranks people into tiers A, B and C</a:t>
            </a:r>
            <a:endParaRPr lang="en-US" sz="1350" dirty="0"/>
          </a:p>
        </p:txBody>
      </p:sp>
      <p:sp>
        <p:nvSpPr>
          <p:cNvPr id="32" name="Shape 30"/>
          <p:cNvSpPr/>
          <p:nvPr/>
        </p:nvSpPr>
        <p:spPr>
          <a:xfrm>
            <a:off x="8207045" y="5285232"/>
            <a:ext cx="3326282" cy="731520"/>
          </a:xfrm>
          <a:prstGeom prst="roundRect">
            <a:avLst>
              <a:gd name="adj" fmla="val 10000"/>
            </a:avLst>
          </a:prstGeom>
          <a:solidFill>
            <a:schemeClr val="accent5"/>
          </a:solidFill>
          <a:ln w="12700">
            <a:solidFill>
              <a:schemeClr val="accent5"/>
            </a:solidFill>
            <a:prstDash val="solid"/>
          </a:ln>
        </p:spPr>
      </p:sp>
      <p:sp>
        <p:nvSpPr>
          <p:cNvPr id="33" name="Text 31"/>
          <p:cNvSpPr txBox="1"/>
          <p:nvPr/>
        </p:nvSpPr>
        <p:spPr>
          <a:xfrm>
            <a:off x="8325917"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A ranked prospect list with why now for each person.</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EACH STEP · 2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Micro-segments &amp; Next Best Action, step by step</a:t>
            </a:r>
            <a:endParaRPr lang="en-US" sz="2800" dirty="0"/>
          </a:p>
        </p:txBody>
      </p:sp>
      <p:sp>
        <p:nvSpPr>
          <p:cNvPr id="4" name="Shape 2"/>
          <p:cNvSpPr/>
          <p:nvPr/>
        </p:nvSpPr>
        <p:spPr>
          <a:xfrm>
            <a:off x="548640" y="1417320"/>
            <a:ext cx="2602154" cy="731520"/>
          </a:xfrm>
          <a:prstGeom prst="roundRect">
            <a:avLst>
              <a:gd name="adj" fmla="val 10000"/>
            </a:avLst>
          </a:prstGeom>
          <a:solidFill>
            <a:schemeClr val="tx1"/>
          </a:solidFill>
          <a:ln w="12700">
            <a:solidFill>
              <a:schemeClr val="tx1"/>
            </a:solidFill>
            <a:prstDash val="solid"/>
          </a:ln>
        </p:spPr>
      </p:sp>
      <p:sp>
        <p:nvSpPr>
          <p:cNvPr id="5" name="Shape 3"/>
          <p:cNvSpPr/>
          <p:nvPr/>
        </p:nvSpPr>
        <p:spPr>
          <a:xfrm>
            <a:off x="713232" y="1591056"/>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13232"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7" name="Text 5"/>
          <p:cNvSpPr txBox="1"/>
          <p:nvPr/>
        </p:nvSpPr>
        <p:spPr>
          <a:xfrm>
            <a:off x="1207008" y="1417320"/>
            <a:ext cx="1824914" cy="731520"/>
          </a:xfrm>
          <a:prstGeom prst="rect">
            <a:avLst/>
          </a:prstGeom>
          <a:noFill/>
          <a:ln/>
        </p:spPr>
        <p:txBody>
          <a:bodyPr wrap="square" lIns="0" tIns="0" rIns="0" bIns="0" rtlCol="0" anchor="ctr"/>
          <a:lstStyle/>
          <a:p>
            <a:pPr indent="0" marL="0">
              <a:buNone/>
            </a:pPr>
            <a:r>
              <a:rPr lang="en-US" sz="1600" b="1" dirty="0">
                <a:solidFill>
                  <a:schemeClr val="bg1"/>
                </a:solidFill>
              </a:rPr>
              <a:t>Hand-off</a:t>
            </a:r>
            <a:endParaRPr lang="en-US" sz="1600" dirty="0"/>
          </a:p>
        </p:txBody>
      </p:sp>
      <p:sp>
        <p:nvSpPr>
          <p:cNvPr id="8" name="Shape 6"/>
          <p:cNvSpPr/>
          <p:nvPr/>
        </p:nvSpPr>
        <p:spPr>
          <a:xfrm>
            <a:off x="548640" y="2148840"/>
            <a:ext cx="2602154" cy="3977640"/>
          </a:xfrm>
          <a:prstGeom prst="roundRect">
            <a:avLst>
              <a:gd name="adj" fmla="val 1406"/>
            </a:avLst>
          </a:prstGeom>
          <a:solidFill>
            <a:schemeClr val="bg2"/>
          </a:solidFill>
          <a:ln w="12700">
            <a:solidFill>
              <a:schemeClr val="bg2"/>
            </a:solidFill>
            <a:prstDash val="solid"/>
          </a:ln>
        </p:spPr>
      </p:sp>
      <p:sp>
        <p:nvSpPr>
          <p:cNvPr id="9" name="Text 7"/>
          <p:cNvSpPr txBox="1"/>
          <p:nvPr/>
        </p:nvSpPr>
        <p:spPr>
          <a:xfrm>
            <a:off x="731520" y="2286000"/>
            <a:ext cx="2236394"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250" dirty="0">
                <a:solidFill>
                  <a:schemeClr val="tx1"/>
                </a:solidFill>
              </a:rPr>
              <a:t>The tier A and B prospects with a live signal (or the ones you pick).</a:t>
            </a:r>
            <a:endParaRPr lang="en-US" sz="1400" dirty="0"/>
          </a:p>
        </p:txBody>
      </p:sp>
      <p:sp>
        <p:nvSpPr>
          <p:cNvPr id="10" name="Text 8"/>
          <p:cNvSpPr txBox="1"/>
          <p:nvPr/>
        </p:nvSpPr>
        <p:spPr>
          <a:xfrm>
            <a:off x="731520" y="3200400"/>
            <a:ext cx="2236394"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11" name="Text 9"/>
          <p:cNvSpPr txBox="1"/>
          <p:nvPr/>
        </p:nvSpPr>
        <p:spPr>
          <a:xfrm>
            <a:off x="731520" y="3456432"/>
            <a:ext cx="2282114" cy="178308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Keeps only people who can be contacted</a:t>
            </a:r>
            <a:endParaRPr lang="en-US" sz="1250" dirty="0"/>
          </a:p>
          <a:p>
            <a:pPr marL="177800" indent="-177800">
              <a:spcAft>
                <a:spcPts val="300"/>
              </a:spcAft>
              <a:buSzPct val="100000"/>
              <a:buChar char="•"/>
            </a:pPr>
            <a:r>
              <a:rPr lang="en-US" sz="1250" dirty="0">
                <a:solidFill>
                  <a:schemeClr val="tx1"/>
                </a:solidFill>
              </a:rPr>
              <a:t>Counts the rest as held back, with why</a:t>
            </a:r>
            <a:endParaRPr lang="en-US" sz="1250" dirty="0"/>
          </a:p>
        </p:txBody>
      </p:sp>
      <p:sp>
        <p:nvSpPr>
          <p:cNvPr id="12" name="Shape 10"/>
          <p:cNvSpPr/>
          <p:nvPr/>
        </p:nvSpPr>
        <p:spPr>
          <a:xfrm>
            <a:off x="658368" y="5285232"/>
            <a:ext cx="2382698" cy="731520"/>
          </a:xfrm>
          <a:prstGeom prst="roundRect">
            <a:avLst>
              <a:gd name="adj" fmla="val 10000"/>
            </a:avLst>
          </a:prstGeom>
          <a:solidFill>
            <a:schemeClr val="accent5"/>
          </a:solidFill>
          <a:ln w="12700">
            <a:solidFill>
              <a:schemeClr val="accent5"/>
            </a:solidFill>
            <a:prstDash val="solid"/>
          </a:ln>
        </p:spPr>
      </p:sp>
      <p:sp>
        <p:nvSpPr>
          <p:cNvPr id="13" name="Text 11"/>
          <p:cNvSpPr txBox="1"/>
          <p:nvPr/>
        </p:nvSpPr>
        <p:spPr>
          <a:xfrm>
            <a:off x="777240" y="5303520"/>
            <a:ext cx="2144954"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200" dirty="0">
                <a:solidFill>
                  <a:schemeClr val="tx1"/>
                </a:solidFill>
              </a:rPr>
              <a:t>Prospects handed to NBA, and who was held back.</a:t>
            </a:r>
            <a:endParaRPr lang="en-US" sz="1400" dirty="0"/>
          </a:p>
        </p:txBody>
      </p:sp>
      <p:sp>
        <p:nvSpPr>
          <p:cNvPr id="14" name="Shape 12"/>
          <p:cNvSpPr/>
          <p:nvPr/>
        </p:nvSpPr>
        <p:spPr>
          <a:xfrm>
            <a:off x="3379394" y="1417320"/>
            <a:ext cx="2602154" cy="731520"/>
          </a:xfrm>
          <a:prstGeom prst="roundRect">
            <a:avLst>
              <a:gd name="adj" fmla="val 10000"/>
            </a:avLst>
          </a:prstGeom>
          <a:solidFill>
            <a:schemeClr val="tx1"/>
          </a:solidFill>
          <a:ln w="12700">
            <a:solidFill>
              <a:schemeClr val="tx1"/>
            </a:solidFill>
            <a:prstDash val="solid"/>
          </a:ln>
        </p:spPr>
      </p:sp>
      <p:sp>
        <p:nvSpPr>
          <p:cNvPr id="15" name="Shape 13"/>
          <p:cNvSpPr/>
          <p:nvPr/>
        </p:nvSpPr>
        <p:spPr>
          <a:xfrm>
            <a:off x="3543986" y="1591056"/>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3543986"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7" name="Text 15"/>
          <p:cNvSpPr txBox="1"/>
          <p:nvPr/>
        </p:nvSpPr>
        <p:spPr>
          <a:xfrm>
            <a:off x="4037762" y="1417320"/>
            <a:ext cx="1824914" cy="731520"/>
          </a:xfrm>
          <a:prstGeom prst="rect">
            <a:avLst/>
          </a:prstGeom>
          <a:noFill/>
          <a:ln/>
        </p:spPr>
        <p:txBody>
          <a:bodyPr wrap="square" lIns="0" tIns="0" rIns="0" bIns="0" rtlCol="0" anchor="ctr"/>
          <a:lstStyle/>
          <a:p>
            <a:pPr indent="0" marL="0">
              <a:buNone/>
            </a:pPr>
            <a:r>
              <a:rPr lang="en-US" sz="1600" b="1" dirty="0">
                <a:solidFill>
                  <a:schemeClr val="bg1"/>
                </a:solidFill>
              </a:rPr>
              <a:t>Micro-segmentation</a:t>
            </a:r>
            <a:endParaRPr lang="en-US" sz="1600" dirty="0"/>
          </a:p>
        </p:txBody>
      </p:sp>
      <p:sp>
        <p:nvSpPr>
          <p:cNvPr id="18" name="Shape 16"/>
          <p:cNvSpPr/>
          <p:nvPr/>
        </p:nvSpPr>
        <p:spPr>
          <a:xfrm>
            <a:off x="3379394" y="2148840"/>
            <a:ext cx="2602154" cy="3977640"/>
          </a:xfrm>
          <a:prstGeom prst="roundRect">
            <a:avLst>
              <a:gd name="adj" fmla="val 1406"/>
            </a:avLst>
          </a:prstGeom>
          <a:solidFill>
            <a:schemeClr val="bg2"/>
          </a:solidFill>
          <a:ln w="12700">
            <a:solidFill>
              <a:schemeClr val="bg2"/>
            </a:solidFill>
            <a:prstDash val="solid"/>
          </a:ln>
        </p:spPr>
      </p:sp>
      <p:sp>
        <p:nvSpPr>
          <p:cNvPr id="19" name="Text 17"/>
          <p:cNvSpPr txBox="1"/>
          <p:nvPr/>
        </p:nvSpPr>
        <p:spPr>
          <a:xfrm>
            <a:off x="3562274" y="2286000"/>
            <a:ext cx="2236394"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250" dirty="0">
                <a:solidFill>
                  <a:schemeClr val="tx1"/>
                </a:solidFill>
              </a:rPr>
              <a:t>The segments in your Setup (six to start with).</a:t>
            </a:r>
            <a:endParaRPr lang="en-US" sz="1400" dirty="0"/>
          </a:p>
        </p:txBody>
      </p:sp>
      <p:sp>
        <p:nvSpPr>
          <p:cNvPr id="20" name="Text 18"/>
          <p:cNvSpPr txBox="1"/>
          <p:nvPr/>
        </p:nvSpPr>
        <p:spPr>
          <a:xfrm>
            <a:off x="3562274" y="3200400"/>
            <a:ext cx="2236394"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21" name="Text 19"/>
          <p:cNvSpPr txBox="1"/>
          <p:nvPr/>
        </p:nvSpPr>
        <p:spPr>
          <a:xfrm>
            <a:off x="3562274" y="3456432"/>
            <a:ext cx="2282114" cy="178308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Groups accounts that share a reason to buy</a:t>
            </a:r>
            <a:endParaRPr lang="en-US" sz="1250" dirty="0"/>
          </a:p>
          <a:p>
            <a:pPr marL="177800" indent="-177800">
              <a:spcAft>
                <a:spcPts val="300"/>
              </a:spcAft>
              <a:buSzPct val="100000"/>
              <a:buChar char="•"/>
            </a:pPr>
            <a:r>
              <a:rPr lang="en-US" sz="1250" dirty="0">
                <a:solidFill>
                  <a:schemeClr val="tx1"/>
                </a:solidFill>
              </a:rPr>
              <a:t>Needs at least 3 accounts per segment</a:t>
            </a:r>
            <a:endParaRPr lang="en-US" sz="1250" dirty="0"/>
          </a:p>
          <a:p>
            <a:pPr marL="177800" indent="-177800">
              <a:spcAft>
                <a:spcPts val="300"/>
              </a:spcAft>
              <a:buSzPct val="100000"/>
              <a:buChar char="•"/>
            </a:pPr>
            <a:r>
              <a:rPr lang="en-US" sz="1250" dirty="0">
                <a:solidFill>
                  <a:schemeClr val="tx1"/>
                </a:solidFill>
              </a:rPr>
              <a:t>AI may suggest a new segment for a manager to approve</a:t>
            </a:r>
            <a:endParaRPr lang="en-US" sz="1250" dirty="0"/>
          </a:p>
        </p:txBody>
      </p:sp>
      <p:sp>
        <p:nvSpPr>
          <p:cNvPr id="22" name="Shape 20"/>
          <p:cNvSpPr/>
          <p:nvPr/>
        </p:nvSpPr>
        <p:spPr>
          <a:xfrm>
            <a:off x="3489122" y="5285232"/>
            <a:ext cx="2382698" cy="731520"/>
          </a:xfrm>
          <a:prstGeom prst="roundRect">
            <a:avLst>
              <a:gd name="adj" fmla="val 10000"/>
            </a:avLst>
          </a:prstGeom>
          <a:solidFill>
            <a:schemeClr val="accent5"/>
          </a:solidFill>
          <a:ln w="12700">
            <a:solidFill>
              <a:schemeClr val="accent5"/>
            </a:solidFill>
            <a:prstDash val="solid"/>
          </a:ln>
        </p:spPr>
      </p:sp>
      <p:sp>
        <p:nvSpPr>
          <p:cNvPr id="23" name="Text 21"/>
          <p:cNvSpPr txBox="1"/>
          <p:nvPr/>
        </p:nvSpPr>
        <p:spPr>
          <a:xfrm>
            <a:off x="3607994" y="5303520"/>
            <a:ext cx="2144954"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200" dirty="0">
                <a:solidFill>
                  <a:schemeClr val="tx1"/>
                </a:solidFill>
              </a:rPr>
              <a:t>Segments, each with its accounts and reason.</a:t>
            </a:r>
            <a:endParaRPr lang="en-US" sz="1400" dirty="0"/>
          </a:p>
        </p:txBody>
      </p:sp>
      <p:sp>
        <p:nvSpPr>
          <p:cNvPr id="24" name="Shape 22"/>
          <p:cNvSpPr/>
          <p:nvPr/>
        </p:nvSpPr>
        <p:spPr>
          <a:xfrm>
            <a:off x="6210148" y="1417320"/>
            <a:ext cx="2602154" cy="731520"/>
          </a:xfrm>
          <a:prstGeom prst="roundRect">
            <a:avLst>
              <a:gd name="adj" fmla="val 10000"/>
            </a:avLst>
          </a:prstGeom>
          <a:solidFill>
            <a:schemeClr val="tx1"/>
          </a:solidFill>
          <a:ln w="12700">
            <a:solidFill>
              <a:schemeClr val="tx1"/>
            </a:solidFill>
            <a:prstDash val="solid"/>
          </a:ln>
        </p:spPr>
      </p:sp>
      <p:sp>
        <p:nvSpPr>
          <p:cNvPr id="25" name="Shape 23"/>
          <p:cNvSpPr/>
          <p:nvPr/>
        </p:nvSpPr>
        <p:spPr>
          <a:xfrm>
            <a:off x="6374740" y="1591056"/>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6374740"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7" name="Text 25"/>
          <p:cNvSpPr txBox="1"/>
          <p:nvPr/>
        </p:nvSpPr>
        <p:spPr>
          <a:xfrm>
            <a:off x="6868516" y="1417320"/>
            <a:ext cx="1824914" cy="731520"/>
          </a:xfrm>
          <a:prstGeom prst="rect">
            <a:avLst/>
          </a:prstGeom>
          <a:noFill/>
          <a:ln/>
        </p:spPr>
        <p:txBody>
          <a:bodyPr wrap="square" lIns="0" tIns="0" rIns="0" bIns="0" rtlCol="0" anchor="ctr"/>
          <a:lstStyle/>
          <a:p>
            <a:pPr indent="0" marL="0">
              <a:buNone/>
            </a:pPr>
            <a:r>
              <a:rPr lang="en-US" sz="1600" b="1" dirty="0">
                <a:solidFill>
                  <a:schemeClr val="bg1"/>
                </a:solidFill>
              </a:rPr>
              <a:t>Next best action</a:t>
            </a:r>
            <a:endParaRPr lang="en-US" sz="1600" dirty="0"/>
          </a:p>
        </p:txBody>
      </p:sp>
      <p:sp>
        <p:nvSpPr>
          <p:cNvPr id="28" name="Shape 26"/>
          <p:cNvSpPr/>
          <p:nvPr/>
        </p:nvSpPr>
        <p:spPr>
          <a:xfrm>
            <a:off x="6210148" y="2148840"/>
            <a:ext cx="2602154" cy="3977640"/>
          </a:xfrm>
          <a:prstGeom prst="roundRect">
            <a:avLst>
              <a:gd name="adj" fmla="val 1406"/>
            </a:avLst>
          </a:prstGeom>
          <a:solidFill>
            <a:schemeClr val="bg2"/>
          </a:solidFill>
          <a:ln w="12700">
            <a:solidFill>
              <a:schemeClr val="bg2"/>
            </a:solidFill>
            <a:prstDash val="solid"/>
          </a:ln>
        </p:spPr>
      </p:sp>
      <p:sp>
        <p:nvSpPr>
          <p:cNvPr id="29" name="Text 27"/>
          <p:cNvSpPr txBox="1"/>
          <p:nvPr/>
        </p:nvSpPr>
        <p:spPr>
          <a:xfrm>
            <a:off x="6393028" y="2286000"/>
            <a:ext cx="2236394"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250" dirty="0">
                <a:solidFill>
                  <a:schemeClr val="tx1"/>
                </a:solidFill>
              </a:rPr>
              <a:t>The actions you set per segment in Setup.</a:t>
            </a:r>
            <a:endParaRPr lang="en-US" sz="1400" dirty="0"/>
          </a:p>
        </p:txBody>
      </p:sp>
      <p:sp>
        <p:nvSpPr>
          <p:cNvPr id="30" name="Text 28"/>
          <p:cNvSpPr txBox="1"/>
          <p:nvPr/>
        </p:nvSpPr>
        <p:spPr>
          <a:xfrm>
            <a:off x="6393028" y="3200400"/>
            <a:ext cx="2236394"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31" name="Text 29"/>
          <p:cNvSpPr txBox="1"/>
          <p:nvPr/>
        </p:nvSpPr>
        <p:spPr>
          <a:xfrm>
            <a:off x="6393028" y="3456432"/>
            <a:ext cx="2282114" cy="178308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AI picks the action that fits the signal and person</a:t>
            </a:r>
            <a:endParaRPr lang="en-US" sz="1250" dirty="0"/>
          </a:p>
          <a:p>
            <a:pPr marL="177800" indent="-177800">
              <a:spcAft>
                <a:spcPts val="300"/>
              </a:spcAft>
              <a:buSzPct val="100000"/>
              <a:buChar char="•"/>
            </a:pPr>
            <a:r>
              <a:rPr lang="en-US" sz="1250" dirty="0">
                <a:solidFill>
                  <a:schemeClr val="tx1"/>
                </a:solidFill>
              </a:rPr>
              <a:t>Chooses email, LinkedIn or call within consent</a:t>
            </a:r>
            <a:endParaRPr lang="en-US" sz="1250" dirty="0"/>
          </a:p>
          <a:p>
            <a:pPr marL="177800" indent="-177800">
              <a:spcAft>
                <a:spcPts val="300"/>
              </a:spcAft>
              <a:buSzPct val="100000"/>
              <a:buChar char="•"/>
            </a:pPr>
            <a:r>
              <a:rPr lang="en-US" sz="1250" dirty="0">
                <a:solidFill>
                  <a:schemeClr val="tx1"/>
                </a:solidFill>
              </a:rPr>
              <a:t>Estimates the first deal and confidence</a:t>
            </a:r>
            <a:endParaRPr lang="en-US" sz="1250" dirty="0"/>
          </a:p>
        </p:txBody>
      </p:sp>
      <p:sp>
        <p:nvSpPr>
          <p:cNvPr id="32" name="Shape 30"/>
          <p:cNvSpPr/>
          <p:nvPr/>
        </p:nvSpPr>
        <p:spPr>
          <a:xfrm>
            <a:off x="6319876" y="5285232"/>
            <a:ext cx="2382698" cy="731520"/>
          </a:xfrm>
          <a:prstGeom prst="roundRect">
            <a:avLst>
              <a:gd name="adj" fmla="val 10000"/>
            </a:avLst>
          </a:prstGeom>
          <a:solidFill>
            <a:schemeClr val="accent5"/>
          </a:solidFill>
          <a:ln w="12700">
            <a:solidFill>
              <a:schemeClr val="accent5"/>
            </a:solidFill>
            <a:prstDash val="solid"/>
          </a:ln>
        </p:spPr>
      </p:sp>
      <p:sp>
        <p:nvSpPr>
          <p:cNvPr id="33" name="Text 31"/>
          <p:cNvSpPr txBox="1"/>
          <p:nvPr/>
        </p:nvSpPr>
        <p:spPr>
          <a:xfrm>
            <a:off x="6438748" y="5303520"/>
            <a:ext cx="2144954"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200" dirty="0">
                <a:solidFill>
                  <a:schemeClr val="tx1"/>
                </a:solidFill>
              </a:rPr>
              <a:t>One action per prospect, with why.</a:t>
            </a:r>
            <a:endParaRPr lang="en-US" sz="1400" dirty="0"/>
          </a:p>
        </p:txBody>
      </p:sp>
      <p:sp>
        <p:nvSpPr>
          <p:cNvPr id="34" name="Shape 32"/>
          <p:cNvSpPr/>
          <p:nvPr/>
        </p:nvSpPr>
        <p:spPr>
          <a:xfrm>
            <a:off x="9040901" y="1417320"/>
            <a:ext cx="2602154" cy="731520"/>
          </a:xfrm>
          <a:prstGeom prst="roundRect">
            <a:avLst>
              <a:gd name="adj" fmla="val 10000"/>
            </a:avLst>
          </a:prstGeom>
          <a:solidFill>
            <a:schemeClr val="tx1"/>
          </a:solidFill>
          <a:ln w="12700">
            <a:solidFill>
              <a:schemeClr val="tx1"/>
            </a:solidFill>
            <a:prstDash val="solid"/>
          </a:ln>
        </p:spPr>
      </p:sp>
      <p:sp>
        <p:nvSpPr>
          <p:cNvPr id="35" name="Shape 33"/>
          <p:cNvSpPr/>
          <p:nvPr/>
        </p:nvSpPr>
        <p:spPr>
          <a:xfrm>
            <a:off x="9205493" y="1591056"/>
            <a:ext cx="384048" cy="384048"/>
          </a:xfrm>
          <a:prstGeom prst="ellipse">
            <a:avLst/>
          </a:prstGeom>
          <a:solidFill>
            <a:schemeClr val="accent1"/>
          </a:solidFill>
          <a:ln w="12700">
            <a:solidFill>
              <a:schemeClr val="accent1"/>
            </a:solidFill>
            <a:prstDash val="solid"/>
          </a:ln>
        </p:spPr>
      </p:sp>
      <p:sp>
        <p:nvSpPr>
          <p:cNvPr id="36" name="Text 34"/>
          <p:cNvSpPr txBox="1"/>
          <p:nvPr/>
        </p:nvSpPr>
        <p:spPr>
          <a:xfrm>
            <a:off x="9205493"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37" name="Text 35"/>
          <p:cNvSpPr txBox="1"/>
          <p:nvPr/>
        </p:nvSpPr>
        <p:spPr>
          <a:xfrm>
            <a:off x="9699269" y="1417320"/>
            <a:ext cx="1824914" cy="731520"/>
          </a:xfrm>
          <a:prstGeom prst="rect">
            <a:avLst/>
          </a:prstGeom>
          <a:noFill/>
          <a:ln/>
        </p:spPr>
        <p:txBody>
          <a:bodyPr wrap="square" lIns="0" tIns="0" rIns="0" bIns="0" rtlCol="0" anchor="ctr"/>
          <a:lstStyle/>
          <a:p>
            <a:pPr indent="0" marL="0">
              <a:buNone/>
            </a:pPr>
            <a:r>
              <a:rPr lang="en-US" sz="1600" b="1" dirty="0">
                <a:solidFill>
                  <a:schemeClr val="bg1"/>
                </a:solidFill>
              </a:rPr>
              <a:t>Draft &amp; checks</a:t>
            </a:r>
            <a:endParaRPr lang="en-US" sz="1600" dirty="0"/>
          </a:p>
        </p:txBody>
      </p:sp>
      <p:sp>
        <p:nvSpPr>
          <p:cNvPr id="38" name="Shape 36"/>
          <p:cNvSpPr/>
          <p:nvPr/>
        </p:nvSpPr>
        <p:spPr>
          <a:xfrm>
            <a:off x="9040901" y="2148840"/>
            <a:ext cx="2602154" cy="3977640"/>
          </a:xfrm>
          <a:prstGeom prst="roundRect">
            <a:avLst>
              <a:gd name="adj" fmla="val 1406"/>
            </a:avLst>
          </a:prstGeom>
          <a:solidFill>
            <a:schemeClr val="bg2"/>
          </a:solidFill>
          <a:ln w="12700">
            <a:solidFill>
              <a:schemeClr val="bg2"/>
            </a:solidFill>
            <a:prstDash val="solid"/>
          </a:ln>
        </p:spPr>
      </p:sp>
      <p:sp>
        <p:nvSpPr>
          <p:cNvPr id="39" name="Text 37"/>
          <p:cNvSpPr txBox="1"/>
          <p:nvPr/>
        </p:nvSpPr>
        <p:spPr>
          <a:xfrm>
            <a:off x="9223781" y="2286000"/>
            <a:ext cx="2236394"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250" dirty="0">
                <a:solidFill>
                  <a:schemeClr val="tx1"/>
                </a:solidFill>
              </a:rPr>
              <a:t>Your Content library: brand voice, approved claims, plays, banned words.</a:t>
            </a:r>
            <a:endParaRPr lang="en-US" sz="1400" dirty="0"/>
          </a:p>
        </p:txBody>
      </p:sp>
      <p:sp>
        <p:nvSpPr>
          <p:cNvPr id="40" name="Text 38"/>
          <p:cNvSpPr txBox="1"/>
          <p:nvPr/>
        </p:nvSpPr>
        <p:spPr>
          <a:xfrm>
            <a:off x="9223781" y="3200400"/>
            <a:ext cx="2236394"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41" name="Text 39"/>
          <p:cNvSpPr txBox="1"/>
          <p:nvPr/>
        </p:nvSpPr>
        <p:spPr>
          <a:xfrm>
            <a:off x="9223781" y="3456432"/>
            <a:ext cx="2282114" cy="178308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Writes the first message from approved content</a:t>
            </a:r>
            <a:endParaRPr lang="en-US" sz="1250" dirty="0"/>
          </a:p>
          <a:p>
            <a:pPr marL="177800" indent="-177800">
              <a:spcAft>
                <a:spcPts val="300"/>
              </a:spcAft>
              <a:buSzPct val="100000"/>
              <a:buChar char="•"/>
            </a:pPr>
            <a:r>
              <a:rPr lang="en-US" sz="1250" dirty="0">
                <a:solidFill>
                  <a:schemeClr val="tx1"/>
                </a:solidFill>
              </a:rPr>
              <a:t>Checks brand, claims, length, pricing, consent</a:t>
            </a:r>
            <a:endParaRPr lang="en-US" sz="1250" dirty="0"/>
          </a:p>
          <a:p>
            <a:pPr marL="177800" indent="-177800">
              <a:spcAft>
                <a:spcPts val="300"/>
              </a:spcAft>
              <a:buSzPct val="100000"/>
              <a:buChar char="•"/>
            </a:pPr>
            <a:r>
              <a:rPr lang="en-US" sz="1250" dirty="0">
                <a:solidFill>
                  <a:schemeClr val="tx1"/>
                </a:solidFill>
              </a:rPr>
              <a:t>Regenerates once if a check fails</a:t>
            </a:r>
            <a:endParaRPr lang="en-US" sz="1250" dirty="0"/>
          </a:p>
        </p:txBody>
      </p:sp>
      <p:sp>
        <p:nvSpPr>
          <p:cNvPr id="42" name="Shape 40"/>
          <p:cNvSpPr/>
          <p:nvPr/>
        </p:nvSpPr>
        <p:spPr>
          <a:xfrm>
            <a:off x="9150629" y="5285232"/>
            <a:ext cx="2382698" cy="731520"/>
          </a:xfrm>
          <a:prstGeom prst="roundRect">
            <a:avLst>
              <a:gd name="adj" fmla="val 10000"/>
            </a:avLst>
          </a:prstGeom>
          <a:solidFill>
            <a:schemeClr val="accent5"/>
          </a:solidFill>
          <a:ln w="12700">
            <a:solidFill>
              <a:schemeClr val="accent5"/>
            </a:solidFill>
            <a:prstDash val="solid"/>
          </a:ln>
        </p:spPr>
      </p:sp>
      <p:sp>
        <p:nvSpPr>
          <p:cNvPr id="43" name="Text 41"/>
          <p:cNvSpPr txBox="1"/>
          <p:nvPr/>
        </p:nvSpPr>
        <p:spPr>
          <a:xfrm>
            <a:off x="9269501" y="5303520"/>
            <a:ext cx="2144954"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200" dirty="0">
                <a:solidFill>
                  <a:schemeClr val="tx1"/>
                </a:solidFill>
              </a:rPr>
              <a:t>A ready draft, or the check that stopped it.</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EACH STEP · 3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For Review, release and Analytics, step by step</a:t>
            </a:r>
            <a:endParaRPr lang="en-US" sz="2800" dirty="0"/>
          </a:p>
        </p:txBody>
      </p:sp>
      <p:sp>
        <p:nvSpPr>
          <p:cNvPr id="4" name="Shape 2"/>
          <p:cNvSpPr/>
          <p:nvPr/>
        </p:nvSpPr>
        <p:spPr>
          <a:xfrm>
            <a:off x="548640" y="1417320"/>
            <a:ext cx="3545738" cy="731520"/>
          </a:xfrm>
          <a:prstGeom prst="roundRect">
            <a:avLst>
              <a:gd name="adj" fmla="val 10000"/>
            </a:avLst>
          </a:prstGeom>
          <a:solidFill>
            <a:schemeClr val="accent2"/>
          </a:solidFill>
          <a:ln w="12700">
            <a:solidFill>
              <a:schemeClr val="accent2"/>
            </a:solidFill>
            <a:prstDash val="solid"/>
          </a:ln>
        </p:spPr>
      </p:sp>
      <p:sp>
        <p:nvSpPr>
          <p:cNvPr id="5" name="Shape 3"/>
          <p:cNvSpPr/>
          <p:nvPr/>
        </p:nvSpPr>
        <p:spPr>
          <a:xfrm>
            <a:off x="713232" y="1591056"/>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13232"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7" name="Text 5"/>
          <p:cNvSpPr txBox="1"/>
          <p:nvPr/>
        </p:nvSpPr>
        <p:spPr>
          <a:xfrm>
            <a:off x="1207008"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For Review</a:t>
            </a:r>
            <a:endParaRPr lang="en-US" sz="1600" dirty="0"/>
          </a:p>
        </p:txBody>
      </p:sp>
      <p:sp>
        <p:nvSpPr>
          <p:cNvPr id="8" name="Shape 6"/>
          <p:cNvSpPr/>
          <p:nvPr/>
        </p:nvSpPr>
        <p:spPr>
          <a:xfrm>
            <a:off x="548640" y="2148840"/>
            <a:ext cx="3545738" cy="3977640"/>
          </a:xfrm>
          <a:prstGeom prst="roundRect">
            <a:avLst>
              <a:gd name="adj" fmla="val 1032"/>
            </a:avLst>
          </a:prstGeom>
          <a:solidFill>
            <a:schemeClr val="bg2"/>
          </a:solidFill>
          <a:ln w="12700">
            <a:solidFill>
              <a:schemeClr val="bg2"/>
            </a:solidFill>
            <a:prstDash val="solid"/>
          </a:ln>
        </p:spPr>
      </p:sp>
      <p:sp>
        <p:nvSpPr>
          <p:cNvPr id="9" name="Text 7"/>
          <p:cNvSpPr txBox="1"/>
          <p:nvPr/>
        </p:nvSpPr>
        <p:spPr>
          <a:xfrm>
            <a:off x="731520"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Reviewers: each rep for their own items; the sales manager for approvals.</a:t>
            </a:r>
            <a:endParaRPr lang="en-US" sz="1400" dirty="0"/>
          </a:p>
        </p:txBody>
      </p:sp>
      <p:sp>
        <p:nvSpPr>
          <p:cNvPr id="10" name="Text 8"/>
          <p:cNvSpPr txBox="1"/>
          <p:nvPr/>
        </p:nvSpPr>
        <p:spPr>
          <a:xfrm>
            <a:off x="731520"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11" name="Text 9"/>
          <p:cNvSpPr txBox="1"/>
          <p:nvPr/>
        </p:nvSpPr>
        <p:spPr>
          <a:xfrm>
            <a:off x="731520"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Exception queue: items a check could not clear go to the rep</a:t>
            </a:r>
            <a:endParaRPr lang="en-US" sz="1350" dirty="0"/>
          </a:p>
          <a:p>
            <a:pPr marL="177800" indent="-177800">
              <a:spcAft>
                <a:spcPts val="300"/>
              </a:spcAft>
              <a:buSzPct val="100000"/>
              <a:buChar char="•"/>
            </a:pPr>
            <a:r>
              <a:rPr lang="en-US" sz="1350" dirty="0">
                <a:solidFill>
                  <a:schemeClr val="tx1"/>
                </a:solidFill>
              </a:rPr>
              <a:t>Approvals: sensitive topics (incidents, security, regulation) go to the sales manager</a:t>
            </a:r>
            <a:endParaRPr lang="en-US" sz="1350" dirty="0"/>
          </a:p>
          <a:p>
            <a:pPr marL="177800" indent="-177800">
              <a:spcAft>
                <a:spcPts val="300"/>
              </a:spcAft>
              <a:buSzPct val="100000"/>
              <a:buChar char="•"/>
            </a:pPr>
            <a:r>
              <a:rPr lang="en-US" sz="1350" dirty="0">
                <a:solidFill>
                  <a:schemeClr val="tx1"/>
                </a:solidFill>
              </a:rPr>
              <a:t>Weekly spot-check: about 20% of released items, at least one per rep, rated by a person</a:t>
            </a:r>
            <a:endParaRPr lang="en-US" sz="1350" dirty="0"/>
          </a:p>
        </p:txBody>
      </p:sp>
      <p:sp>
        <p:nvSpPr>
          <p:cNvPr id="12" name="Shape 10"/>
          <p:cNvSpPr/>
          <p:nvPr/>
        </p:nvSpPr>
        <p:spPr>
          <a:xfrm>
            <a:off x="658368" y="5285232"/>
            <a:ext cx="3326282" cy="731520"/>
          </a:xfrm>
          <a:prstGeom prst="roundRect">
            <a:avLst>
              <a:gd name="adj" fmla="val 10000"/>
            </a:avLst>
          </a:prstGeom>
          <a:solidFill>
            <a:schemeClr val="accent5"/>
          </a:solidFill>
          <a:ln w="12700">
            <a:solidFill>
              <a:schemeClr val="accent5"/>
            </a:solidFill>
            <a:prstDash val="solid"/>
          </a:ln>
        </p:spPr>
      </p:sp>
      <p:sp>
        <p:nvSpPr>
          <p:cNvPr id="13" name="Text 11"/>
          <p:cNvSpPr txBox="1"/>
          <p:nvPr/>
        </p:nvSpPr>
        <p:spPr>
          <a:xfrm>
            <a:off x="777240"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Accept, edit, choose an alternative or reject, with a reason.</a:t>
            </a:r>
            <a:endParaRPr lang="en-US" sz="1400" dirty="0"/>
          </a:p>
        </p:txBody>
      </p:sp>
      <p:sp>
        <p:nvSpPr>
          <p:cNvPr id="14" name="Shape 12"/>
          <p:cNvSpPr/>
          <p:nvPr/>
        </p:nvSpPr>
        <p:spPr>
          <a:xfrm>
            <a:off x="4322978" y="1417320"/>
            <a:ext cx="3545738" cy="731520"/>
          </a:xfrm>
          <a:prstGeom prst="roundRect">
            <a:avLst>
              <a:gd name="adj" fmla="val 10000"/>
            </a:avLst>
          </a:prstGeom>
          <a:solidFill>
            <a:schemeClr val="tx1"/>
          </a:solidFill>
          <a:ln w="12700">
            <a:solidFill>
              <a:schemeClr val="tx1"/>
            </a:solidFill>
            <a:prstDash val="solid"/>
          </a:ln>
        </p:spPr>
      </p:sp>
      <p:sp>
        <p:nvSpPr>
          <p:cNvPr id="15" name="Shape 13"/>
          <p:cNvSpPr/>
          <p:nvPr/>
        </p:nvSpPr>
        <p:spPr>
          <a:xfrm>
            <a:off x="4487570" y="1591056"/>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4487570"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9</a:t>
            </a:r>
            <a:endParaRPr lang="en-US" sz="1300" dirty="0"/>
          </a:p>
        </p:txBody>
      </p:sp>
      <p:sp>
        <p:nvSpPr>
          <p:cNvPr id="17" name="Text 15"/>
          <p:cNvSpPr txBox="1"/>
          <p:nvPr/>
        </p:nvSpPr>
        <p:spPr>
          <a:xfrm>
            <a:off x="4981346"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Release to reps</a:t>
            </a:r>
            <a:endParaRPr lang="en-US" sz="1600" dirty="0"/>
          </a:p>
        </p:txBody>
      </p:sp>
      <p:sp>
        <p:nvSpPr>
          <p:cNvPr id="18" name="Shape 16"/>
          <p:cNvSpPr/>
          <p:nvPr/>
        </p:nvSpPr>
        <p:spPr>
          <a:xfrm>
            <a:off x="4322978" y="2148840"/>
            <a:ext cx="3545738" cy="3977640"/>
          </a:xfrm>
          <a:prstGeom prst="roundRect">
            <a:avLst>
              <a:gd name="adj" fmla="val 1032"/>
            </a:avLst>
          </a:prstGeom>
          <a:solidFill>
            <a:schemeClr val="bg2"/>
          </a:solidFill>
          <a:ln w="12700">
            <a:solidFill>
              <a:schemeClr val="bg2"/>
            </a:solidFill>
            <a:prstDash val="solid"/>
          </a:ln>
        </p:spPr>
      </p:sp>
      <p:sp>
        <p:nvSpPr>
          <p:cNvPr id="19" name="Text 17"/>
          <p:cNvSpPr txBox="1"/>
          <p:nvPr/>
        </p:nvSpPr>
        <p:spPr>
          <a:xfrm>
            <a:off x="4505858"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Nothing: items that pass every check go ahead on their own.</a:t>
            </a:r>
            <a:endParaRPr lang="en-US" sz="1400" dirty="0"/>
          </a:p>
        </p:txBody>
      </p:sp>
      <p:sp>
        <p:nvSpPr>
          <p:cNvPr id="20" name="Text 18"/>
          <p:cNvSpPr txBox="1"/>
          <p:nvPr/>
        </p:nvSpPr>
        <p:spPr>
          <a:xfrm>
            <a:off x="4505858"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21" name="Text 19"/>
          <p:cNvSpPr txBox="1"/>
          <p:nvPr/>
        </p:nvSpPr>
        <p:spPr>
          <a:xfrm>
            <a:off x="4505858"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Puts ready actions on each rep's Today list</a:t>
            </a:r>
            <a:endParaRPr lang="en-US" sz="1350" dirty="0"/>
          </a:p>
          <a:p>
            <a:pPr marL="177800" indent="-177800">
              <a:spcAft>
                <a:spcPts val="300"/>
              </a:spcAft>
              <a:buSzPct val="100000"/>
              <a:buChar char="•"/>
            </a:pPr>
            <a:r>
              <a:rPr lang="en-US" sz="1350" dirty="0">
                <a:solidFill>
                  <a:schemeClr val="tx1"/>
                </a:solidFill>
              </a:rPr>
              <a:t>Reps send from their own email or LinkedIn</a:t>
            </a:r>
            <a:endParaRPr lang="en-US" sz="1350" dirty="0"/>
          </a:p>
          <a:p>
            <a:pPr marL="177800" indent="-177800">
              <a:spcAft>
                <a:spcPts val="300"/>
              </a:spcAft>
              <a:buSzPct val="100000"/>
              <a:buChar char="•"/>
            </a:pPr>
            <a:r>
              <a:rPr lang="en-US" sz="1350" dirty="0">
                <a:solidFill>
                  <a:schemeClr val="tx1"/>
                </a:solidFill>
              </a:rPr>
              <a:t>Nothing is sent automatically</a:t>
            </a:r>
            <a:endParaRPr lang="en-US" sz="1350" dirty="0"/>
          </a:p>
        </p:txBody>
      </p:sp>
      <p:sp>
        <p:nvSpPr>
          <p:cNvPr id="22" name="Shape 20"/>
          <p:cNvSpPr/>
          <p:nvPr/>
        </p:nvSpPr>
        <p:spPr>
          <a:xfrm>
            <a:off x="4432706" y="5285232"/>
            <a:ext cx="3326282" cy="731520"/>
          </a:xfrm>
          <a:prstGeom prst="roundRect">
            <a:avLst>
              <a:gd name="adj" fmla="val 10000"/>
            </a:avLst>
          </a:prstGeom>
          <a:solidFill>
            <a:schemeClr val="accent5"/>
          </a:solidFill>
          <a:ln w="12700">
            <a:solidFill>
              <a:schemeClr val="accent5"/>
            </a:solidFill>
            <a:prstDash val="solid"/>
          </a:ln>
        </p:spPr>
      </p:sp>
      <p:sp>
        <p:nvSpPr>
          <p:cNvPr id="23" name="Text 21"/>
          <p:cNvSpPr txBox="1"/>
          <p:nvPr/>
        </p:nvSpPr>
        <p:spPr>
          <a:xfrm>
            <a:off x="4551578"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Each rep's actions for today, ready to use.</a:t>
            </a:r>
            <a:endParaRPr lang="en-US" sz="1400" dirty="0"/>
          </a:p>
        </p:txBody>
      </p:sp>
      <p:sp>
        <p:nvSpPr>
          <p:cNvPr id="24" name="Shape 22"/>
          <p:cNvSpPr/>
          <p:nvPr/>
        </p:nvSpPr>
        <p:spPr>
          <a:xfrm>
            <a:off x="8097317" y="1417320"/>
            <a:ext cx="3545738" cy="731520"/>
          </a:xfrm>
          <a:prstGeom prst="roundRect">
            <a:avLst>
              <a:gd name="adj" fmla="val 10000"/>
            </a:avLst>
          </a:prstGeom>
          <a:solidFill>
            <a:schemeClr val="tx1"/>
          </a:solidFill>
          <a:ln w="12700">
            <a:solidFill>
              <a:schemeClr val="tx1"/>
            </a:solidFill>
            <a:prstDash val="solid"/>
          </a:ln>
        </p:spPr>
      </p:sp>
      <p:sp>
        <p:nvSpPr>
          <p:cNvPr id="25" name="Shape 23"/>
          <p:cNvSpPr/>
          <p:nvPr/>
        </p:nvSpPr>
        <p:spPr>
          <a:xfrm>
            <a:off x="8261909" y="1591056"/>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8261909" y="159105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10</a:t>
            </a:r>
            <a:endParaRPr lang="en-US" sz="1300" dirty="0"/>
          </a:p>
        </p:txBody>
      </p:sp>
      <p:sp>
        <p:nvSpPr>
          <p:cNvPr id="27" name="Text 25"/>
          <p:cNvSpPr txBox="1"/>
          <p:nvPr/>
        </p:nvSpPr>
        <p:spPr>
          <a:xfrm>
            <a:off x="8755685" y="1417320"/>
            <a:ext cx="2768498" cy="731520"/>
          </a:xfrm>
          <a:prstGeom prst="rect">
            <a:avLst/>
          </a:prstGeom>
          <a:noFill/>
          <a:ln/>
        </p:spPr>
        <p:txBody>
          <a:bodyPr wrap="square" lIns="0" tIns="0" rIns="0" bIns="0" rtlCol="0" anchor="ctr"/>
          <a:lstStyle/>
          <a:p>
            <a:pPr indent="0" marL="0">
              <a:buNone/>
            </a:pPr>
            <a:r>
              <a:rPr lang="en-US" sz="1600" b="1" dirty="0">
                <a:solidFill>
                  <a:schemeClr val="bg1"/>
                </a:solidFill>
              </a:rPr>
              <a:t>Analytics</a:t>
            </a:r>
            <a:endParaRPr lang="en-US" sz="1600" dirty="0"/>
          </a:p>
        </p:txBody>
      </p:sp>
      <p:sp>
        <p:nvSpPr>
          <p:cNvPr id="28" name="Shape 26"/>
          <p:cNvSpPr/>
          <p:nvPr/>
        </p:nvSpPr>
        <p:spPr>
          <a:xfrm>
            <a:off x="8097317" y="2148840"/>
            <a:ext cx="3545738" cy="3977640"/>
          </a:xfrm>
          <a:prstGeom prst="roundRect">
            <a:avLst>
              <a:gd name="adj" fmla="val 1032"/>
            </a:avLst>
          </a:prstGeom>
          <a:solidFill>
            <a:schemeClr val="bg2"/>
          </a:solidFill>
          <a:ln w="12700">
            <a:solidFill>
              <a:schemeClr val="bg2"/>
            </a:solidFill>
            <a:prstDash val="solid"/>
          </a:ln>
        </p:spPr>
      </p:sp>
      <p:sp>
        <p:nvSpPr>
          <p:cNvPr id="29" name="Text 27"/>
          <p:cNvSpPr txBox="1"/>
          <p:nvPr/>
        </p:nvSpPr>
        <p:spPr>
          <a:xfrm>
            <a:off x="8280197" y="2286000"/>
            <a:ext cx="3179978" cy="868680"/>
          </a:xfrm>
          <a:prstGeom prst="rect">
            <a:avLst/>
          </a:prstGeom>
          <a:noFill/>
          <a:ln/>
        </p:spPr>
        <p:txBody>
          <a:bodyPr wrap="square" lIns="0" tIns="0" rIns="0" bIns="0" rtlCol="0" anchor="t"/>
          <a:lstStyle/>
          <a:p>
            <a:pPr indent="0" marL="0">
              <a:buNone/>
            </a:pPr>
            <a:r>
              <a:rPr lang="en-US" sz="1050" b="1" spc="100" kern="0" dirty="0">
                <a:solidFill>
                  <a:schemeClr val="accent3"/>
                </a:solidFill>
              </a:rPr>
              <a:t>YOU GIVE</a:t>
            </a:r>
            <a:endParaRPr lang="en-US" sz="1400" dirty="0"/>
          </a:p>
          <a:p>
            <a:pPr indent="0" marL="0">
              <a:buNone/>
            </a:pPr>
            <a:r>
              <a:rPr lang="en-US" sz="1350" dirty="0">
                <a:solidFill>
                  <a:schemeClr val="tx1"/>
                </a:solidFill>
              </a:rPr>
              <a:t>The baseline and thresholds you agree (e.g. 38 minutes per action today).</a:t>
            </a:r>
            <a:endParaRPr lang="en-US" sz="1400" dirty="0"/>
          </a:p>
        </p:txBody>
      </p:sp>
      <p:sp>
        <p:nvSpPr>
          <p:cNvPr id="30" name="Text 28"/>
          <p:cNvSpPr txBox="1"/>
          <p:nvPr/>
        </p:nvSpPr>
        <p:spPr>
          <a:xfrm>
            <a:off x="8280197" y="3200400"/>
            <a:ext cx="3179978"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DEMANDAI DOES</a:t>
            </a:r>
            <a:endParaRPr lang="en-US" sz="1050" dirty="0"/>
          </a:p>
        </p:txBody>
      </p:sp>
      <p:sp>
        <p:nvSpPr>
          <p:cNvPr id="31" name="Text 29"/>
          <p:cNvSpPr txBox="1"/>
          <p:nvPr/>
        </p:nvSpPr>
        <p:spPr>
          <a:xfrm>
            <a:off x="8280197" y="3456432"/>
            <a:ext cx="3225698" cy="1783080"/>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G1: human review minutes per usable first action</a:t>
            </a:r>
            <a:endParaRPr lang="en-US" sz="1350" dirty="0"/>
          </a:p>
          <a:p>
            <a:pPr marL="177800" indent="-177800">
              <a:spcAft>
                <a:spcPts val="300"/>
              </a:spcAft>
              <a:buSzPct val="100000"/>
              <a:buChar char="•"/>
            </a:pPr>
            <a:r>
              <a:rPr lang="en-US" sz="1350" dirty="0">
                <a:solidFill>
                  <a:schemeClr val="tx1"/>
                </a:solidFill>
              </a:rPr>
              <a:t>G2: share accepted on the first pass</a:t>
            </a:r>
            <a:endParaRPr lang="en-US" sz="1350" dirty="0"/>
          </a:p>
          <a:p>
            <a:pPr marL="177800" indent="-177800">
              <a:spcAft>
                <a:spcPts val="300"/>
              </a:spcAft>
              <a:buSzPct val="100000"/>
              <a:buChar char="•"/>
            </a:pPr>
            <a:r>
              <a:rPr lang="en-US" sz="1350" dirty="0">
                <a:solidFill>
                  <a:schemeClr val="tx1"/>
                </a:solidFill>
              </a:rPr>
              <a:t>Too early to call until 10 decisions are counted</a:t>
            </a:r>
            <a:endParaRPr lang="en-US" sz="1350" dirty="0"/>
          </a:p>
          <a:p>
            <a:pPr marL="177800" indent="-177800">
              <a:spcAft>
                <a:spcPts val="300"/>
              </a:spcAft>
              <a:buSzPct val="100000"/>
              <a:buChar char="•"/>
            </a:pPr>
            <a:r>
              <a:rPr lang="en-US" sz="1350" dirty="0">
                <a:solidFill>
                  <a:schemeClr val="tx1"/>
                </a:solidFill>
              </a:rPr>
              <a:t>Pilot readout and weekly summary</a:t>
            </a:r>
            <a:endParaRPr lang="en-US" sz="1350" dirty="0"/>
          </a:p>
        </p:txBody>
      </p:sp>
      <p:sp>
        <p:nvSpPr>
          <p:cNvPr id="32" name="Shape 30"/>
          <p:cNvSpPr/>
          <p:nvPr/>
        </p:nvSpPr>
        <p:spPr>
          <a:xfrm>
            <a:off x="8207045" y="5285232"/>
            <a:ext cx="3326282" cy="731520"/>
          </a:xfrm>
          <a:prstGeom prst="roundRect">
            <a:avLst>
              <a:gd name="adj" fmla="val 10000"/>
            </a:avLst>
          </a:prstGeom>
          <a:solidFill>
            <a:schemeClr val="accent5"/>
          </a:solidFill>
          <a:ln w="12700">
            <a:solidFill>
              <a:schemeClr val="accent5"/>
            </a:solidFill>
            <a:prstDash val="solid"/>
          </a:ln>
        </p:spPr>
      </p:sp>
      <p:sp>
        <p:nvSpPr>
          <p:cNvPr id="33" name="Text 31"/>
          <p:cNvSpPr txBox="1"/>
          <p:nvPr/>
        </p:nvSpPr>
        <p:spPr>
          <a:xfrm>
            <a:off x="8325917" y="5303520"/>
            <a:ext cx="3088538" cy="694944"/>
          </a:xfrm>
          <a:prstGeom prst="rect">
            <a:avLst/>
          </a:prstGeom>
          <a:noFill/>
          <a:ln/>
        </p:spPr>
        <p:txBody>
          <a:bodyPr wrap="square" lIns="0" tIns="0" rIns="0" bIns="0" rtlCol="0" anchor="ctr"/>
          <a:lstStyle/>
          <a:p>
            <a:pPr indent="0" marL="0">
              <a:buNone/>
            </a:pPr>
            <a:r>
              <a:rPr lang="en-US" sz="1050" b="1" spc="100" kern="0" dirty="0">
                <a:solidFill>
                  <a:schemeClr val="accent3"/>
                </a:solidFill>
              </a:rPr>
              <a:t>YOU SEE  </a:t>
            </a:r>
            <a:endParaRPr lang="en-US" sz="1400" dirty="0"/>
          </a:p>
          <a:p>
            <a:pPr indent="0" marL="0">
              <a:buNone/>
            </a:pPr>
            <a:r>
              <a:rPr lang="en-US" sz="1300" dirty="0">
                <a:solidFill>
                  <a:schemeClr val="tx1"/>
                </a:solidFill>
              </a:rPr>
              <a:t>Whether the pilot meets G1 and G2, and why.</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PROSPECT &amp; ACCOUNT SCORING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Prospect &amp; Account Scoring: key questions</a:t>
            </a:r>
            <a:endParaRPr lang="en-US" sz="2800" dirty="0"/>
          </a:p>
        </p:txBody>
      </p:sp>
      <p:sp>
        <p:nvSpPr>
          <p:cNvPr id="4" name="Shape 2"/>
          <p:cNvSpPr/>
          <p:nvPr/>
        </p:nvSpPr>
        <p:spPr>
          <a:xfrm>
            <a:off x="9445752" y="292608"/>
            <a:ext cx="2194560" cy="292608"/>
          </a:xfrm>
          <a:prstGeom prst="roundRect">
            <a:avLst>
              <a:gd name="adj" fmla="val 25000"/>
            </a:avLst>
          </a:prstGeom>
          <a:solidFill>
            <a:schemeClr val="accent1"/>
          </a:solidFill>
          <a:ln w="12700">
            <a:solidFill>
              <a:schemeClr val="accent1"/>
            </a:solidFill>
            <a:prstDash val="solid"/>
          </a:ln>
        </p:spPr>
      </p:sp>
      <p:sp>
        <p:nvSpPr>
          <p:cNvPr id="5" name="Text 3"/>
          <p:cNvSpPr txBox="1"/>
          <p:nvPr/>
        </p:nvSpPr>
        <p:spPr>
          <a:xfrm>
            <a:off x="9445752" y="292608"/>
            <a:ext cx="2194560" cy="292608"/>
          </a:xfrm>
          <a:prstGeom prst="rect">
            <a:avLst/>
          </a:prstGeom>
          <a:noFill/>
          <a:ln/>
        </p:spPr>
        <p:txBody>
          <a:bodyPr wrap="square" lIns="0" tIns="0" rIns="0" bIns="0" rtlCol="0" anchor="ctr"/>
          <a:lstStyle/>
          <a:p>
            <a:pPr algn="ctr" indent="0" marL="0">
              <a:buNone/>
            </a:pPr>
            <a:r>
              <a:rPr lang="en-US" sz="1000" b="1" spc="100" kern="0" dirty="0">
                <a:solidFill>
                  <a:schemeClr val="tx1"/>
                </a:solidFill>
              </a:rPr>
              <a:t>ACCOUNT SCORING</a:t>
            </a:r>
            <a:endParaRPr lang="en-US" sz="1000" dirty="0"/>
          </a:p>
        </p:txBody>
      </p:sp>
      <p:sp>
        <p:nvSpPr>
          <p:cNvPr id="6" name="Shape 4"/>
          <p:cNvSpPr/>
          <p:nvPr/>
        </p:nvSpPr>
        <p:spPr>
          <a:xfrm>
            <a:off x="548640" y="1463040"/>
            <a:ext cx="3515258" cy="777240"/>
          </a:xfrm>
          <a:prstGeom prst="roundRect">
            <a:avLst>
              <a:gd name="adj" fmla="val 9412"/>
            </a:avLst>
          </a:prstGeom>
          <a:solidFill>
            <a:schemeClr val="tx1"/>
          </a:solidFill>
          <a:ln w="12700">
            <a:solidFill>
              <a:schemeClr val="tx1"/>
            </a:solidFill>
            <a:prstDash val="solid"/>
          </a:ln>
        </p:spPr>
      </p:sp>
      <p:sp>
        <p:nvSpPr>
          <p:cNvPr id="7" name="Text 5"/>
          <p:cNvSpPr txBox="1"/>
          <p:nvPr/>
        </p:nvSpPr>
        <p:spPr>
          <a:xfrm>
            <a:off x="777240"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A. Lead lists &amp; data</a:t>
            </a:r>
            <a:endParaRPr lang="en-US" sz="1700" dirty="0"/>
          </a:p>
        </p:txBody>
      </p:sp>
      <p:sp>
        <p:nvSpPr>
          <p:cNvPr id="8" name="Shape 6"/>
          <p:cNvSpPr/>
          <p:nvPr/>
        </p:nvSpPr>
        <p:spPr>
          <a:xfrm>
            <a:off x="548640" y="2240280"/>
            <a:ext cx="3515258" cy="3337560"/>
          </a:xfrm>
          <a:prstGeom prst="roundRect">
            <a:avLst>
              <a:gd name="adj" fmla="val 1096"/>
            </a:avLst>
          </a:prstGeom>
          <a:solidFill>
            <a:schemeClr val="bg2"/>
          </a:solidFill>
          <a:ln w="12700">
            <a:solidFill>
              <a:schemeClr val="bg2"/>
            </a:solidFill>
            <a:prstDash val="solid"/>
          </a:ln>
        </p:spPr>
      </p:sp>
      <p:sp>
        <p:nvSpPr>
          <p:cNvPr id="9" name="Text 7"/>
          <p:cNvSpPr txBox="1"/>
          <p:nvPr/>
        </p:nvSpPr>
        <p:spPr>
          <a:xfrm>
            <a:off x="777240" y="2423160"/>
            <a:ext cx="3103778" cy="30175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Where do lead lists come from today: CRM, events, bought data?</a:t>
            </a:r>
            <a:endParaRPr lang="en-US" sz="1350" dirty="0"/>
          </a:p>
          <a:p>
            <a:pPr marL="177800" indent="-177800">
              <a:spcAft>
                <a:spcPts val="700"/>
              </a:spcAft>
              <a:buSzPct val="100000"/>
              <a:buChar char="•"/>
            </a:pPr>
            <a:r>
              <a:rPr lang="en-US" sz="1350" dirty="0">
                <a:solidFill>
                  <a:schemeClr val="tx1"/>
                </a:solidFill>
              </a:rPr>
              <a:t>How many accounts and contacts per region and business unit?</a:t>
            </a:r>
            <a:endParaRPr lang="en-US" sz="1350" dirty="0"/>
          </a:p>
          <a:p>
            <a:pPr marL="177800" indent="-177800">
              <a:spcAft>
                <a:spcPts val="700"/>
              </a:spcAft>
              <a:buSzPct val="100000"/>
              <a:buChar char="•"/>
            </a:pPr>
            <a:r>
              <a:rPr lang="en-US" sz="1350" dirty="0">
                <a:solidFill>
                  <a:schemeClr val="tx1"/>
                </a:solidFill>
              </a:rPr>
              <a:t>How are duplicates, opt-outs and consent handled?</a:t>
            </a:r>
            <a:endParaRPr lang="en-US" sz="1350" dirty="0"/>
          </a:p>
          <a:p>
            <a:pPr marL="177800" indent="-177800">
              <a:spcAft>
                <a:spcPts val="700"/>
              </a:spcAft>
              <a:buSzPct val="100000"/>
              <a:buChar char="•"/>
            </a:pPr>
            <a:r>
              <a:rPr lang="en-US" sz="1350" dirty="0">
                <a:solidFill>
                  <a:schemeClr val="tx1"/>
                </a:solidFill>
              </a:rPr>
              <a:t>Who owns each account, and how is that recorded?</a:t>
            </a:r>
            <a:endParaRPr lang="en-US" sz="1350" dirty="0"/>
          </a:p>
          <a:p>
            <a:pPr marL="177800" indent="-177800">
              <a:spcAft>
                <a:spcPts val="700"/>
              </a:spcAft>
              <a:buSzPct val="100000"/>
              <a:buChar char="•"/>
            </a:pPr>
            <a:r>
              <a:rPr lang="en-US" sz="1350" dirty="0">
                <a:solidFill>
                  <a:schemeClr val="tx1"/>
                </a:solidFill>
              </a:rPr>
              <a:t>How often are lists refreshed?</a:t>
            </a:r>
            <a:endParaRPr lang="en-US" sz="1350" dirty="0"/>
          </a:p>
        </p:txBody>
      </p:sp>
      <p:sp>
        <p:nvSpPr>
          <p:cNvPr id="10" name="Shape 8"/>
          <p:cNvSpPr/>
          <p:nvPr/>
        </p:nvSpPr>
        <p:spPr>
          <a:xfrm>
            <a:off x="4338218" y="1463040"/>
            <a:ext cx="3515258" cy="777240"/>
          </a:xfrm>
          <a:prstGeom prst="roundRect">
            <a:avLst>
              <a:gd name="adj" fmla="val 9412"/>
            </a:avLst>
          </a:prstGeom>
          <a:solidFill>
            <a:schemeClr val="tx1"/>
          </a:solidFill>
          <a:ln w="12700">
            <a:solidFill>
              <a:schemeClr val="tx1"/>
            </a:solidFill>
            <a:prstDash val="solid"/>
          </a:ln>
        </p:spPr>
      </p:sp>
      <p:sp>
        <p:nvSpPr>
          <p:cNvPr id="11" name="Text 9"/>
          <p:cNvSpPr txBox="1"/>
          <p:nvPr/>
        </p:nvSpPr>
        <p:spPr>
          <a:xfrm>
            <a:off x="4566818"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B. Ideal customer &amp; fit</a:t>
            </a:r>
            <a:endParaRPr lang="en-US" sz="1700" dirty="0"/>
          </a:p>
        </p:txBody>
      </p:sp>
      <p:sp>
        <p:nvSpPr>
          <p:cNvPr id="12" name="Shape 10"/>
          <p:cNvSpPr/>
          <p:nvPr/>
        </p:nvSpPr>
        <p:spPr>
          <a:xfrm>
            <a:off x="4338218" y="2240280"/>
            <a:ext cx="3515258" cy="3337560"/>
          </a:xfrm>
          <a:prstGeom prst="roundRect">
            <a:avLst>
              <a:gd name="adj" fmla="val 1096"/>
            </a:avLst>
          </a:prstGeom>
          <a:solidFill>
            <a:schemeClr val="bg2"/>
          </a:solidFill>
          <a:ln w="12700">
            <a:solidFill>
              <a:schemeClr val="bg2"/>
            </a:solidFill>
            <a:prstDash val="solid"/>
          </a:ln>
        </p:spPr>
      </p:sp>
      <p:sp>
        <p:nvSpPr>
          <p:cNvPr id="13" name="Text 11"/>
          <p:cNvSpPr txBox="1"/>
          <p:nvPr/>
        </p:nvSpPr>
        <p:spPr>
          <a:xfrm>
            <a:off x="4566818" y="2423160"/>
            <a:ext cx="3103778" cy="30175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Who is the ideal customer: industry, site type, size, revenue?</a:t>
            </a:r>
            <a:endParaRPr lang="en-US" sz="1350" dirty="0"/>
          </a:p>
          <a:p>
            <a:pPr marL="177800" indent="-177800">
              <a:spcAft>
                <a:spcPts val="700"/>
              </a:spcAft>
              <a:buSzPct val="100000"/>
              <a:buChar char="•"/>
            </a:pPr>
            <a:r>
              <a:rPr lang="en-US" sz="1350" dirty="0">
                <a:solidFill>
                  <a:schemeClr val="tx1"/>
                </a:solidFill>
              </a:rPr>
              <a:t>Which criteria rule an account out?</a:t>
            </a:r>
            <a:endParaRPr lang="en-US" sz="1350" dirty="0"/>
          </a:p>
          <a:p>
            <a:pPr marL="177800" indent="-177800">
              <a:spcAft>
                <a:spcPts val="700"/>
              </a:spcAft>
              <a:buSzPct val="100000"/>
              <a:buChar char="•"/>
            </a:pPr>
            <a:r>
              <a:rPr lang="en-US" sz="1350" dirty="0">
                <a:solidFill>
                  <a:schemeClr val="tx1"/>
                </a:solidFill>
              </a:rPr>
              <a:t>Which roles and seniority do you target first?</a:t>
            </a:r>
            <a:endParaRPr lang="en-US" sz="1350" dirty="0"/>
          </a:p>
          <a:p>
            <a:pPr marL="177800" indent="-177800">
              <a:spcAft>
                <a:spcPts val="700"/>
              </a:spcAft>
              <a:buSzPct val="100000"/>
              <a:buChar char="•"/>
            </a:pPr>
            <a:r>
              <a:rPr lang="en-US" sz="1350" dirty="0">
                <a:solidFill>
                  <a:schemeClr val="tx1"/>
                </a:solidFill>
              </a:rPr>
              <a:t>Are existing customers and net-new treated differently?</a:t>
            </a:r>
            <a:endParaRPr lang="en-US" sz="1350" dirty="0"/>
          </a:p>
          <a:p>
            <a:pPr marL="177800" indent="-177800">
              <a:spcAft>
                <a:spcPts val="700"/>
              </a:spcAft>
              <a:buSzPct val="100000"/>
              <a:buChar char="•"/>
            </a:pPr>
            <a:r>
              <a:rPr lang="en-US" sz="1350" dirty="0">
                <a:solidFill>
                  <a:schemeClr val="tx1"/>
                </a:solidFill>
              </a:rPr>
              <a:t>Are some accounts managed separately (key accounts, partners)?</a:t>
            </a:r>
            <a:endParaRPr lang="en-US" sz="1350" dirty="0"/>
          </a:p>
        </p:txBody>
      </p:sp>
      <p:sp>
        <p:nvSpPr>
          <p:cNvPr id="14" name="Shape 12"/>
          <p:cNvSpPr/>
          <p:nvPr/>
        </p:nvSpPr>
        <p:spPr>
          <a:xfrm>
            <a:off x="8127797" y="1463040"/>
            <a:ext cx="3515258" cy="777240"/>
          </a:xfrm>
          <a:prstGeom prst="roundRect">
            <a:avLst>
              <a:gd name="adj" fmla="val 9412"/>
            </a:avLst>
          </a:prstGeom>
          <a:solidFill>
            <a:schemeClr val="tx1"/>
          </a:solidFill>
          <a:ln w="12700">
            <a:solidFill>
              <a:schemeClr val="tx1"/>
            </a:solidFill>
            <a:prstDash val="solid"/>
          </a:ln>
        </p:spPr>
      </p:sp>
      <p:sp>
        <p:nvSpPr>
          <p:cNvPr id="15" name="Text 13"/>
          <p:cNvSpPr txBox="1"/>
          <p:nvPr/>
        </p:nvSpPr>
        <p:spPr>
          <a:xfrm>
            <a:off x="8356397"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C. Buying signals &amp; timing</a:t>
            </a:r>
            <a:endParaRPr lang="en-US" sz="1700" dirty="0"/>
          </a:p>
        </p:txBody>
      </p:sp>
      <p:sp>
        <p:nvSpPr>
          <p:cNvPr id="16" name="Shape 14"/>
          <p:cNvSpPr/>
          <p:nvPr/>
        </p:nvSpPr>
        <p:spPr>
          <a:xfrm>
            <a:off x="8127797" y="2240280"/>
            <a:ext cx="3515258" cy="3337560"/>
          </a:xfrm>
          <a:prstGeom prst="roundRect">
            <a:avLst>
              <a:gd name="adj" fmla="val 1096"/>
            </a:avLst>
          </a:prstGeom>
          <a:solidFill>
            <a:schemeClr val="bg2"/>
          </a:solidFill>
          <a:ln w="12700">
            <a:solidFill>
              <a:schemeClr val="bg2"/>
            </a:solidFill>
            <a:prstDash val="solid"/>
          </a:ln>
        </p:spPr>
      </p:sp>
      <p:sp>
        <p:nvSpPr>
          <p:cNvPr id="17" name="Text 15"/>
          <p:cNvSpPr txBox="1"/>
          <p:nvPr/>
        </p:nvSpPr>
        <p:spPr>
          <a:xfrm>
            <a:off x="8356397" y="2423160"/>
            <a:ext cx="3103778" cy="301752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Which signals matter most: inquiries, end of support, renewals, projects, new leaders, webinars?</a:t>
            </a:r>
            <a:endParaRPr lang="en-US" sz="1350" dirty="0"/>
          </a:p>
          <a:p>
            <a:pPr marL="177800" indent="-177800">
              <a:spcAft>
                <a:spcPts val="700"/>
              </a:spcAft>
              <a:buSzPct val="100000"/>
              <a:buChar char="•"/>
            </a:pPr>
            <a:r>
              <a:rPr lang="en-US" sz="1350" dirty="0">
                <a:solidFill>
                  <a:schemeClr val="tx1"/>
                </a:solidFill>
              </a:rPr>
              <a:t>Where does each signal come from, and how fresh is it?</a:t>
            </a:r>
            <a:endParaRPr lang="en-US" sz="1350" dirty="0"/>
          </a:p>
          <a:p>
            <a:pPr marL="177800" indent="-177800">
              <a:spcAft>
                <a:spcPts val="700"/>
              </a:spcAft>
              <a:buSzPct val="100000"/>
              <a:buChar char="•"/>
            </a:pPr>
            <a:r>
              <a:rPr lang="en-US" sz="1350" dirty="0">
                <a:solidFill>
                  <a:schemeClr val="tx1"/>
                </a:solidFill>
              </a:rPr>
              <a:t>How long does a signal stay relevant?</a:t>
            </a:r>
            <a:endParaRPr lang="en-US" sz="1350" dirty="0"/>
          </a:p>
          <a:p>
            <a:pPr marL="177800" indent="-177800">
              <a:spcAft>
                <a:spcPts val="700"/>
              </a:spcAft>
              <a:buSzPct val="100000"/>
              <a:buChar char="•"/>
            </a:pPr>
            <a:r>
              <a:rPr lang="en-US" sz="1350" dirty="0">
                <a:solidFill>
                  <a:schemeClr val="tx1"/>
                </a:solidFill>
              </a:rPr>
              <a:t>Do you track installed-base and contract dates?</a:t>
            </a:r>
            <a:endParaRPr lang="en-US" sz="1350" dirty="0"/>
          </a:p>
        </p:txBody>
      </p:sp>
      <p:sp>
        <p:nvSpPr>
          <p:cNvPr id="18" name="Shape 16"/>
          <p:cNvSpPr/>
          <p:nvPr/>
        </p:nvSpPr>
        <p:spPr>
          <a:xfrm>
            <a:off x="548640" y="5760720"/>
            <a:ext cx="11094415" cy="457200"/>
          </a:xfrm>
          <a:prstGeom prst="roundRect">
            <a:avLst>
              <a:gd name="adj" fmla="val 16000"/>
            </a:avLst>
          </a:prstGeom>
          <a:solidFill>
            <a:schemeClr val="accent5"/>
          </a:solidFill>
          <a:ln w="12700">
            <a:solidFill>
              <a:schemeClr val="accent5"/>
            </a:solidFill>
            <a:prstDash val="solid"/>
          </a:ln>
        </p:spPr>
      </p:sp>
      <p:sp>
        <p:nvSpPr>
          <p:cNvPr id="19" name="Text 17"/>
          <p:cNvSpPr txBox="1"/>
          <p:nvPr/>
        </p:nvSpPr>
        <p:spPr>
          <a:xfrm>
            <a:off x="822960" y="5760720"/>
            <a:ext cx="10545775" cy="457200"/>
          </a:xfrm>
          <a:prstGeom prst="rect">
            <a:avLst/>
          </a:prstGeom>
          <a:noFill/>
          <a:ln/>
        </p:spPr>
        <p:txBody>
          <a:bodyPr wrap="square" lIns="0" tIns="0" rIns="0" bIns="0" rtlCol="0" anchor="ctr"/>
          <a:lstStyle/>
          <a:p>
            <a:pPr indent="0" marL="0">
              <a:buNone/>
            </a:pPr>
            <a:r>
              <a:rPr lang="en-US" sz="1400" b="1" dirty="0">
                <a:solidFill>
                  <a:schemeClr val="tx1"/>
                </a:solidFill>
              </a:rPr>
              <a:t>Any additional pain points in finding and prioritising prospects?</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ACCOUNT SCORING · INPUTS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What DemandAI receives: two files in our templates</a:t>
            </a:r>
            <a:endParaRPr lang="en-US" sz="2800" dirty="0"/>
          </a:p>
        </p:txBody>
      </p:sp>
      <p:sp>
        <p:nvSpPr>
          <p:cNvPr id="4" name="Text 2"/>
          <p:cNvSpPr txBox="1"/>
          <p:nvPr/>
        </p:nvSpPr>
        <p:spPr>
          <a:xfrm>
            <a:off x="548640" y="1188720"/>
            <a:ext cx="11094415" cy="365760"/>
          </a:xfrm>
          <a:prstGeom prst="rect">
            <a:avLst/>
          </a:prstGeom>
          <a:noFill/>
          <a:ln/>
        </p:spPr>
        <p:txBody>
          <a:bodyPr wrap="square" lIns="0" tIns="0" rIns="0" bIns="0" rtlCol="0" anchor="t"/>
          <a:lstStyle/>
          <a:p>
            <a:pPr indent="0" marL="0">
              <a:buNone/>
            </a:pPr>
            <a:r>
              <a:rPr lang="en-US" sz="1400" dirty="0">
                <a:solidFill>
                  <a:schemeClr val="tx2"/>
                </a:solidFill>
              </a:rPr>
              <a:t>DemandAI does not search the web in the pilot. Your team exports prospects and signals from your own systems into two templates and uploads them.</a:t>
            </a:r>
            <a:endParaRPr lang="en-US" sz="1400" dirty="0"/>
          </a:p>
        </p:txBody>
      </p:sp>
      <p:sp>
        <p:nvSpPr>
          <p:cNvPr id="5" name="Shape 3"/>
          <p:cNvSpPr/>
          <p:nvPr/>
        </p:nvSpPr>
        <p:spPr>
          <a:xfrm>
            <a:off x="548640" y="1737360"/>
            <a:ext cx="5394960" cy="3291840"/>
          </a:xfrm>
          <a:prstGeom prst="roundRect">
            <a:avLst>
              <a:gd name="adj" fmla="val 2222"/>
            </a:avLst>
          </a:prstGeom>
          <a:solidFill>
            <a:schemeClr val="bg2"/>
          </a:solidFill>
          <a:ln w="12700">
            <a:solidFill>
              <a:schemeClr val="bg2"/>
            </a:solidFill>
            <a:prstDash val="solid"/>
          </a:ln>
        </p:spPr>
      </p:sp>
      <p:pic>
        <p:nvPicPr>
          <p:cNvPr id="6" name="Image 0" descr="preencoded.png">    </p:cNvPr>
          <p:cNvPicPr>
            <a:picLocks noChangeAspect="1"/>
          </p:cNvPicPr>
          <p:nvPr/>
        </p:nvPicPr>
        <p:blipFill>
          <a:blip r:embed="rId1"/>
          <a:stretch>
            <a:fillRect/>
          </a:stretch>
        </p:blipFill>
        <p:spPr>
          <a:xfrm>
            <a:off x="777240" y="1901952"/>
            <a:ext cx="365760" cy="365760"/>
          </a:xfrm>
          <a:prstGeom prst="rect">
            <a:avLst/>
          </a:prstGeom>
        </p:spPr>
      </p:pic>
      <p:sp>
        <p:nvSpPr>
          <p:cNvPr id="7" name="Text 4"/>
          <p:cNvSpPr txBox="1"/>
          <p:nvPr/>
        </p:nvSpPr>
        <p:spPr>
          <a:xfrm>
            <a:off x="1280160" y="1874520"/>
            <a:ext cx="4480560" cy="411480"/>
          </a:xfrm>
          <a:prstGeom prst="rect">
            <a:avLst/>
          </a:prstGeom>
          <a:noFill/>
          <a:ln/>
        </p:spPr>
        <p:txBody>
          <a:bodyPr wrap="square" lIns="0" tIns="0" rIns="0" bIns="0" rtlCol="0" anchor="ctr"/>
          <a:lstStyle/>
          <a:p>
            <a:pPr indent="0" marL="0">
              <a:buNone/>
            </a:pPr>
            <a:r>
              <a:rPr lang="en-US" sz="1900" b="1" dirty="0">
                <a:solidFill>
                  <a:schemeClr val="tx1"/>
                </a:solidFill>
              </a:rPr>
              <a:t>Prospect template</a:t>
            </a:r>
            <a:endParaRPr lang="en-US" sz="1900" dirty="0"/>
          </a:p>
        </p:txBody>
      </p:sp>
      <p:sp>
        <p:nvSpPr>
          <p:cNvPr id="8" name="Text 5"/>
          <p:cNvSpPr txBox="1"/>
          <p:nvPr/>
        </p:nvSpPr>
        <p:spPr>
          <a:xfrm>
            <a:off x="777240" y="2331720"/>
            <a:ext cx="4937760" cy="274320"/>
          </a:xfrm>
          <a:prstGeom prst="rect">
            <a:avLst/>
          </a:prstGeom>
          <a:noFill/>
          <a:ln/>
        </p:spPr>
        <p:txBody>
          <a:bodyPr wrap="square" lIns="0" tIns="0" rIns="0" bIns="0" rtlCol="0" anchor="t"/>
          <a:lstStyle/>
          <a:p>
            <a:pPr indent="0" marL="0">
              <a:buNone/>
            </a:pPr>
            <a:r>
              <a:rPr lang="en-US" sz="1250" i="1" dirty="0">
                <a:solidFill>
                  <a:schemeClr val="tx2"/>
                </a:solidFill>
              </a:rPr>
              <a:t>One row per person. Uploaded in Prospecting.</a:t>
            </a:r>
            <a:endParaRPr lang="en-US" sz="1250" dirty="0"/>
          </a:p>
        </p:txBody>
      </p:sp>
      <p:sp>
        <p:nvSpPr>
          <p:cNvPr id="9" name="Text 6"/>
          <p:cNvSpPr txBox="1"/>
          <p:nvPr/>
        </p:nvSpPr>
        <p:spPr>
          <a:xfrm>
            <a:off x="777240" y="2697480"/>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Person  </a:t>
            </a:r>
            <a:pPr indent="0" marL="0">
              <a:buNone/>
            </a:pPr>
            <a:r>
              <a:rPr lang="en-US" sz="1250" dirty="0">
                <a:solidFill>
                  <a:schemeClr val="tx1"/>
                </a:solidFill>
              </a:rPr>
              <a:t>first_name, last_name, job_title, seniority</a:t>
            </a:r>
            <a:endParaRPr lang="en-US" sz="1250" dirty="0"/>
          </a:p>
        </p:txBody>
      </p:sp>
      <p:sp>
        <p:nvSpPr>
          <p:cNvPr id="10" name="Text 7"/>
          <p:cNvSpPr txBox="1"/>
          <p:nvPr/>
        </p:nvSpPr>
        <p:spPr>
          <a:xfrm>
            <a:off x="777240" y="3026664"/>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Contact  </a:t>
            </a:r>
            <a:pPr indent="0" marL="0">
              <a:buNone/>
            </a:pPr>
            <a:r>
              <a:rPr lang="en-US" sz="1250" dirty="0">
                <a:solidFill>
                  <a:schemeClr val="tx1"/>
                </a:solidFill>
              </a:rPr>
              <a:t>email, email_verified, linkedin_url</a:t>
            </a:r>
            <a:endParaRPr lang="en-US" sz="1250" dirty="0"/>
          </a:p>
        </p:txBody>
      </p:sp>
      <p:sp>
        <p:nvSpPr>
          <p:cNvPr id="11" name="Text 8"/>
          <p:cNvSpPr txBox="1"/>
          <p:nvPr/>
        </p:nvSpPr>
        <p:spPr>
          <a:xfrm>
            <a:off x="777240" y="3355848"/>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Company  </a:t>
            </a:r>
            <a:pPr indent="0" marL="0">
              <a:buNone/>
            </a:pPr>
            <a:r>
              <a:rPr lang="en-US" sz="1250" dirty="0">
                <a:solidFill>
                  <a:schemeClr val="tx1"/>
                </a:solidFill>
              </a:rPr>
              <a:t>company_name, company_domain, country, industry, revenue, employees</a:t>
            </a:r>
            <a:endParaRPr lang="en-US" sz="1250" dirty="0"/>
          </a:p>
        </p:txBody>
      </p:sp>
      <p:sp>
        <p:nvSpPr>
          <p:cNvPr id="12" name="Text 9"/>
          <p:cNvSpPr txBox="1"/>
          <p:nvPr/>
        </p:nvSpPr>
        <p:spPr>
          <a:xfrm>
            <a:off x="777240" y="3685032"/>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Site  </a:t>
            </a:r>
            <a:pPr indent="0" marL="0">
              <a:buNone/>
            </a:pPr>
            <a:r>
              <a:rPr lang="en-US" sz="1250" dirty="0">
                <a:solidFill>
                  <a:schemeClr val="tx1"/>
                </a:solidFill>
              </a:rPr>
              <a:t>site_name, process type, capacity</a:t>
            </a:r>
            <a:endParaRPr lang="en-US" sz="1250" dirty="0"/>
          </a:p>
        </p:txBody>
      </p:sp>
      <p:sp>
        <p:nvSpPr>
          <p:cNvPr id="13" name="Text 10"/>
          <p:cNvSpPr txBox="1"/>
          <p:nvPr/>
        </p:nvSpPr>
        <p:spPr>
          <a:xfrm>
            <a:off x="777240" y="4014216"/>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Relationship  </a:t>
            </a:r>
            <a:pPr indent="0" marL="0">
              <a:buNone/>
            </a:pPr>
            <a:r>
              <a:rPr lang="en-US" sz="1250" dirty="0">
                <a:solidFill>
                  <a:schemeClr val="tx1"/>
                </a:solidFill>
              </a:rPr>
              <a:t>existing_customer, account_type, managed_separately</a:t>
            </a:r>
            <a:endParaRPr lang="en-US" sz="1250" dirty="0"/>
          </a:p>
        </p:txBody>
      </p:sp>
      <p:sp>
        <p:nvSpPr>
          <p:cNvPr id="14" name="Text 11"/>
          <p:cNvSpPr txBox="1"/>
          <p:nvPr/>
        </p:nvSpPr>
        <p:spPr>
          <a:xfrm>
            <a:off x="777240" y="4343400"/>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Consent  </a:t>
            </a:r>
            <a:pPr indent="0" marL="0">
              <a:buNone/>
            </a:pPr>
            <a:r>
              <a:rPr lang="en-US" sz="1250" dirty="0">
                <a:solidFill>
                  <a:schemeClr val="tx1"/>
                </a:solidFill>
              </a:rPr>
              <a:t>consent_basis, opt_out</a:t>
            </a:r>
            <a:endParaRPr lang="en-US" sz="1250" dirty="0"/>
          </a:p>
        </p:txBody>
      </p:sp>
      <p:sp>
        <p:nvSpPr>
          <p:cNvPr id="15" name="Text 12"/>
          <p:cNvSpPr txBox="1"/>
          <p:nvPr/>
        </p:nvSpPr>
        <p:spPr>
          <a:xfrm>
            <a:off x="777240" y="4672584"/>
            <a:ext cx="4983480" cy="310896"/>
          </a:xfrm>
          <a:prstGeom prst="rect">
            <a:avLst/>
          </a:prstGeom>
          <a:noFill/>
          <a:ln/>
        </p:spPr>
        <p:txBody>
          <a:bodyPr wrap="square" lIns="0" tIns="0" rIns="0" bIns="0" rtlCol="0" anchor="ctr"/>
          <a:lstStyle/>
          <a:p>
            <a:pPr indent="0" marL="0">
              <a:buNone/>
            </a:pPr>
            <a:r>
              <a:rPr lang="en-US" sz="1250" b="1" dirty="0">
                <a:solidFill>
                  <a:schemeClr val="accent3"/>
                </a:solidFill>
              </a:rPr>
              <a:t>Owner  </a:t>
            </a:r>
            <a:pPr indent="0" marL="0">
              <a:buNone/>
            </a:pPr>
            <a:r>
              <a:rPr lang="en-US" sz="1250" dirty="0">
                <a:solidFill>
                  <a:schemeClr val="tx1"/>
                </a:solidFill>
              </a:rPr>
              <a:t>owner_email (the rep)</a:t>
            </a:r>
            <a:endParaRPr lang="en-US" sz="1250" dirty="0"/>
          </a:p>
        </p:txBody>
      </p:sp>
      <p:sp>
        <p:nvSpPr>
          <p:cNvPr id="16" name="Shape 13"/>
          <p:cNvSpPr/>
          <p:nvPr/>
        </p:nvSpPr>
        <p:spPr>
          <a:xfrm>
            <a:off x="6172200" y="1737360"/>
            <a:ext cx="5394960" cy="3291840"/>
          </a:xfrm>
          <a:prstGeom prst="roundRect">
            <a:avLst>
              <a:gd name="adj" fmla="val 2222"/>
            </a:avLst>
          </a:prstGeom>
          <a:solidFill>
            <a:schemeClr val="tx1"/>
          </a:solidFill>
          <a:ln w="12700">
            <a:solidFill>
              <a:schemeClr val="tx1"/>
            </a:solidFill>
            <a:prstDash val="solid"/>
          </a:ln>
        </p:spPr>
      </p:sp>
      <p:pic>
        <p:nvPicPr>
          <p:cNvPr id="17" name="Image 1" descr="preencoded.png">    </p:cNvPr>
          <p:cNvPicPr>
            <a:picLocks noChangeAspect="1"/>
          </p:cNvPicPr>
          <p:nvPr/>
        </p:nvPicPr>
        <p:blipFill>
          <a:blip r:embed="rId2"/>
          <a:stretch>
            <a:fillRect/>
          </a:stretch>
        </p:blipFill>
        <p:spPr>
          <a:xfrm>
            <a:off x="6400800" y="1901952"/>
            <a:ext cx="365760" cy="365760"/>
          </a:xfrm>
          <a:prstGeom prst="rect">
            <a:avLst/>
          </a:prstGeom>
        </p:spPr>
      </p:pic>
      <p:sp>
        <p:nvSpPr>
          <p:cNvPr id="18" name="Text 14"/>
          <p:cNvSpPr txBox="1"/>
          <p:nvPr/>
        </p:nvSpPr>
        <p:spPr>
          <a:xfrm>
            <a:off x="6903720" y="1874520"/>
            <a:ext cx="4480560" cy="411480"/>
          </a:xfrm>
          <a:prstGeom prst="rect">
            <a:avLst/>
          </a:prstGeom>
          <a:noFill/>
          <a:ln/>
        </p:spPr>
        <p:txBody>
          <a:bodyPr wrap="square" lIns="0" tIns="0" rIns="0" bIns="0" rtlCol="0" anchor="ctr"/>
          <a:lstStyle/>
          <a:p>
            <a:pPr indent="0" marL="0">
              <a:buNone/>
            </a:pPr>
            <a:r>
              <a:rPr lang="en-US" sz="1900" b="1" dirty="0">
                <a:solidFill>
                  <a:schemeClr val="bg1"/>
                </a:solidFill>
              </a:rPr>
              <a:t>Signal template</a:t>
            </a:r>
            <a:endParaRPr lang="en-US" sz="1900" dirty="0"/>
          </a:p>
        </p:txBody>
      </p:sp>
      <p:sp>
        <p:nvSpPr>
          <p:cNvPr id="19" name="Text 15"/>
          <p:cNvSpPr txBox="1"/>
          <p:nvPr/>
        </p:nvSpPr>
        <p:spPr>
          <a:xfrm>
            <a:off x="6400800" y="2331720"/>
            <a:ext cx="4937760" cy="274320"/>
          </a:xfrm>
          <a:prstGeom prst="rect">
            <a:avLst/>
          </a:prstGeom>
          <a:noFill/>
          <a:ln/>
        </p:spPr>
        <p:txBody>
          <a:bodyPr wrap="square" lIns="0" tIns="0" rIns="0" bIns="0" rtlCol="0" anchor="t"/>
          <a:lstStyle/>
          <a:p>
            <a:pPr indent="0" marL="0">
              <a:buNone/>
            </a:pPr>
            <a:r>
              <a:rPr lang="en-US" sz="1250" i="1" dirty="0">
                <a:solidFill>
                  <a:schemeClr val="accent6"/>
                </a:solidFill>
              </a:rPr>
              <a:t>One row per signal. Uploaded in Scoring.</a:t>
            </a:r>
            <a:endParaRPr lang="en-US" sz="1250" dirty="0"/>
          </a:p>
        </p:txBody>
      </p:sp>
      <p:sp>
        <p:nvSpPr>
          <p:cNvPr id="20" name="Text 16"/>
          <p:cNvSpPr txBox="1"/>
          <p:nvPr/>
        </p:nvSpPr>
        <p:spPr>
          <a:xfrm>
            <a:off x="6400800" y="2697480"/>
            <a:ext cx="4983480" cy="310896"/>
          </a:xfrm>
          <a:prstGeom prst="rect">
            <a:avLst/>
          </a:prstGeom>
          <a:noFill/>
          <a:ln/>
        </p:spPr>
        <p:txBody>
          <a:bodyPr wrap="square" lIns="0" tIns="0" rIns="0" bIns="0" rtlCol="0" anchor="ctr"/>
          <a:lstStyle/>
          <a:p>
            <a:pPr indent="0" marL="0">
              <a:buNone/>
            </a:pPr>
            <a:r>
              <a:rPr lang="en-US" sz="1250" b="1" dirty="0">
                <a:solidFill>
                  <a:schemeClr val="accent1"/>
                </a:solidFill>
              </a:rPr>
              <a:t>Who  </a:t>
            </a:r>
            <a:pPr indent="0" marL="0">
              <a:buNone/>
            </a:pPr>
            <a:r>
              <a:rPr lang="en-US" sz="1250" dirty="0">
                <a:solidFill>
                  <a:schemeClr val="bg1"/>
                </a:solidFill>
              </a:rPr>
              <a:t>company_name, company_domain, contact_email_or_linkedin</a:t>
            </a:r>
            <a:endParaRPr lang="en-US" sz="1250" dirty="0"/>
          </a:p>
        </p:txBody>
      </p:sp>
      <p:sp>
        <p:nvSpPr>
          <p:cNvPr id="21" name="Text 17"/>
          <p:cNvSpPr txBox="1"/>
          <p:nvPr/>
        </p:nvSpPr>
        <p:spPr>
          <a:xfrm>
            <a:off x="6400800" y="3026664"/>
            <a:ext cx="4983480" cy="310896"/>
          </a:xfrm>
          <a:prstGeom prst="rect">
            <a:avLst/>
          </a:prstGeom>
          <a:noFill/>
          <a:ln/>
        </p:spPr>
        <p:txBody>
          <a:bodyPr wrap="square" lIns="0" tIns="0" rIns="0" bIns="0" rtlCol="0" anchor="ctr"/>
          <a:lstStyle/>
          <a:p>
            <a:pPr indent="0" marL="0">
              <a:buNone/>
            </a:pPr>
            <a:r>
              <a:rPr lang="en-US" sz="1250" b="1" dirty="0">
                <a:solidFill>
                  <a:schemeClr val="accent1"/>
                </a:solidFill>
              </a:rPr>
              <a:t>What  </a:t>
            </a:r>
            <a:pPr indent="0" marL="0">
              <a:buNone/>
            </a:pPr>
            <a:r>
              <a:rPr lang="en-US" sz="1250" dirty="0">
                <a:solidFill>
                  <a:schemeClr val="bg1"/>
                </a:solidFill>
              </a:rPr>
              <a:t>signal_type (one of the types below, or one you add in Setup)</a:t>
            </a:r>
            <a:endParaRPr lang="en-US" sz="1250" dirty="0"/>
          </a:p>
        </p:txBody>
      </p:sp>
      <p:sp>
        <p:nvSpPr>
          <p:cNvPr id="22" name="Text 18"/>
          <p:cNvSpPr txBox="1"/>
          <p:nvPr/>
        </p:nvSpPr>
        <p:spPr>
          <a:xfrm>
            <a:off x="6400800" y="3355848"/>
            <a:ext cx="4983480" cy="310896"/>
          </a:xfrm>
          <a:prstGeom prst="rect">
            <a:avLst/>
          </a:prstGeom>
          <a:noFill/>
          <a:ln/>
        </p:spPr>
        <p:txBody>
          <a:bodyPr wrap="square" lIns="0" tIns="0" rIns="0" bIns="0" rtlCol="0" anchor="ctr"/>
          <a:lstStyle/>
          <a:p>
            <a:pPr indent="0" marL="0">
              <a:buNone/>
            </a:pPr>
            <a:r>
              <a:rPr lang="en-US" sz="1250" b="1" dirty="0">
                <a:solidFill>
                  <a:schemeClr val="accent1"/>
                </a:solidFill>
              </a:rPr>
              <a:t>When  </a:t>
            </a:r>
            <a:pPr indent="0" marL="0">
              <a:buNone/>
            </a:pPr>
            <a:r>
              <a:rPr lang="en-US" sz="1250" dirty="0">
                <a:solidFill>
                  <a:schemeClr val="bg1"/>
                </a:solidFill>
              </a:rPr>
              <a:t>event_date</a:t>
            </a:r>
            <a:endParaRPr lang="en-US" sz="1250" dirty="0"/>
          </a:p>
        </p:txBody>
      </p:sp>
      <p:sp>
        <p:nvSpPr>
          <p:cNvPr id="23" name="Text 19"/>
          <p:cNvSpPr txBox="1"/>
          <p:nvPr/>
        </p:nvSpPr>
        <p:spPr>
          <a:xfrm>
            <a:off x="6400800" y="3685032"/>
            <a:ext cx="4983480" cy="310896"/>
          </a:xfrm>
          <a:prstGeom prst="rect">
            <a:avLst/>
          </a:prstGeom>
          <a:noFill/>
          <a:ln/>
        </p:spPr>
        <p:txBody>
          <a:bodyPr wrap="square" lIns="0" tIns="0" rIns="0" bIns="0" rtlCol="0" anchor="ctr"/>
          <a:lstStyle/>
          <a:p>
            <a:pPr indent="0" marL="0">
              <a:buNone/>
            </a:pPr>
            <a:r>
              <a:rPr lang="en-US" sz="1250" b="1" dirty="0">
                <a:solidFill>
                  <a:schemeClr val="accent1"/>
                </a:solidFill>
              </a:rPr>
              <a:t>Detail  </a:t>
            </a:r>
            <a:pPr indent="0" marL="0">
              <a:buNone/>
            </a:pPr>
            <a:r>
              <a:rPr lang="en-US" sz="1250" dirty="0">
                <a:solidFill>
                  <a:schemeClr val="bg1"/>
                </a:solidFill>
              </a:rPr>
              <a:t>detail, source, product</a:t>
            </a:r>
            <a:endParaRPr lang="en-US" sz="1250" dirty="0"/>
          </a:p>
        </p:txBody>
      </p:sp>
      <p:sp>
        <p:nvSpPr>
          <p:cNvPr id="24" name="Text 20"/>
          <p:cNvSpPr txBox="1"/>
          <p:nvPr/>
        </p:nvSpPr>
        <p:spPr>
          <a:xfrm>
            <a:off x="6400800" y="4023360"/>
            <a:ext cx="4983480" cy="914400"/>
          </a:xfrm>
          <a:prstGeom prst="rect">
            <a:avLst/>
          </a:prstGeom>
          <a:noFill/>
          <a:ln/>
        </p:spPr>
        <p:txBody>
          <a:bodyPr wrap="square" lIns="0" tIns="0" rIns="0" bIns="0" rtlCol="0" anchor="t"/>
          <a:lstStyle/>
          <a:p>
            <a:pPr indent="0" marL="0">
              <a:buNone/>
            </a:pPr>
            <a:r>
              <a:rPr lang="en-US" sz="1150" dirty="0">
                <a:solidFill>
                  <a:schemeClr val="accent6"/>
                </a:solidFill>
              </a:rPr>
              <a:t>Signal types: Inquiry or RFQ · Installed system near end of support · Service contract renewal · Capital project · Leadership change · Webinar attended · Webinar registered · Content download · Email clicked</a:t>
            </a:r>
            <a:endParaRPr lang="en-US" sz="1150" dirty="0"/>
          </a:p>
        </p:txBody>
      </p:sp>
      <p:sp>
        <p:nvSpPr>
          <p:cNvPr id="25" name="Text 21"/>
          <p:cNvSpPr txBox="1"/>
          <p:nvPr/>
        </p:nvSpPr>
        <p:spPr>
          <a:xfrm>
            <a:off x="548640" y="5193792"/>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HOW DEMANDAI USES THE FILES</a:t>
            </a:r>
            <a:endParaRPr lang="en-US" sz="1200" dirty="0"/>
          </a:p>
        </p:txBody>
      </p:sp>
      <p:sp>
        <p:nvSpPr>
          <p:cNvPr id="26" name="Shape 22"/>
          <p:cNvSpPr/>
          <p:nvPr/>
        </p:nvSpPr>
        <p:spPr>
          <a:xfrm>
            <a:off x="548640" y="5504688"/>
            <a:ext cx="2724912" cy="749808"/>
          </a:xfrm>
          <a:prstGeom prst="homePlate">
            <a:avLst/>
          </a:prstGeom>
          <a:solidFill>
            <a:schemeClr val="accent5"/>
          </a:solidFill>
          <a:ln w="12700">
            <a:solidFill>
              <a:schemeClr val="accent5"/>
            </a:solidFill>
            <a:prstDash val="solid"/>
          </a:ln>
        </p:spPr>
      </p:sp>
      <p:sp>
        <p:nvSpPr>
          <p:cNvPr id="27" name="Shape 23"/>
          <p:cNvSpPr/>
          <p:nvPr/>
        </p:nvSpPr>
        <p:spPr>
          <a:xfrm>
            <a:off x="685800" y="5687568"/>
            <a:ext cx="384048" cy="384048"/>
          </a:xfrm>
          <a:prstGeom prst="ellipse">
            <a:avLst/>
          </a:prstGeom>
          <a:solidFill>
            <a:schemeClr val="accent1"/>
          </a:solidFill>
          <a:ln w="12700">
            <a:solidFill>
              <a:schemeClr val="accent1"/>
            </a:solidFill>
            <a:prstDash val="solid"/>
          </a:ln>
        </p:spPr>
      </p:sp>
      <p:sp>
        <p:nvSpPr>
          <p:cNvPr id="28" name="Text 24"/>
          <p:cNvSpPr txBox="1"/>
          <p:nvPr/>
        </p:nvSpPr>
        <p:spPr>
          <a:xfrm>
            <a:off x="685800" y="5687568"/>
            <a:ext cx="384048" cy="38404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29" name="Text 25"/>
          <p:cNvSpPr txBox="1"/>
          <p:nvPr/>
        </p:nvSpPr>
        <p:spPr>
          <a:xfrm>
            <a:off x="1170432" y="5504688"/>
            <a:ext cx="1645920" cy="749808"/>
          </a:xfrm>
          <a:prstGeom prst="rect">
            <a:avLst/>
          </a:prstGeom>
          <a:noFill/>
          <a:ln/>
        </p:spPr>
        <p:txBody>
          <a:bodyPr wrap="square" lIns="0" tIns="0" rIns="0" bIns="0" rtlCol="0" anchor="ctr"/>
          <a:lstStyle/>
          <a:p>
            <a:pPr indent="0" marL="0">
              <a:buNone/>
            </a:pPr>
            <a:r>
              <a:rPr lang="en-US" sz="1350" b="1" dirty="0">
                <a:solidFill>
                  <a:schemeClr val="tx1"/>
                </a:solidFill>
              </a:rPr>
              <a:t>Check</a:t>
            </a:r>
            <a:endParaRPr lang="en-US" sz="1400" dirty="0"/>
          </a:p>
          <a:p>
            <a:pPr indent="0" marL="0">
              <a:buNone/>
            </a:pPr>
            <a:r>
              <a:rPr lang="en-US" sz="1100" dirty="0">
                <a:solidFill>
                  <a:schemeClr val="tx2"/>
                </a:solidFill>
              </a:rPr>
              <a:t>Columns, values, duplicates, consent</a:t>
            </a:r>
            <a:endParaRPr lang="en-US" sz="1400" dirty="0"/>
          </a:p>
        </p:txBody>
      </p:sp>
      <p:sp>
        <p:nvSpPr>
          <p:cNvPr id="30" name="Shape 26"/>
          <p:cNvSpPr/>
          <p:nvPr/>
        </p:nvSpPr>
        <p:spPr>
          <a:xfrm>
            <a:off x="3346704" y="5504688"/>
            <a:ext cx="2724912" cy="749808"/>
          </a:xfrm>
          <a:prstGeom prst="chevron">
            <a:avLst/>
          </a:prstGeom>
          <a:solidFill>
            <a:schemeClr val="accent5"/>
          </a:solidFill>
          <a:ln w="12700">
            <a:solidFill>
              <a:schemeClr val="accent5"/>
            </a:solidFill>
            <a:prstDash val="solid"/>
          </a:ln>
        </p:spPr>
      </p:sp>
      <p:sp>
        <p:nvSpPr>
          <p:cNvPr id="31" name="Shape 27"/>
          <p:cNvSpPr/>
          <p:nvPr/>
        </p:nvSpPr>
        <p:spPr>
          <a:xfrm>
            <a:off x="3666744" y="5687568"/>
            <a:ext cx="384048" cy="384048"/>
          </a:xfrm>
          <a:prstGeom prst="ellipse">
            <a:avLst/>
          </a:prstGeom>
          <a:solidFill>
            <a:schemeClr val="accent1"/>
          </a:solidFill>
          <a:ln w="12700">
            <a:solidFill>
              <a:schemeClr val="accent1"/>
            </a:solidFill>
            <a:prstDash val="solid"/>
          </a:ln>
        </p:spPr>
      </p:sp>
      <p:sp>
        <p:nvSpPr>
          <p:cNvPr id="32" name="Text 28"/>
          <p:cNvSpPr txBox="1"/>
          <p:nvPr/>
        </p:nvSpPr>
        <p:spPr>
          <a:xfrm>
            <a:off x="3666744" y="5687568"/>
            <a:ext cx="384048" cy="38404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33" name="Text 29"/>
          <p:cNvSpPr txBox="1"/>
          <p:nvPr/>
        </p:nvSpPr>
        <p:spPr>
          <a:xfrm>
            <a:off x="4151376" y="5504688"/>
            <a:ext cx="1645920" cy="749808"/>
          </a:xfrm>
          <a:prstGeom prst="rect">
            <a:avLst/>
          </a:prstGeom>
          <a:noFill/>
          <a:ln/>
        </p:spPr>
        <p:txBody>
          <a:bodyPr wrap="square" lIns="0" tIns="0" rIns="0" bIns="0" rtlCol="0" anchor="ctr"/>
          <a:lstStyle/>
          <a:p>
            <a:pPr indent="0" marL="0">
              <a:buNone/>
            </a:pPr>
            <a:r>
              <a:rPr lang="en-US" sz="1350" b="1" dirty="0">
                <a:solidFill>
                  <a:schemeClr val="tx1"/>
                </a:solidFill>
              </a:rPr>
              <a:t>Match</a:t>
            </a:r>
            <a:endParaRPr lang="en-US" sz="1400" dirty="0"/>
          </a:p>
          <a:p>
            <a:pPr indent="0" marL="0">
              <a:buNone/>
            </a:pPr>
            <a:r>
              <a:rPr lang="en-US" sz="1100" dirty="0">
                <a:solidFill>
                  <a:schemeClr val="tx2"/>
                </a:solidFill>
              </a:rPr>
              <a:t>Signal to account by domain, to person by email</a:t>
            </a:r>
            <a:endParaRPr lang="en-US" sz="1400" dirty="0"/>
          </a:p>
        </p:txBody>
      </p:sp>
      <p:sp>
        <p:nvSpPr>
          <p:cNvPr id="34" name="Shape 30"/>
          <p:cNvSpPr/>
          <p:nvPr/>
        </p:nvSpPr>
        <p:spPr>
          <a:xfrm>
            <a:off x="6144768" y="5504688"/>
            <a:ext cx="2724912" cy="749808"/>
          </a:xfrm>
          <a:prstGeom prst="chevron">
            <a:avLst/>
          </a:prstGeom>
          <a:solidFill>
            <a:schemeClr val="accent5"/>
          </a:solidFill>
          <a:ln w="12700">
            <a:solidFill>
              <a:schemeClr val="accent5"/>
            </a:solidFill>
            <a:prstDash val="solid"/>
          </a:ln>
        </p:spPr>
      </p:sp>
      <p:sp>
        <p:nvSpPr>
          <p:cNvPr id="35" name="Shape 31"/>
          <p:cNvSpPr/>
          <p:nvPr/>
        </p:nvSpPr>
        <p:spPr>
          <a:xfrm>
            <a:off x="6464808" y="5687568"/>
            <a:ext cx="384048" cy="384048"/>
          </a:xfrm>
          <a:prstGeom prst="ellipse">
            <a:avLst/>
          </a:prstGeom>
          <a:solidFill>
            <a:schemeClr val="accent1"/>
          </a:solidFill>
          <a:ln w="12700">
            <a:solidFill>
              <a:schemeClr val="accent1"/>
            </a:solidFill>
            <a:prstDash val="solid"/>
          </a:ln>
        </p:spPr>
      </p:sp>
      <p:sp>
        <p:nvSpPr>
          <p:cNvPr id="36" name="Text 32"/>
          <p:cNvSpPr txBox="1"/>
          <p:nvPr/>
        </p:nvSpPr>
        <p:spPr>
          <a:xfrm>
            <a:off x="6464808" y="5687568"/>
            <a:ext cx="384048" cy="38404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37" name="Text 33"/>
          <p:cNvSpPr txBox="1"/>
          <p:nvPr/>
        </p:nvSpPr>
        <p:spPr>
          <a:xfrm>
            <a:off x="6949440" y="5504688"/>
            <a:ext cx="1645920" cy="749808"/>
          </a:xfrm>
          <a:prstGeom prst="rect">
            <a:avLst/>
          </a:prstGeom>
          <a:noFill/>
          <a:ln/>
        </p:spPr>
        <p:txBody>
          <a:bodyPr wrap="square" lIns="0" tIns="0" rIns="0" bIns="0" rtlCol="0" anchor="ctr"/>
          <a:lstStyle/>
          <a:p>
            <a:pPr indent="0" marL="0">
              <a:buNone/>
            </a:pPr>
            <a:r>
              <a:rPr lang="en-US" sz="1350" b="1" dirty="0">
                <a:solidFill>
                  <a:schemeClr val="tx1"/>
                </a:solidFill>
              </a:rPr>
              <a:t>Score</a:t>
            </a:r>
            <a:endParaRPr lang="en-US" sz="1400" dirty="0"/>
          </a:p>
          <a:p>
            <a:pPr indent="0" marL="0">
              <a:buNone/>
            </a:pPr>
            <a:r>
              <a:rPr lang="en-US" sz="1100" dirty="0">
                <a:solidFill>
                  <a:schemeClr val="tx2"/>
                </a:solidFill>
              </a:rPr>
              <a:t>Fit × signal weight × freshness</a:t>
            </a:r>
            <a:endParaRPr lang="en-US" sz="1400" dirty="0"/>
          </a:p>
        </p:txBody>
      </p:sp>
      <p:sp>
        <p:nvSpPr>
          <p:cNvPr id="38" name="Shape 34"/>
          <p:cNvSpPr/>
          <p:nvPr/>
        </p:nvSpPr>
        <p:spPr>
          <a:xfrm>
            <a:off x="8942832" y="5504688"/>
            <a:ext cx="2724912" cy="749808"/>
          </a:xfrm>
          <a:prstGeom prst="chevron">
            <a:avLst/>
          </a:prstGeom>
          <a:solidFill>
            <a:schemeClr val="accent5"/>
          </a:solidFill>
          <a:ln w="12700">
            <a:solidFill>
              <a:schemeClr val="accent5"/>
            </a:solidFill>
            <a:prstDash val="solid"/>
          </a:ln>
        </p:spPr>
      </p:sp>
      <p:sp>
        <p:nvSpPr>
          <p:cNvPr id="39" name="Shape 35"/>
          <p:cNvSpPr/>
          <p:nvPr/>
        </p:nvSpPr>
        <p:spPr>
          <a:xfrm>
            <a:off x="9262872" y="5687568"/>
            <a:ext cx="384048" cy="384048"/>
          </a:xfrm>
          <a:prstGeom prst="ellipse">
            <a:avLst/>
          </a:prstGeom>
          <a:solidFill>
            <a:schemeClr val="accent1"/>
          </a:solidFill>
          <a:ln w="12700">
            <a:solidFill>
              <a:schemeClr val="accent1"/>
            </a:solidFill>
            <a:prstDash val="solid"/>
          </a:ln>
        </p:spPr>
      </p:sp>
      <p:sp>
        <p:nvSpPr>
          <p:cNvPr id="40" name="Text 36"/>
          <p:cNvSpPr txBox="1"/>
          <p:nvPr/>
        </p:nvSpPr>
        <p:spPr>
          <a:xfrm>
            <a:off x="9262872" y="5687568"/>
            <a:ext cx="384048" cy="38404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41" name="Text 37"/>
          <p:cNvSpPr txBox="1"/>
          <p:nvPr/>
        </p:nvSpPr>
        <p:spPr>
          <a:xfrm>
            <a:off x="9747504" y="5504688"/>
            <a:ext cx="1645920" cy="749808"/>
          </a:xfrm>
          <a:prstGeom prst="rect">
            <a:avLst/>
          </a:prstGeom>
          <a:noFill/>
          <a:ln/>
        </p:spPr>
        <p:txBody>
          <a:bodyPr wrap="square" lIns="0" tIns="0" rIns="0" bIns="0" rtlCol="0" anchor="ctr"/>
          <a:lstStyle/>
          <a:p>
            <a:pPr indent="0" marL="0">
              <a:buNone/>
            </a:pPr>
            <a:r>
              <a:rPr lang="en-US" sz="1350" b="1" dirty="0">
                <a:solidFill>
                  <a:schemeClr val="tx1"/>
                </a:solidFill>
              </a:rPr>
              <a:t>Tier</a:t>
            </a:r>
            <a:endParaRPr lang="en-US" sz="1400" dirty="0"/>
          </a:p>
          <a:p>
            <a:pPr indent="0" marL="0">
              <a:buNone/>
            </a:pPr>
            <a:r>
              <a:rPr lang="en-US" sz="1100" dirty="0">
                <a:solidFill>
                  <a:schemeClr val="tx2"/>
                </a:solidFill>
              </a:rPr>
              <a:t>A, B or C per person, with why now</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ACCOUNT SCORING · SEGMENTS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Our understanding: six reasons a site buys now</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325880"/>
                <a:gridCol w="1691640"/>
                <a:gridCol w="2194560"/>
                <a:gridCol w="2971800"/>
                <a:gridCol w="2907792"/>
              </a:tblGrid>
              <a:tr h="566928">
                <a:tc>
                  <a:txBody>
                    <a:bodyPr/>
                    <a:lstStyle/>
                    <a:p>
                      <a:pPr indent="0" marL="0">
                        <a:buNone/>
                      </a:pPr>
                      <a:r>
                        <a:rPr lang="en-US" sz="1200" b="1" dirty="0">
                          <a:solidFill>
                            <a:schemeClr val="bg1"/>
                          </a:solidFill>
                        </a:rPr>
                        <a:t>Micro-segment</a:t>
                      </a:r>
                      <a:endParaRPr lang="en-US" sz="12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Signal that triggers it</a:t>
                      </a:r>
                      <a:endParaRPr lang="en-US" sz="12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Angle (the play)</a:t>
                      </a:r>
                      <a:endParaRPr lang="en-US" sz="12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Actions your team sets in Setup</a:t>
                      </a:r>
                      <a:endParaRPr lang="en-US" sz="12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200" b="1" dirty="0">
                          <a:solidFill>
                            <a:schemeClr val="tx1"/>
                          </a:solidFill>
                        </a:rPr>
                        <a:t>For a new buyer (net-new account)</a:t>
                      </a:r>
                      <a:endParaRPr lang="en-US" sz="12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r>
              <a:tr h="566928">
                <a:tc>
                  <a:txBody>
                    <a:bodyPr/>
                    <a:lstStyle/>
                    <a:p>
                      <a:pPr indent="0" marL="0">
                        <a:buNone/>
                      </a:pPr>
                      <a:r>
                        <a:rPr lang="en-US" sz="1100" b="1" dirty="0">
                          <a:solidFill>
                            <a:schemeClr val="tx1"/>
                          </a:solidFill>
                        </a:rPr>
                        <a:t>Inquiry</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Inquiry or RFQ</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Answer the question they asked while it is live</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Call to follow up on the inquiry · Route the inquiry to the sales owner</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Same play: answer fast. Share the one-shutdown migration case study; route to the sales owner for their region.</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r h="566928">
                <a:tc>
                  <a:txBody>
                    <a:bodyPr/>
                    <a:lstStyle/>
                    <a:p>
                      <a:pPr indent="0" marL="0">
                        <a:buNone/>
                      </a:pPr>
                      <a:r>
                        <a:rPr lang="en-US" sz="1100" b="1" dirty="0">
                          <a:solidFill>
                            <a:schemeClr val="tx1"/>
                          </a:solidFill>
                        </a:rPr>
                        <a:t>Modernisation</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Installed system near end of support</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Plan the migration before end of support forces the timing</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Propose a migration-path discussion · Offer a site assessment · Offer a lifecycle service review</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Their system may be another vendor's: lead with a site assessment and the migration case study, not a lifecycle review.</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r h="566928">
                <a:tc>
                  <a:txBody>
                    <a:bodyPr/>
                    <a:lstStyle/>
                    <a:p>
                      <a:pPr indent="0" marL="0">
                        <a:buNone/>
                      </a:pPr>
                      <a:r>
                        <a:rPr lang="en-US" sz="1100" b="1" dirty="0">
                          <a:solidFill>
                            <a:schemeClr val="tx1"/>
                          </a:solidFill>
                        </a:rPr>
                        <a:t>Service renewal</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Service contract renewal</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Check the cover still fits how the site runs today</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Offer a renewal review · Route to the service owner</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Rarely applies: renewals are with existing customers. A new buyer with a renewal elsewhere is treated as Modernisation.</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r h="566928">
                <a:tc>
                  <a:txBody>
                    <a:bodyPr/>
                    <a:lstStyle/>
                    <a:p>
                      <a:pPr indent="0" marL="0">
                        <a:buNone/>
                      </a:pPr>
                      <a:r>
                        <a:rPr lang="en-US" sz="1100" b="1" dirty="0">
                          <a:solidFill>
                            <a:schemeClr val="tx1"/>
                          </a:solidFill>
                        </a:rPr>
                        <a:t>Project</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Capital project</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Settle the control scope while the design is still open</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Share a case study and offer a technical session · Offer a reference-site visit · Offer an early design workshop</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The best way in: the plant-expansion case study, then a reference-site visit so they see a similar site running.</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r h="566928">
                <a:tc>
                  <a:txBody>
                    <a:bodyPr/>
                    <a:lstStyle/>
                    <a:p>
                      <a:pPr indent="0" marL="0">
                        <a:buNone/>
                      </a:pPr>
                      <a:r>
                        <a:rPr lang="en-US" sz="1100" b="1" dirty="0">
                          <a:solidFill>
                            <a:schemeClr val="tx1"/>
                          </a:solidFill>
                        </a:rPr>
                        <a:t>Leadership</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Leadership change</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Be useful to a new leader setting priorities</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Introduce Client to the new leader · Share a peer case study · Invite to a short briefing</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Introduce Client and what comparable sites run; share the peer story on first-100-day priorities.</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r h="566928">
                <a:tc>
                  <a:txBody>
                    <a:bodyPr/>
                    <a:lstStyle/>
                    <a:p>
                      <a:pPr indent="0" marL="0">
                        <a:buNone/>
                      </a:pPr>
                      <a:r>
                        <a:rPr lang="en-US" sz="1100" b="1" dirty="0">
                          <a:solidFill>
                            <a:schemeClr val="tx1"/>
                          </a:solidFill>
                        </a:rPr>
                        <a:t>Engagement</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Webinar, download or email click</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Follow up on the topic they chose to engage with</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Follow up on the topic they engaged with · Invite to a related session</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Send the session recording and invite them to a related session; no sales ask yet.</a:t>
                      </a:r>
                      <a:endParaRPr lang="en-US" sz="1100" dirty="0"/>
                    </a:p>
                  </a:txBody>
                  <a:tcPr marL="54864" marR="54864" marT="54864" marB="5486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5"/>
                    </a:solidFill>
                  </a:tcPr>
                </a:tc>
              </a:tr>
            </a:tbl>
          </a:graphicData>
        </a:graphic>
      </p:graphicFrame>
      <p:sp>
        <p:nvSpPr>
          <p:cNvPr id="5" name="Text 2"/>
          <p:cNvSpPr txBox="1"/>
          <p:nvPr/>
        </p:nvSpPr>
        <p:spPr>
          <a:xfrm>
            <a:off x="548640" y="5852160"/>
            <a:ext cx="11094415" cy="411480"/>
          </a:xfrm>
          <a:prstGeom prst="rect">
            <a:avLst/>
          </a:prstGeom>
          <a:noFill/>
          <a:ln/>
        </p:spPr>
        <p:txBody>
          <a:bodyPr wrap="square" lIns="0" tIns="0" rIns="0" bIns="0" rtlCol="0" anchor="ctr"/>
          <a:lstStyle/>
          <a:p>
            <a:pPr indent="0" marL="0">
              <a:buNone/>
            </a:pPr>
            <a:r>
              <a:rPr lang="en-US" sz="1250" b="1" dirty="0">
                <a:solidFill>
                  <a:schemeClr val="tx2"/>
                </a:solidFill>
              </a:rPr>
              <a:t>How the action is chosen: </a:t>
            </a:r>
            <a:pPr indent="0" marL="0">
              <a:buNone/>
            </a:pPr>
            <a:r>
              <a:rPr lang="en-US" sz="1250" dirty="0">
                <a:solidFill>
                  <a:schemeClr val="tx2"/>
                </a:solidFill>
              </a:rPr>
              <a:t>your team sets the actions in Setup, the AI picks the one that fits the signal and person, and anything outside the list goes to For Review, tagged.</a:t>
            </a:r>
            <a:endParaRPr lang="en-US" sz="12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MICRO-SEGMENTS &amp; NBA · 1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Micro-segments &amp; NBA: key questions (1/3)</a:t>
            </a:r>
            <a:endParaRPr lang="en-US" sz="2800" dirty="0"/>
          </a:p>
        </p:txBody>
      </p:sp>
      <p:sp>
        <p:nvSpPr>
          <p:cNvPr id="4" name="Shape 2"/>
          <p:cNvSpPr/>
          <p:nvPr/>
        </p:nvSpPr>
        <p:spPr>
          <a:xfrm>
            <a:off x="9445752" y="292608"/>
            <a:ext cx="2194560" cy="292608"/>
          </a:xfrm>
          <a:prstGeom prst="roundRect">
            <a:avLst>
              <a:gd name="adj" fmla="val 25000"/>
            </a:avLst>
          </a:prstGeom>
          <a:solidFill>
            <a:schemeClr val="accent1"/>
          </a:solidFill>
          <a:ln w="12700">
            <a:solidFill>
              <a:schemeClr val="accent1"/>
            </a:solidFill>
            <a:prstDash val="solid"/>
          </a:ln>
        </p:spPr>
      </p:sp>
      <p:sp>
        <p:nvSpPr>
          <p:cNvPr id="5" name="Text 3"/>
          <p:cNvSpPr txBox="1"/>
          <p:nvPr/>
        </p:nvSpPr>
        <p:spPr>
          <a:xfrm>
            <a:off x="9445752" y="292608"/>
            <a:ext cx="2194560" cy="292608"/>
          </a:xfrm>
          <a:prstGeom prst="rect">
            <a:avLst/>
          </a:prstGeom>
          <a:noFill/>
          <a:ln/>
        </p:spPr>
        <p:txBody>
          <a:bodyPr wrap="square" lIns="0" tIns="0" rIns="0" bIns="0" rtlCol="0" anchor="ctr"/>
          <a:lstStyle/>
          <a:p>
            <a:pPr algn="ctr" indent="0" marL="0">
              <a:buNone/>
            </a:pPr>
            <a:r>
              <a:rPr lang="en-US" sz="1000" b="1" spc="100" kern="0" dirty="0">
                <a:solidFill>
                  <a:schemeClr val="tx1"/>
                </a:solidFill>
              </a:rPr>
              <a:t>NEXT BEST ACTION</a:t>
            </a:r>
            <a:endParaRPr lang="en-US" sz="1000" dirty="0"/>
          </a:p>
        </p:txBody>
      </p:sp>
      <p:sp>
        <p:nvSpPr>
          <p:cNvPr id="6" name="Shape 4"/>
          <p:cNvSpPr/>
          <p:nvPr/>
        </p:nvSpPr>
        <p:spPr>
          <a:xfrm>
            <a:off x="548640" y="1463040"/>
            <a:ext cx="3515258" cy="777240"/>
          </a:xfrm>
          <a:prstGeom prst="roundRect">
            <a:avLst>
              <a:gd name="adj" fmla="val 9412"/>
            </a:avLst>
          </a:prstGeom>
          <a:solidFill>
            <a:schemeClr val="tx1"/>
          </a:solidFill>
          <a:ln w="12700">
            <a:solidFill>
              <a:schemeClr val="tx1"/>
            </a:solidFill>
            <a:prstDash val="solid"/>
          </a:ln>
        </p:spPr>
      </p:sp>
      <p:sp>
        <p:nvSpPr>
          <p:cNvPr id="7" name="Text 5"/>
          <p:cNvSpPr txBox="1"/>
          <p:nvPr/>
        </p:nvSpPr>
        <p:spPr>
          <a:xfrm>
            <a:off x="777240"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D. Prioritising &amp; segments</a:t>
            </a:r>
            <a:endParaRPr lang="en-US" sz="1700" dirty="0"/>
          </a:p>
        </p:txBody>
      </p:sp>
      <p:sp>
        <p:nvSpPr>
          <p:cNvPr id="8" name="Shape 6"/>
          <p:cNvSpPr/>
          <p:nvPr/>
        </p:nvSpPr>
        <p:spPr>
          <a:xfrm>
            <a:off x="548640" y="2240280"/>
            <a:ext cx="3515258" cy="3886200"/>
          </a:xfrm>
          <a:prstGeom prst="roundRect">
            <a:avLst>
              <a:gd name="adj" fmla="val 1040"/>
            </a:avLst>
          </a:prstGeom>
          <a:solidFill>
            <a:schemeClr val="bg2"/>
          </a:solidFill>
          <a:ln w="12700">
            <a:solidFill>
              <a:schemeClr val="bg2"/>
            </a:solidFill>
            <a:prstDash val="solid"/>
          </a:ln>
        </p:spPr>
      </p:sp>
      <p:sp>
        <p:nvSpPr>
          <p:cNvPr id="9" name="Text 7"/>
          <p:cNvSpPr txBox="1"/>
          <p:nvPr/>
        </p:nvSpPr>
        <p:spPr>
          <a:xfrm>
            <a:off x="777240"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How do reps decide which accounts to work this week?</a:t>
            </a:r>
            <a:endParaRPr lang="en-US" sz="1350" dirty="0"/>
          </a:p>
          <a:p>
            <a:pPr marL="177800" indent="-177800">
              <a:spcAft>
                <a:spcPts val="700"/>
              </a:spcAft>
              <a:buSzPct val="100000"/>
              <a:buChar char="•"/>
            </a:pPr>
            <a:r>
              <a:rPr lang="en-US" sz="1350" dirty="0">
                <a:solidFill>
                  <a:schemeClr val="tx1"/>
                </a:solidFill>
              </a:rPr>
              <a:t>Do you group accounts by their reason to buy?</a:t>
            </a:r>
            <a:endParaRPr lang="en-US" sz="1350" dirty="0"/>
          </a:p>
          <a:p>
            <a:pPr marL="177800" indent="-177800">
              <a:spcAft>
                <a:spcPts val="700"/>
              </a:spcAft>
              <a:buSzPct val="100000"/>
              <a:buChar char="•"/>
            </a:pPr>
            <a:r>
              <a:rPr lang="en-US" sz="1350" dirty="0">
                <a:solidFill>
                  <a:schemeClr val="tx1"/>
                </a:solidFill>
              </a:rPr>
              <a:t>Who should approve a new segment?</a:t>
            </a:r>
            <a:endParaRPr lang="en-US" sz="1350" dirty="0"/>
          </a:p>
          <a:p>
            <a:pPr marL="177800" indent="-177800">
              <a:spcAft>
                <a:spcPts val="700"/>
              </a:spcAft>
              <a:buSzPct val="100000"/>
              <a:buChar char="•"/>
            </a:pPr>
            <a:r>
              <a:rPr lang="en-US" sz="1350" dirty="0">
                <a:solidFill>
                  <a:schemeClr val="tx1"/>
                </a:solidFill>
              </a:rPr>
              <a:t>How many accounts can a rep act on each week?</a:t>
            </a:r>
            <a:endParaRPr lang="en-US" sz="1350" dirty="0"/>
          </a:p>
        </p:txBody>
      </p:sp>
      <p:sp>
        <p:nvSpPr>
          <p:cNvPr id="10" name="Shape 8"/>
          <p:cNvSpPr/>
          <p:nvPr/>
        </p:nvSpPr>
        <p:spPr>
          <a:xfrm>
            <a:off x="4338218" y="1463040"/>
            <a:ext cx="3515258" cy="777240"/>
          </a:xfrm>
          <a:prstGeom prst="roundRect">
            <a:avLst>
              <a:gd name="adj" fmla="val 9412"/>
            </a:avLst>
          </a:prstGeom>
          <a:solidFill>
            <a:schemeClr val="tx1"/>
          </a:solidFill>
          <a:ln w="12700">
            <a:solidFill>
              <a:schemeClr val="tx1"/>
            </a:solidFill>
            <a:prstDash val="solid"/>
          </a:ln>
        </p:spPr>
      </p:sp>
      <p:sp>
        <p:nvSpPr>
          <p:cNvPr id="11" name="Text 9"/>
          <p:cNvSpPr txBox="1"/>
          <p:nvPr/>
        </p:nvSpPr>
        <p:spPr>
          <a:xfrm>
            <a:off x="4566818"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E. Actions &amp; channels</a:t>
            </a:r>
            <a:endParaRPr lang="en-US" sz="1700" dirty="0"/>
          </a:p>
        </p:txBody>
      </p:sp>
      <p:sp>
        <p:nvSpPr>
          <p:cNvPr id="12" name="Shape 10"/>
          <p:cNvSpPr/>
          <p:nvPr/>
        </p:nvSpPr>
        <p:spPr>
          <a:xfrm>
            <a:off x="4338218" y="2240280"/>
            <a:ext cx="3515258" cy="3886200"/>
          </a:xfrm>
          <a:prstGeom prst="roundRect">
            <a:avLst>
              <a:gd name="adj" fmla="val 1040"/>
            </a:avLst>
          </a:prstGeom>
          <a:solidFill>
            <a:schemeClr val="bg2"/>
          </a:solidFill>
          <a:ln w="12700">
            <a:solidFill>
              <a:schemeClr val="bg2"/>
            </a:solidFill>
            <a:prstDash val="solid"/>
          </a:ln>
        </p:spPr>
      </p:sp>
      <p:sp>
        <p:nvSpPr>
          <p:cNvPr id="13" name="Text 11"/>
          <p:cNvSpPr txBox="1"/>
          <p:nvPr/>
        </p:nvSpPr>
        <p:spPr>
          <a:xfrm>
            <a:off x="4566818"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What does a rep do today in each situation: call, assessment, renewal review, case study?</a:t>
            </a:r>
            <a:endParaRPr lang="en-US" sz="1350" dirty="0"/>
          </a:p>
          <a:p>
            <a:pPr marL="177800" indent="-177800">
              <a:spcAft>
                <a:spcPts val="700"/>
              </a:spcAft>
              <a:buSzPct val="100000"/>
              <a:buChar char="•"/>
            </a:pPr>
            <a:r>
              <a:rPr lang="en-US" sz="1350" dirty="0">
                <a:solidFill>
                  <a:schemeClr val="tx1"/>
                </a:solidFill>
              </a:rPr>
              <a:t>Which channels are allowed per country: email, LinkedIn, phone?</a:t>
            </a:r>
            <a:endParaRPr lang="en-US" sz="1350" dirty="0"/>
          </a:p>
          <a:p>
            <a:pPr marL="177800" indent="-177800">
              <a:spcAft>
                <a:spcPts val="700"/>
              </a:spcAft>
              <a:buSzPct val="100000"/>
              <a:buChar char="•"/>
            </a:pPr>
            <a:r>
              <a:rPr lang="en-US" sz="1350" dirty="0">
                <a:solidFill>
                  <a:schemeClr val="tx1"/>
                </a:solidFill>
              </a:rPr>
              <a:t>What is a typical first deal size per segment?</a:t>
            </a:r>
            <a:endParaRPr lang="en-US" sz="1350" dirty="0"/>
          </a:p>
          <a:p>
            <a:pPr marL="177800" indent="-177800">
              <a:spcAft>
                <a:spcPts val="700"/>
              </a:spcAft>
              <a:buSzPct val="100000"/>
              <a:buChar char="•"/>
            </a:pPr>
            <a:r>
              <a:rPr lang="en-US" sz="1350" dirty="0">
                <a:solidFill>
                  <a:schemeClr val="tx1"/>
                </a:solidFill>
              </a:rPr>
              <a:t>Who picks up accounts with no rep?</a:t>
            </a:r>
            <a:endParaRPr lang="en-US" sz="1350" dirty="0"/>
          </a:p>
        </p:txBody>
      </p:sp>
      <p:sp>
        <p:nvSpPr>
          <p:cNvPr id="14" name="Shape 12"/>
          <p:cNvSpPr/>
          <p:nvPr/>
        </p:nvSpPr>
        <p:spPr>
          <a:xfrm>
            <a:off x="8127797" y="1463040"/>
            <a:ext cx="3515258" cy="777240"/>
          </a:xfrm>
          <a:prstGeom prst="roundRect">
            <a:avLst>
              <a:gd name="adj" fmla="val 9412"/>
            </a:avLst>
          </a:prstGeom>
          <a:solidFill>
            <a:schemeClr val="tx1"/>
          </a:solidFill>
          <a:ln w="12700">
            <a:solidFill>
              <a:schemeClr val="tx1"/>
            </a:solidFill>
            <a:prstDash val="solid"/>
          </a:ln>
        </p:spPr>
      </p:sp>
      <p:sp>
        <p:nvSpPr>
          <p:cNvPr id="15" name="Text 13"/>
          <p:cNvSpPr txBox="1"/>
          <p:nvPr/>
        </p:nvSpPr>
        <p:spPr>
          <a:xfrm>
            <a:off x="8356397"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F. Messaging &amp; content</a:t>
            </a:r>
            <a:endParaRPr lang="en-US" sz="1700" dirty="0"/>
          </a:p>
        </p:txBody>
      </p:sp>
      <p:sp>
        <p:nvSpPr>
          <p:cNvPr id="16" name="Shape 14"/>
          <p:cNvSpPr/>
          <p:nvPr/>
        </p:nvSpPr>
        <p:spPr>
          <a:xfrm>
            <a:off x="8127797" y="2240280"/>
            <a:ext cx="3515258" cy="3886200"/>
          </a:xfrm>
          <a:prstGeom prst="roundRect">
            <a:avLst>
              <a:gd name="adj" fmla="val 1040"/>
            </a:avLst>
          </a:prstGeom>
          <a:solidFill>
            <a:schemeClr val="bg2"/>
          </a:solidFill>
          <a:ln w="12700">
            <a:solidFill>
              <a:schemeClr val="bg2"/>
            </a:solidFill>
            <a:prstDash val="solid"/>
          </a:ln>
        </p:spPr>
      </p:sp>
      <p:sp>
        <p:nvSpPr>
          <p:cNvPr id="17" name="Text 15"/>
          <p:cNvSpPr txBox="1"/>
          <p:nvPr/>
        </p:nvSpPr>
        <p:spPr>
          <a:xfrm>
            <a:off x="8356397"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How are first messages written today, and how long do they take?</a:t>
            </a:r>
            <a:endParaRPr lang="en-US" sz="1350" dirty="0"/>
          </a:p>
          <a:p>
            <a:pPr marL="177800" indent="-177800">
              <a:spcAft>
                <a:spcPts val="700"/>
              </a:spcAft>
              <a:buSzPct val="100000"/>
              <a:buChar char="•"/>
            </a:pPr>
            <a:r>
              <a:rPr lang="en-US" sz="1350" dirty="0">
                <a:solidFill>
                  <a:schemeClr val="tx1"/>
                </a:solidFill>
              </a:rPr>
              <a:t>Is there a brand guideline, tone of voice and banned words?</a:t>
            </a:r>
            <a:endParaRPr lang="en-US" sz="1350" dirty="0"/>
          </a:p>
          <a:p>
            <a:pPr marL="177800" indent="-177800">
              <a:spcAft>
                <a:spcPts val="700"/>
              </a:spcAft>
              <a:buSzPct val="100000"/>
              <a:buChar char="•"/>
            </a:pPr>
            <a:r>
              <a:rPr lang="en-US" sz="1350" dirty="0">
                <a:solidFill>
                  <a:schemeClr val="tx1"/>
                </a:solidFill>
              </a:rPr>
              <a:t>Is there a library of approved claims and case studies, with expiry dates?</a:t>
            </a:r>
            <a:endParaRPr lang="en-US" sz="1350" dirty="0"/>
          </a:p>
          <a:p>
            <a:pPr marL="177800" indent="-177800">
              <a:spcAft>
                <a:spcPts val="700"/>
              </a:spcAft>
              <a:buSzPct val="100000"/>
              <a:buChar char="•"/>
            </a:pPr>
            <a:r>
              <a:rPr lang="en-US" sz="1350" dirty="0">
                <a:solidFill>
                  <a:schemeClr val="tx1"/>
                </a:solidFill>
              </a:rPr>
              <a:t>Are there plays or frameworks per segment?</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MICRO-SEGMENTS &amp; NBA · 2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Micro-segments &amp; NBA: key questions (2/3)</a:t>
            </a:r>
            <a:endParaRPr lang="en-US" sz="2800" dirty="0"/>
          </a:p>
        </p:txBody>
      </p:sp>
      <p:sp>
        <p:nvSpPr>
          <p:cNvPr id="4" name="Shape 2"/>
          <p:cNvSpPr/>
          <p:nvPr/>
        </p:nvSpPr>
        <p:spPr>
          <a:xfrm>
            <a:off x="9445752" y="292608"/>
            <a:ext cx="2194560" cy="292608"/>
          </a:xfrm>
          <a:prstGeom prst="roundRect">
            <a:avLst>
              <a:gd name="adj" fmla="val 25000"/>
            </a:avLst>
          </a:prstGeom>
          <a:solidFill>
            <a:schemeClr val="accent1"/>
          </a:solidFill>
          <a:ln w="12700">
            <a:solidFill>
              <a:schemeClr val="accent1"/>
            </a:solidFill>
            <a:prstDash val="solid"/>
          </a:ln>
        </p:spPr>
      </p:sp>
      <p:sp>
        <p:nvSpPr>
          <p:cNvPr id="5" name="Text 3"/>
          <p:cNvSpPr txBox="1"/>
          <p:nvPr/>
        </p:nvSpPr>
        <p:spPr>
          <a:xfrm>
            <a:off x="9445752" y="292608"/>
            <a:ext cx="2194560" cy="292608"/>
          </a:xfrm>
          <a:prstGeom prst="rect">
            <a:avLst/>
          </a:prstGeom>
          <a:noFill/>
          <a:ln/>
        </p:spPr>
        <p:txBody>
          <a:bodyPr wrap="square" lIns="0" tIns="0" rIns="0" bIns="0" rtlCol="0" anchor="ctr"/>
          <a:lstStyle/>
          <a:p>
            <a:pPr algn="ctr" indent="0" marL="0">
              <a:buNone/>
            </a:pPr>
            <a:r>
              <a:rPr lang="en-US" sz="1000" b="1" spc="100" kern="0" dirty="0">
                <a:solidFill>
                  <a:schemeClr val="tx1"/>
                </a:solidFill>
              </a:rPr>
              <a:t>NEXT BEST ACTION</a:t>
            </a:r>
            <a:endParaRPr lang="en-US" sz="1000" dirty="0"/>
          </a:p>
        </p:txBody>
      </p:sp>
      <p:sp>
        <p:nvSpPr>
          <p:cNvPr id="6" name="Shape 4"/>
          <p:cNvSpPr/>
          <p:nvPr/>
        </p:nvSpPr>
        <p:spPr>
          <a:xfrm>
            <a:off x="548640" y="1463040"/>
            <a:ext cx="3515258" cy="777240"/>
          </a:xfrm>
          <a:prstGeom prst="roundRect">
            <a:avLst>
              <a:gd name="adj" fmla="val 9412"/>
            </a:avLst>
          </a:prstGeom>
          <a:solidFill>
            <a:schemeClr val="tx1"/>
          </a:solidFill>
          <a:ln w="12700">
            <a:solidFill>
              <a:schemeClr val="tx1"/>
            </a:solidFill>
            <a:prstDash val="solid"/>
          </a:ln>
        </p:spPr>
      </p:sp>
      <p:sp>
        <p:nvSpPr>
          <p:cNvPr id="7" name="Text 5"/>
          <p:cNvSpPr txBox="1"/>
          <p:nvPr/>
        </p:nvSpPr>
        <p:spPr>
          <a:xfrm>
            <a:off x="777240"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G. Review &amp; approval</a:t>
            </a:r>
            <a:endParaRPr lang="en-US" sz="1700" dirty="0"/>
          </a:p>
        </p:txBody>
      </p:sp>
      <p:sp>
        <p:nvSpPr>
          <p:cNvPr id="8" name="Shape 6"/>
          <p:cNvSpPr/>
          <p:nvPr/>
        </p:nvSpPr>
        <p:spPr>
          <a:xfrm>
            <a:off x="548640" y="2240280"/>
            <a:ext cx="3515258" cy="3886200"/>
          </a:xfrm>
          <a:prstGeom prst="roundRect">
            <a:avLst>
              <a:gd name="adj" fmla="val 1040"/>
            </a:avLst>
          </a:prstGeom>
          <a:solidFill>
            <a:schemeClr val="bg2"/>
          </a:solidFill>
          <a:ln w="12700">
            <a:solidFill>
              <a:schemeClr val="bg2"/>
            </a:solidFill>
            <a:prstDash val="solid"/>
          </a:ln>
        </p:spPr>
      </p:sp>
      <p:sp>
        <p:nvSpPr>
          <p:cNvPr id="9" name="Text 7"/>
          <p:cNvSpPr txBox="1"/>
          <p:nvPr/>
        </p:nvSpPr>
        <p:spPr>
          <a:xfrm>
            <a:off x="777240"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Who reviews messages before they go out today?</a:t>
            </a:r>
            <a:endParaRPr lang="en-US" sz="1350" dirty="0"/>
          </a:p>
          <a:p>
            <a:pPr marL="177800" indent="-177800">
              <a:spcAft>
                <a:spcPts val="700"/>
              </a:spcAft>
              <a:buSzPct val="100000"/>
              <a:buChar char="•"/>
            </a:pPr>
            <a:r>
              <a:rPr lang="en-US" sz="1350" dirty="0">
                <a:solidFill>
                  <a:schemeClr val="tx1"/>
                </a:solidFill>
              </a:rPr>
              <a:t>Which topics need a manager: pricing, incidents, security, regulation?</a:t>
            </a:r>
            <a:endParaRPr lang="en-US" sz="1350" dirty="0"/>
          </a:p>
          <a:p>
            <a:pPr marL="177800" indent="-177800">
              <a:spcAft>
                <a:spcPts val="700"/>
              </a:spcAft>
              <a:buSzPct val="100000"/>
              <a:buChar char="•"/>
            </a:pPr>
            <a:r>
              <a:rPr lang="en-US" sz="1350" dirty="0">
                <a:solidFill>
                  <a:schemeClr val="tx1"/>
                </a:solidFill>
              </a:rPr>
              <a:t>What review effort per action is acceptable?</a:t>
            </a:r>
            <a:endParaRPr lang="en-US" sz="1350" dirty="0"/>
          </a:p>
          <a:p>
            <a:pPr marL="177800" indent="-177800">
              <a:spcAft>
                <a:spcPts val="700"/>
              </a:spcAft>
              <a:buSzPct val="100000"/>
              <a:buChar char="•"/>
            </a:pPr>
            <a:r>
              <a:rPr lang="en-US" sz="1350" dirty="0">
                <a:solidFill>
                  <a:schemeClr val="tx1"/>
                </a:solidFill>
              </a:rPr>
              <a:t>What should happen to a rejected suggestion?</a:t>
            </a:r>
            <a:endParaRPr lang="en-US" sz="1350" dirty="0"/>
          </a:p>
        </p:txBody>
      </p:sp>
      <p:sp>
        <p:nvSpPr>
          <p:cNvPr id="10" name="Shape 8"/>
          <p:cNvSpPr/>
          <p:nvPr/>
        </p:nvSpPr>
        <p:spPr>
          <a:xfrm>
            <a:off x="4338218" y="1463040"/>
            <a:ext cx="3515258" cy="777240"/>
          </a:xfrm>
          <a:prstGeom prst="roundRect">
            <a:avLst>
              <a:gd name="adj" fmla="val 9412"/>
            </a:avLst>
          </a:prstGeom>
          <a:solidFill>
            <a:schemeClr val="tx1"/>
          </a:solidFill>
          <a:ln w="12700">
            <a:solidFill>
              <a:schemeClr val="tx1"/>
            </a:solidFill>
            <a:prstDash val="solid"/>
          </a:ln>
        </p:spPr>
      </p:sp>
      <p:sp>
        <p:nvSpPr>
          <p:cNvPr id="11" name="Text 9"/>
          <p:cNvSpPr txBox="1"/>
          <p:nvPr/>
        </p:nvSpPr>
        <p:spPr>
          <a:xfrm>
            <a:off x="4566818"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H. Rep hand-off &amp; CRM</a:t>
            </a:r>
            <a:endParaRPr lang="en-US" sz="1700" dirty="0"/>
          </a:p>
        </p:txBody>
      </p:sp>
      <p:sp>
        <p:nvSpPr>
          <p:cNvPr id="12" name="Shape 10"/>
          <p:cNvSpPr/>
          <p:nvPr/>
        </p:nvSpPr>
        <p:spPr>
          <a:xfrm>
            <a:off x="4338218" y="2240280"/>
            <a:ext cx="3515258" cy="3886200"/>
          </a:xfrm>
          <a:prstGeom prst="roundRect">
            <a:avLst>
              <a:gd name="adj" fmla="val 1040"/>
            </a:avLst>
          </a:prstGeom>
          <a:solidFill>
            <a:schemeClr val="bg2"/>
          </a:solidFill>
          <a:ln w="12700">
            <a:solidFill>
              <a:schemeClr val="bg2"/>
            </a:solidFill>
            <a:prstDash val="solid"/>
          </a:ln>
        </p:spPr>
      </p:sp>
      <p:sp>
        <p:nvSpPr>
          <p:cNvPr id="13" name="Text 11"/>
          <p:cNvSpPr txBox="1"/>
          <p:nvPr/>
        </p:nvSpPr>
        <p:spPr>
          <a:xfrm>
            <a:off x="4566818"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Where do reps work today: CRM, email, a sales engagement tool?</a:t>
            </a:r>
            <a:endParaRPr lang="en-US" sz="1350" dirty="0"/>
          </a:p>
          <a:p>
            <a:pPr marL="177800" indent="-177800">
              <a:spcAft>
                <a:spcPts val="700"/>
              </a:spcAft>
              <a:buSzPct val="100000"/>
              <a:buChar char="•"/>
            </a:pPr>
            <a:r>
              <a:rPr lang="en-US" sz="1350" dirty="0">
                <a:solidFill>
                  <a:schemeClr val="tx1"/>
                </a:solidFill>
              </a:rPr>
              <a:t>Should released actions become CRM tasks?</a:t>
            </a:r>
            <a:endParaRPr lang="en-US" sz="1350" dirty="0"/>
          </a:p>
          <a:p>
            <a:pPr marL="177800" indent="-177800">
              <a:spcAft>
                <a:spcPts val="700"/>
              </a:spcAft>
              <a:buSzPct val="100000"/>
              <a:buChar char="•"/>
            </a:pPr>
            <a:r>
              <a:rPr lang="en-US" sz="1350" dirty="0">
                <a:solidFill>
                  <a:schemeClr val="tx1"/>
                </a:solidFill>
              </a:rPr>
              <a:t>How are activities and outcomes logged?</a:t>
            </a:r>
            <a:endParaRPr lang="en-US" sz="1350" dirty="0"/>
          </a:p>
          <a:p>
            <a:pPr marL="177800" indent="-177800">
              <a:spcAft>
                <a:spcPts val="700"/>
              </a:spcAft>
              <a:buSzPct val="100000"/>
              <a:buChar char="•"/>
            </a:pPr>
            <a:r>
              <a:rPr lang="en-US" sz="1350" dirty="0">
                <a:solidFill>
                  <a:schemeClr val="tx1"/>
                </a:solidFill>
              </a:rPr>
              <a:t>Which notifications do reps want?</a:t>
            </a:r>
            <a:endParaRPr lang="en-US" sz="1350" dirty="0"/>
          </a:p>
        </p:txBody>
      </p:sp>
      <p:sp>
        <p:nvSpPr>
          <p:cNvPr id="14" name="Shape 12"/>
          <p:cNvSpPr/>
          <p:nvPr/>
        </p:nvSpPr>
        <p:spPr>
          <a:xfrm>
            <a:off x="8127797" y="1463040"/>
            <a:ext cx="3515258" cy="777240"/>
          </a:xfrm>
          <a:prstGeom prst="roundRect">
            <a:avLst>
              <a:gd name="adj" fmla="val 9412"/>
            </a:avLst>
          </a:prstGeom>
          <a:solidFill>
            <a:schemeClr val="tx1"/>
          </a:solidFill>
          <a:ln w="12700">
            <a:solidFill>
              <a:schemeClr val="tx1"/>
            </a:solidFill>
            <a:prstDash val="solid"/>
          </a:ln>
        </p:spPr>
      </p:sp>
      <p:sp>
        <p:nvSpPr>
          <p:cNvPr id="15" name="Text 13"/>
          <p:cNvSpPr txBox="1"/>
          <p:nvPr/>
        </p:nvSpPr>
        <p:spPr>
          <a:xfrm>
            <a:off x="8356397" y="1463040"/>
            <a:ext cx="3058058" cy="777240"/>
          </a:xfrm>
          <a:prstGeom prst="rect">
            <a:avLst/>
          </a:prstGeom>
          <a:noFill/>
          <a:ln/>
        </p:spPr>
        <p:txBody>
          <a:bodyPr wrap="square" lIns="0" tIns="0" rIns="0" bIns="0" rtlCol="0" anchor="ctr"/>
          <a:lstStyle/>
          <a:p>
            <a:pPr indent="0" marL="0">
              <a:buNone/>
            </a:pPr>
            <a:r>
              <a:rPr lang="en-US" sz="1700" b="1" dirty="0">
                <a:solidFill>
                  <a:schemeClr val="accent1"/>
                </a:solidFill>
              </a:rPr>
              <a:t>I. Consent &amp; data</a:t>
            </a:r>
            <a:endParaRPr lang="en-US" sz="1700" dirty="0"/>
          </a:p>
        </p:txBody>
      </p:sp>
      <p:sp>
        <p:nvSpPr>
          <p:cNvPr id="16" name="Shape 14"/>
          <p:cNvSpPr/>
          <p:nvPr/>
        </p:nvSpPr>
        <p:spPr>
          <a:xfrm>
            <a:off x="8127797" y="2240280"/>
            <a:ext cx="3515258" cy="3886200"/>
          </a:xfrm>
          <a:prstGeom prst="roundRect">
            <a:avLst>
              <a:gd name="adj" fmla="val 1040"/>
            </a:avLst>
          </a:prstGeom>
          <a:solidFill>
            <a:schemeClr val="bg2"/>
          </a:solidFill>
          <a:ln w="12700">
            <a:solidFill>
              <a:schemeClr val="bg2"/>
            </a:solidFill>
            <a:prstDash val="solid"/>
          </a:ln>
        </p:spPr>
      </p:sp>
      <p:sp>
        <p:nvSpPr>
          <p:cNvPr id="17" name="Text 15"/>
          <p:cNvSpPr txBox="1"/>
          <p:nvPr/>
        </p:nvSpPr>
        <p:spPr>
          <a:xfrm>
            <a:off x="8356397" y="2423160"/>
            <a:ext cx="310377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Which consent bases apply in each country?</a:t>
            </a:r>
            <a:endParaRPr lang="en-US" sz="1350" dirty="0"/>
          </a:p>
          <a:p>
            <a:pPr marL="177800" indent="-177800">
              <a:spcAft>
                <a:spcPts val="700"/>
              </a:spcAft>
              <a:buSzPct val="100000"/>
              <a:buChar char="•"/>
            </a:pPr>
            <a:r>
              <a:rPr lang="en-US" sz="1350" dirty="0">
                <a:solidFill>
                  <a:schemeClr val="tx1"/>
                </a:solidFill>
              </a:rPr>
              <a:t>How are opt-outs captured and shared?</a:t>
            </a:r>
            <a:endParaRPr lang="en-US" sz="1350" dirty="0"/>
          </a:p>
          <a:p>
            <a:pPr marL="177800" indent="-177800">
              <a:spcAft>
                <a:spcPts val="700"/>
              </a:spcAft>
              <a:buSzPct val="100000"/>
              <a:buChar char="•"/>
            </a:pPr>
            <a:r>
              <a:rPr lang="en-US" sz="1350" dirty="0">
                <a:solidFill>
                  <a:schemeClr val="tx1"/>
                </a:solidFill>
              </a:rPr>
              <a:t>Any data residency requirements?</a:t>
            </a:r>
            <a:endParaRPr lang="en-US" sz="1350" dirty="0"/>
          </a:p>
          <a:p>
            <a:pPr marL="177800" indent="-177800">
              <a:spcAft>
                <a:spcPts val="700"/>
              </a:spcAft>
              <a:buSzPct val="100000"/>
              <a:buChar char="•"/>
            </a:pPr>
            <a:r>
              <a:rPr lang="en-US" sz="1350" dirty="0">
                <a:solidFill>
                  <a:schemeClr val="tx1"/>
                </a:solidFill>
              </a:rPr>
              <a:t>What happens to pilot data at the end?</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UNDERSTANDING · MICRO-SEGMENTS &amp; NBA · 3 OF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Micro-segments &amp; NBA: key questions (3/3)</a:t>
            </a:r>
            <a:endParaRPr lang="en-US" sz="2800" dirty="0"/>
          </a:p>
        </p:txBody>
      </p:sp>
      <p:sp>
        <p:nvSpPr>
          <p:cNvPr id="4" name="Shape 2"/>
          <p:cNvSpPr/>
          <p:nvPr/>
        </p:nvSpPr>
        <p:spPr>
          <a:xfrm>
            <a:off x="9445752" y="292608"/>
            <a:ext cx="2194560" cy="292608"/>
          </a:xfrm>
          <a:prstGeom prst="roundRect">
            <a:avLst>
              <a:gd name="adj" fmla="val 25000"/>
            </a:avLst>
          </a:prstGeom>
          <a:solidFill>
            <a:schemeClr val="accent1"/>
          </a:solidFill>
          <a:ln w="12700">
            <a:solidFill>
              <a:schemeClr val="accent1"/>
            </a:solidFill>
            <a:prstDash val="solid"/>
          </a:ln>
        </p:spPr>
      </p:sp>
      <p:sp>
        <p:nvSpPr>
          <p:cNvPr id="5" name="Text 3"/>
          <p:cNvSpPr txBox="1"/>
          <p:nvPr/>
        </p:nvSpPr>
        <p:spPr>
          <a:xfrm>
            <a:off x="9445752" y="292608"/>
            <a:ext cx="2194560" cy="292608"/>
          </a:xfrm>
          <a:prstGeom prst="rect">
            <a:avLst/>
          </a:prstGeom>
          <a:noFill/>
          <a:ln/>
        </p:spPr>
        <p:txBody>
          <a:bodyPr wrap="square" lIns="0" tIns="0" rIns="0" bIns="0" rtlCol="0" anchor="ctr"/>
          <a:lstStyle/>
          <a:p>
            <a:pPr algn="ctr" indent="0" marL="0">
              <a:buNone/>
            </a:pPr>
            <a:r>
              <a:rPr lang="en-US" sz="1000" b="1" spc="100" kern="0" dirty="0">
                <a:solidFill>
                  <a:schemeClr val="tx1"/>
                </a:solidFill>
              </a:rPr>
              <a:t>NEXT BEST ACTION</a:t>
            </a:r>
            <a:endParaRPr lang="en-US" sz="1000" dirty="0"/>
          </a:p>
        </p:txBody>
      </p:sp>
      <p:sp>
        <p:nvSpPr>
          <p:cNvPr id="6" name="Shape 4"/>
          <p:cNvSpPr/>
          <p:nvPr/>
        </p:nvSpPr>
        <p:spPr>
          <a:xfrm>
            <a:off x="548640" y="1463040"/>
            <a:ext cx="5410048" cy="777240"/>
          </a:xfrm>
          <a:prstGeom prst="roundRect">
            <a:avLst>
              <a:gd name="adj" fmla="val 9412"/>
            </a:avLst>
          </a:prstGeom>
          <a:solidFill>
            <a:schemeClr val="tx1"/>
          </a:solidFill>
          <a:ln w="12700">
            <a:solidFill>
              <a:schemeClr val="tx1"/>
            </a:solidFill>
            <a:prstDash val="solid"/>
          </a:ln>
        </p:spPr>
      </p:sp>
      <p:sp>
        <p:nvSpPr>
          <p:cNvPr id="7" name="Text 5"/>
          <p:cNvSpPr txBox="1"/>
          <p:nvPr/>
        </p:nvSpPr>
        <p:spPr>
          <a:xfrm>
            <a:off x="777240" y="1463040"/>
            <a:ext cx="4952848" cy="777240"/>
          </a:xfrm>
          <a:prstGeom prst="rect">
            <a:avLst/>
          </a:prstGeom>
          <a:noFill/>
          <a:ln/>
        </p:spPr>
        <p:txBody>
          <a:bodyPr wrap="square" lIns="0" tIns="0" rIns="0" bIns="0" rtlCol="0" anchor="ctr"/>
          <a:lstStyle/>
          <a:p>
            <a:pPr indent="0" marL="0">
              <a:buNone/>
            </a:pPr>
            <a:r>
              <a:rPr lang="en-US" sz="1700" b="1" dirty="0">
                <a:solidFill>
                  <a:schemeClr val="accent1"/>
                </a:solidFill>
              </a:rPr>
              <a:t>J. Learning &amp; measurement</a:t>
            </a:r>
            <a:endParaRPr lang="en-US" sz="1700" dirty="0"/>
          </a:p>
        </p:txBody>
      </p:sp>
      <p:sp>
        <p:nvSpPr>
          <p:cNvPr id="8" name="Shape 6"/>
          <p:cNvSpPr/>
          <p:nvPr/>
        </p:nvSpPr>
        <p:spPr>
          <a:xfrm>
            <a:off x="548640" y="2240280"/>
            <a:ext cx="5410048" cy="3886200"/>
          </a:xfrm>
          <a:prstGeom prst="roundRect">
            <a:avLst>
              <a:gd name="adj" fmla="val 941"/>
            </a:avLst>
          </a:prstGeom>
          <a:solidFill>
            <a:schemeClr val="bg2"/>
          </a:solidFill>
          <a:ln w="12700">
            <a:solidFill>
              <a:schemeClr val="bg2"/>
            </a:solidFill>
            <a:prstDash val="solid"/>
          </a:ln>
        </p:spPr>
      </p:sp>
      <p:sp>
        <p:nvSpPr>
          <p:cNvPr id="9" name="Text 7"/>
          <p:cNvSpPr txBox="1"/>
          <p:nvPr/>
        </p:nvSpPr>
        <p:spPr>
          <a:xfrm>
            <a:off x="777240" y="2423160"/>
            <a:ext cx="499856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Are outcomes (reply, meeting, opportunity) recorded today, and where?</a:t>
            </a:r>
            <a:endParaRPr lang="en-US" sz="1350" dirty="0"/>
          </a:p>
          <a:p>
            <a:pPr marL="177800" indent="-177800">
              <a:spcAft>
                <a:spcPts val="700"/>
              </a:spcAft>
              <a:buSzPct val="100000"/>
              <a:buChar char="•"/>
            </a:pPr>
            <a:r>
              <a:rPr lang="en-US" sz="1350" dirty="0">
                <a:solidFill>
                  <a:schemeClr val="tx1"/>
                </a:solidFill>
              </a:rPr>
              <a:t>Is there a report of outbound metrics?</a:t>
            </a:r>
            <a:endParaRPr lang="en-US" sz="1350" dirty="0"/>
          </a:p>
          <a:p>
            <a:pPr marL="177800" indent="-177800">
              <a:spcAft>
                <a:spcPts val="700"/>
              </a:spcAft>
              <a:buSzPct val="100000"/>
              <a:buChar char="•"/>
            </a:pPr>
            <a:r>
              <a:rPr lang="en-US" sz="1350" dirty="0">
                <a:solidFill>
                  <a:schemeClr val="tx1"/>
                </a:solidFill>
              </a:rPr>
              <a:t>Is win or loss linked back to the first touch?</a:t>
            </a:r>
            <a:endParaRPr lang="en-US" sz="1350" dirty="0"/>
          </a:p>
          <a:p>
            <a:pPr marL="177800" indent="-177800">
              <a:spcAft>
                <a:spcPts val="700"/>
              </a:spcAft>
              <a:buSzPct val="100000"/>
              <a:buChar char="•"/>
            </a:pPr>
            <a:r>
              <a:rPr lang="en-US" sz="1350" dirty="0">
                <a:solidFill>
                  <a:schemeClr val="tx1"/>
                </a:solidFill>
              </a:rPr>
              <a:t>Which outcomes matter most to sales leadership?</a:t>
            </a:r>
            <a:endParaRPr lang="en-US" sz="1350" dirty="0"/>
          </a:p>
        </p:txBody>
      </p:sp>
      <p:sp>
        <p:nvSpPr>
          <p:cNvPr id="10" name="Shape 8"/>
          <p:cNvSpPr/>
          <p:nvPr/>
        </p:nvSpPr>
        <p:spPr>
          <a:xfrm>
            <a:off x="6233008" y="1463040"/>
            <a:ext cx="5410048" cy="777240"/>
          </a:xfrm>
          <a:prstGeom prst="roundRect">
            <a:avLst>
              <a:gd name="adj" fmla="val 9412"/>
            </a:avLst>
          </a:prstGeom>
          <a:solidFill>
            <a:schemeClr val="tx1"/>
          </a:solidFill>
          <a:ln w="12700">
            <a:solidFill>
              <a:schemeClr val="tx1"/>
            </a:solidFill>
            <a:prstDash val="solid"/>
          </a:ln>
        </p:spPr>
      </p:sp>
      <p:sp>
        <p:nvSpPr>
          <p:cNvPr id="11" name="Text 9"/>
          <p:cNvSpPr txBox="1"/>
          <p:nvPr/>
        </p:nvSpPr>
        <p:spPr>
          <a:xfrm>
            <a:off x="6461608" y="1463040"/>
            <a:ext cx="4952848" cy="777240"/>
          </a:xfrm>
          <a:prstGeom prst="rect">
            <a:avLst/>
          </a:prstGeom>
          <a:noFill/>
          <a:ln/>
        </p:spPr>
        <p:txBody>
          <a:bodyPr wrap="square" lIns="0" tIns="0" rIns="0" bIns="0" rtlCol="0" anchor="ctr"/>
          <a:lstStyle/>
          <a:p>
            <a:pPr indent="0" marL="0">
              <a:buNone/>
            </a:pPr>
            <a:r>
              <a:rPr lang="en-US" sz="1700" b="1" dirty="0">
                <a:solidFill>
                  <a:schemeClr val="accent1"/>
                </a:solidFill>
              </a:rPr>
              <a:t>K. Baseline numbers</a:t>
            </a:r>
            <a:endParaRPr lang="en-US" sz="1700" dirty="0"/>
          </a:p>
        </p:txBody>
      </p:sp>
      <p:sp>
        <p:nvSpPr>
          <p:cNvPr id="12" name="Shape 10"/>
          <p:cNvSpPr/>
          <p:nvPr/>
        </p:nvSpPr>
        <p:spPr>
          <a:xfrm>
            <a:off x="6233008" y="2240280"/>
            <a:ext cx="5410048" cy="3886200"/>
          </a:xfrm>
          <a:prstGeom prst="roundRect">
            <a:avLst>
              <a:gd name="adj" fmla="val 941"/>
            </a:avLst>
          </a:prstGeom>
          <a:solidFill>
            <a:schemeClr val="bg2"/>
          </a:solidFill>
          <a:ln w="12700">
            <a:solidFill>
              <a:schemeClr val="bg2"/>
            </a:solidFill>
            <a:prstDash val="solid"/>
          </a:ln>
        </p:spPr>
      </p:sp>
      <p:sp>
        <p:nvSpPr>
          <p:cNvPr id="13" name="Text 11"/>
          <p:cNvSpPr txBox="1"/>
          <p:nvPr/>
        </p:nvSpPr>
        <p:spPr>
          <a:xfrm>
            <a:off x="6461608" y="2423160"/>
            <a:ext cx="4998568" cy="356616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Research time per account</a:t>
            </a:r>
            <a:endParaRPr lang="en-US" sz="1350" dirty="0"/>
          </a:p>
          <a:p>
            <a:pPr marL="177800" indent="-177800">
              <a:spcAft>
                <a:spcPts val="700"/>
              </a:spcAft>
              <a:buSzPct val="100000"/>
              <a:buChar char="•"/>
            </a:pPr>
            <a:r>
              <a:rPr lang="en-US" sz="1350" dirty="0">
                <a:solidFill>
                  <a:schemeClr val="tx1"/>
                </a:solidFill>
              </a:rPr>
              <a:t>Time from signal to first touch</a:t>
            </a:r>
            <a:endParaRPr lang="en-US" sz="1350" dirty="0"/>
          </a:p>
          <a:p>
            <a:pPr marL="177800" indent="-177800">
              <a:spcAft>
                <a:spcPts val="700"/>
              </a:spcAft>
              <a:buSzPct val="100000"/>
              <a:buChar char="•"/>
            </a:pPr>
            <a:r>
              <a:rPr lang="en-US" sz="1350" dirty="0">
                <a:solidFill>
                  <a:schemeClr val="tx1"/>
                </a:solidFill>
              </a:rPr>
              <a:t>Reply and meeting rates by channel</a:t>
            </a:r>
            <a:endParaRPr lang="en-US" sz="1350" dirty="0"/>
          </a:p>
          <a:p>
            <a:pPr marL="177800" indent="-177800">
              <a:spcAft>
                <a:spcPts val="700"/>
              </a:spcAft>
              <a:buSzPct val="100000"/>
              <a:buChar char="•"/>
            </a:pPr>
            <a:r>
              <a:rPr lang="en-US" sz="1350" dirty="0">
                <a:solidFill>
                  <a:schemeClr val="tx1"/>
                </a:solidFill>
              </a:rPr>
              <a:t>Pipeline sourced from outbound</a:t>
            </a:r>
            <a:endParaRPr lang="en-US" sz="1350" dirty="0"/>
          </a:p>
          <a:p>
            <a:pPr marL="177800" indent="-177800">
              <a:spcAft>
                <a:spcPts val="700"/>
              </a:spcAft>
              <a:buSzPct val="100000"/>
              <a:buChar char="•"/>
            </a:pPr>
            <a:r>
              <a:rPr lang="en-US" sz="1350" dirty="0">
                <a:solidFill>
                  <a:schemeClr val="tx1"/>
                </a:solidFill>
              </a:rPr>
              <a:t>Accounts a rep works per week</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680960" y="1371600"/>
            <a:ext cx="3840480" cy="3840480"/>
          </a:xfrm>
          <a:prstGeom prst="diamond">
            <a:avLst/>
          </a:prstGeom>
          <a:solidFill>
            <a:schemeClr val="accent1"/>
          </a:solidFill>
          <a:ln w="12700">
            <a:solidFill>
              <a:schemeClr val="accent1"/>
            </a:solidFill>
            <a:prstDash val="solid"/>
          </a:ln>
        </p:spPr>
      </p:sp>
      <p:sp>
        <p:nvSpPr>
          <p:cNvPr id="3" name="Text 1"/>
          <p:cNvSpPr txBox="1"/>
          <p:nvPr/>
        </p:nvSpPr>
        <p:spPr>
          <a:xfrm>
            <a:off x="7680960" y="1371600"/>
            <a:ext cx="3840480" cy="3840480"/>
          </a:xfrm>
          <a:prstGeom prst="rect">
            <a:avLst/>
          </a:prstGeom>
          <a:noFill/>
          <a:ln/>
        </p:spPr>
        <p:txBody>
          <a:bodyPr wrap="square" lIns="0" tIns="0" rIns="0" bIns="0" rtlCol="0" anchor="ctr"/>
          <a:lstStyle/>
          <a:p>
            <a:pPr algn="ctr" indent="0" marL="0">
              <a:buNone/>
            </a:pPr>
            <a:r>
              <a:rPr lang="en-US" sz="7200" b="1" dirty="0">
                <a:solidFill>
                  <a:schemeClr val="tx1"/>
                </a:solidFill>
              </a:rPr>
              <a:t>02</a:t>
            </a:r>
            <a:endParaRPr lang="en-US" sz="7200" dirty="0"/>
          </a:p>
        </p:txBody>
      </p:sp>
      <p:sp>
        <p:nvSpPr>
          <p:cNvPr id="4" name="Text 2"/>
          <p:cNvSpPr txBox="1"/>
          <p:nvPr/>
        </p:nvSpPr>
        <p:spPr>
          <a:xfrm>
            <a:off x="548640" y="2011680"/>
            <a:ext cx="6400800" cy="365760"/>
          </a:xfrm>
          <a:prstGeom prst="rect">
            <a:avLst/>
          </a:prstGeom>
          <a:noFill/>
          <a:ln/>
        </p:spPr>
        <p:txBody>
          <a:bodyPr wrap="square" lIns="0" tIns="0" rIns="0" bIns="0" rtlCol="0" anchor="t"/>
          <a:lstStyle/>
          <a:p>
            <a:pPr indent="0" marL="0">
              <a:buNone/>
            </a:pPr>
            <a:r>
              <a:rPr lang="en-US" sz="1300" b="1" spc="200" kern="0" dirty="0">
                <a:solidFill>
                  <a:schemeClr val="accent1"/>
                </a:solidFill>
              </a:rPr>
              <a:t>DEMAND AI  ·  KEY INPUTS</a:t>
            </a:r>
            <a:endParaRPr lang="en-US" sz="1300" dirty="0"/>
          </a:p>
        </p:txBody>
      </p:sp>
      <p:sp>
        <p:nvSpPr>
          <p:cNvPr id="5" name="Text 3"/>
          <p:cNvSpPr txBox="1"/>
          <p:nvPr/>
        </p:nvSpPr>
        <p:spPr>
          <a:xfrm>
            <a:off x="548640" y="2560320"/>
            <a:ext cx="6766560" cy="1463040"/>
          </a:xfrm>
          <a:prstGeom prst="rect">
            <a:avLst/>
          </a:prstGeom>
          <a:noFill/>
          <a:ln/>
        </p:spPr>
        <p:txBody>
          <a:bodyPr wrap="square" lIns="0" tIns="0" rIns="0" bIns="0" rtlCol="0" anchor="t"/>
          <a:lstStyle/>
          <a:p>
            <a:pPr indent="0" marL="0">
              <a:buNone/>
            </a:pPr>
            <a:r>
              <a:rPr lang="en-US" sz="4000" b="1" dirty="0">
                <a:solidFill>
                  <a:schemeClr val="bg1"/>
                </a:solidFill>
              </a:rPr>
              <a:t>Key inputs from stakeholders</a:t>
            </a:r>
            <a:endParaRPr lang="en-US" sz="4000" dirty="0"/>
          </a:p>
        </p:txBody>
      </p:sp>
      <p:sp>
        <p:nvSpPr>
          <p:cNvPr id="6" name="Text 4"/>
          <p:cNvSpPr txBox="1"/>
          <p:nvPr/>
        </p:nvSpPr>
        <p:spPr>
          <a:xfrm>
            <a:off x="548640" y="4114800"/>
            <a:ext cx="6400800" cy="731520"/>
          </a:xfrm>
          <a:prstGeom prst="rect">
            <a:avLst/>
          </a:prstGeom>
          <a:noFill/>
          <a:ln/>
        </p:spPr>
        <p:txBody>
          <a:bodyPr wrap="square" lIns="0" tIns="0" rIns="0" bIns="0" rtlCol="0" anchor="t"/>
          <a:lstStyle/>
          <a:p>
            <a:pPr indent="0" marL="0">
              <a:buNone/>
            </a:pPr>
            <a:r>
              <a:rPr lang="en-US" sz="1600" dirty="0">
                <a:solidFill>
                  <a:schemeClr val="accent6"/>
                </a:solidFill>
              </a:rPr>
              <a:t>Key inputs needed from you for the pilot.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KEY REQUIREMENTS · 1 OF 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What we need: data and content</a:t>
            </a:r>
            <a:endParaRPr lang="en-US" sz="2800" dirty="0"/>
          </a:p>
        </p:txBody>
      </p:sp>
      <p:sp>
        <p:nvSpPr>
          <p:cNvPr id="4" name="Shape 2"/>
          <p:cNvSpPr/>
          <p:nvPr/>
        </p:nvSpPr>
        <p:spPr>
          <a:xfrm>
            <a:off x="548640" y="1463040"/>
            <a:ext cx="4206240" cy="4480560"/>
          </a:xfrm>
          <a:prstGeom prst="roundRect">
            <a:avLst>
              <a:gd name="adj" fmla="val 1739"/>
            </a:avLst>
          </a:prstGeom>
          <a:solidFill>
            <a:schemeClr val="tx1"/>
          </a:solidFill>
          <a:ln w="12700">
            <a:solidFill>
              <a:schemeClr val="tx1"/>
            </a:solidFill>
            <a:prstDash val="solid"/>
          </a:ln>
        </p:spPr>
      </p:sp>
      <p:sp>
        <p:nvSpPr>
          <p:cNvPr id="5" name="Shape 3"/>
          <p:cNvSpPr/>
          <p:nvPr/>
        </p:nvSpPr>
        <p:spPr>
          <a:xfrm>
            <a:off x="822960" y="1691640"/>
            <a:ext cx="1554480" cy="329184"/>
          </a:xfrm>
          <a:prstGeom prst="roundRect">
            <a:avLst>
              <a:gd name="adj" fmla="val 22222"/>
            </a:avLst>
          </a:prstGeom>
          <a:solidFill>
            <a:schemeClr val="accent1"/>
          </a:solidFill>
          <a:ln w="12700">
            <a:solidFill>
              <a:schemeClr val="accent1"/>
            </a:solidFill>
            <a:prstDash val="solid"/>
          </a:ln>
        </p:spPr>
      </p:sp>
      <p:sp>
        <p:nvSpPr>
          <p:cNvPr id="6" name="Text 4"/>
          <p:cNvSpPr txBox="1"/>
          <p:nvPr/>
        </p:nvSpPr>
        <p:spPr>
          <a:xfrm>
            <a:off x="822960" y="1691640"/>
            <a:ext cx="1554480" cy="329184"/>
          </a:xfrm>
          <a:prstGeom prst="rect">
            <a:avLst/>
          </a:prstGeom>
          <a:noFill/>
          <a:ln/>
        </p:spPr>
        <p:txBody>
          <a:bodyPr wrap="square" lIns="0" tIns="0" rIns="0" bIns="0" rtlCol="0" anchor="ctr"/>
          <a:lstStyle/>
          <a:p>
            <a:pPr algn="ctr" indent="0" marL="0">
              <a:buNone/>
            </a:pPr>
            <a:r>
              <a:rPr lang="en-US" sz="1000" b="1" spc="100" kern="0" dirty="0">
                <a:solidFill>
                  <a:schemeClr val="tx1"/>
                </a:solidFill>
              </a:rPr>
              <a:t>MOST IMPORTANT</a:t>
            </a:r>
            <a:endParaRPr lang="en-US" sz="1000" dirty="0"/>
          </a:p>
        </p:txBody>
      </p:sp>
      <p:sp>
        <p:nvSpPr>
          <p:cNvPr id="7" name="Text 5"/>
          <p:cNvSpPr txBox="1"/>
          <p:nvPr/>
        </p:nvSpPr>
        <p:spPr>
          <a:xfrm>
            <a:off x="822960" y="2194560"/>
            <a:ext cx="3657600" cy="822960"/>
          </a:xfrm>
          <a:prstGeom prst="rect">
            <a:avLst/>
          </a:prstGeom>
          <a:noFill/>
          <a:ln/>
        </p:spPr>
        <p:txBody>
          <a:bodyPr wrap="square" lIns="0" tIns="0" rIns="0" bIns="0" rtlCol="0" anchor="t"/>
          <a:lstStyle/>
          <a:p>
            <a:pPr indent="0" marL="0">
              <a:buNone/>
            </a:pPr>
            <a:r>
              <a:rPr lang="en-US" sz="2200" b="1" dirty="0">
                <a:solidFill>
                  <a:schemeClr val="bg1"/>
                </a:solidFill>
              </a:rPr>
              <a:t>Data to train and test the pilot</a:t>
            </a:r>
            <a:endParaRPr lang="en-US" sz="2200" dirty="0"/>
          </a:p>
        </p:txBody>
      </p:sp>
      <p:sp>
        <p:nvSpPr>
          <p:cNvPr id="8" name="Text 6"/>
          <p:cNvSpPr txBox="1"/>
          <p:nvPr/>
        </p:nvSpPr>
        <p:spPr>
          <a:xfrm>
            <a:off x="822960" y="3108960"/>
            <a:ext cx="3657600"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2 to 3 lead lists for the pilot business unit</a:t>
            </a:r>
            <a:endParaRPr lang="en-US" sz="1400" dirty="0"/>
          </a:p>
          <a:p>
            <a:pPr marL="177800" indent="-177800">
              <a:spcAft>
                <a:spcPts val="500"/>
              </a:spcAft>
              <a:buSzPct val="100000"/>
              <a:buChar char="•"/>
            </a:pPr>
            <a:r>
              <a:rPr lang="en-US" sz="1400" dirty="0">
                <a:solidFill>
                  <a:schemeClr val="bg1"/>
                </a:solidFill>
              </a:rPr>
              <a:t>6 to 12 months of signals for those accounts</a:t>
            </a:r>
            <a:endParaRPr lang="en-US" sz="1400" dirty="0"/>
          </a:p>
          <a:p>
            <a:pPr marL="177800" indent="-177800">
              <a:spcAft>
                <a:spcPts val="500"/>
              </a:spcAft>
              <a:buSzPct val="100000"/>
              <a:buChar char="•"/>
            </a:pPr>
            <a:r>
              <a:rPr lang="en-US" sz="1400" dirty="0">
                <a:solidFill>
                  <a:schemeClr val="bg1"/>
                </a:solidFill>
              </a:rPr>
              <a:t>Outcomes: replied, meeting, opportunity, or no response</a:t>
            </a:r>
            <a:endParaRPr lang="en-US" sz="1400" dirty="0"/>
          </a:p>
          <a:p>
            <a:pPr marL="177800" indent="-177800">
              <a:spcAft>
                <a:spcPts val="500"/>
              </a:spcAft>
              <a:buSzPct val="100000"/>
              <a:buChar char="•"/>
            </a:pPr>
            <a:r>
              <a:rPr lang="en-US" sz="1400" dirty="0">
                <a:solidFill>
                  <a:schemeClr val="bg1"/>
                </a:solidFill>
              </a:rPr>
              <a:t>A mix of existing customers and net-new</a:t>
            </a:r>
            <a:endParaRPr lang="en-US" sz="1400" dirty="0"/>
          </a:p>
        </p:txBody>
      </p:sp>
      <p:sp>
        <p:nvSpPr>
          <p:cNvPr id="9" name="Shape 7"/>
          <p:cNvSpPr/>
          <p:nvPr/>
        </p:nvSpPr>
        <p:spPr>
          <a:xfrm>
            <a:off x="822960" y="5166360"/>
            <a:ext cx="1737360" cy="502920"/>
          </a:xfrm>
          <a:prstGeom prst="roundRect">
            <a:avLst>
              <a:gd name="adj" fmla="val 14545"/>
            </a:avLst>
          </a:prstGeom>
          <a:solidFill>
            <a:schemeClr val="accent1"/>
          </a:solidFill>
          <a:ln w="12700">
            <a:solidFill>
              <a:schemeClr val="accent1"/>
            </a:solidFill>
            <a:prstDash val="solid"/>
          </a:ln>
        </p:spPr>
      </p:sp>
      <p:sp>
        <p:nvSpPr>
          <p:cNvPr id="10" name="Text 8"/>
          <p:cNvSpPr txBox="1"/>
          <p:nvPr/>
        </p:nvSpPr>
        <p:spPr>
          <a:xfrm>
            <a:off x="822960" y="5166360"/>
            <a:ext cx="1737360" cy="502920"/>
          </a:xfrm>
          <a:prstGeom prst="rect">
            <a:avLst/>
          </a:prstGeom>
          <a:noFill/>
          <a:ln/>
        </p:spPr>
        <p:txBody>
          <a:bodyPr wrap="square" lIns="0" tIns="0" rIns="0" bIns="0" rtlCol="0" anchor="ctr"/>
          <a:lstStyle/>
          <a:p>
            <a:pPr algn="ctr" indent="0" marL="0">
              <a:buNone/>
            </a:pPr>
            <a:r>
              <a:rPr lang="en-US" sz="1800" b="1" dirty="0">
                <a:solidFill>
                  <a:schemeClr val="tx1"/>
                </a:solidFill>
              </a:rPr>
              <a:t>80% </a:t>
            </a:r>
            <a:pPr algn="ctr" indent="0" marL="0">
              <a:buNone/>
            </a:pPr>
            <a:r>
              <a:rPr lang="en-US" sz="1200" dirty="0">
                <a:solidFill>
                  <a:schemeClr val="tx1"/>
                </a:solidFill>
              </a:rPr>
              <a:t>tune</a:t>
            </a:r>
            <a:endParaRPr lang="en-US" sz="1400" dirty="0"/>
          </a:p>
        </p:txBody>
      </p:sp>
      <p:sp>
        <p:nvSpPr>
          <p:cNvPr id="11" name="Shape 9"/>
          <p:cNvSpPr/>
          <p:nvPr/>
        </p:nvSpPr>
        <p:spPr>
          <a:xfrm>
            <a:off x="2743200" y="5166360"/>
            <a:ext cx="1737360" cy="502920"/>
          </a:xfrm>
          <a:prstGeom prst="roundRect">
            <a:avLst>
              <a:gd name="adj" fmla="val 14545"/>
            </a:avLst>
          </a:prstGeom>
          <a:solidFill>
            <a:schemeClr val="bg1"/>
          </a:solidFill>
          <a:ln w="12700">
            <a:solidFill>
              <a:schemeClr val="bg1"/>
            </a:solidFill>
            <a:prstDash val="solid"/>
          </a:ln>
        </p:spPr>
      </p:sp>
      <p:sp>
        <p:nvSpPr>
          <p:cNvPr id="12" name="Text 10"/>
          <p:cNvSpPr txBox="1"/>
          <p:nvPr/>
        </p:nvSpPr>
        <p:spPr>
          <a:xfrm>
            <a:off x="2743200" y="5166360"/>
            <a:ext cx="1737360" cy="502920"/>
          </a:xfrm>
          <a:prstGeom prst="rect">
            <a:avLst/>
          </a:prstGeom>
          <a:noFill/>
          <a:ln/>
        </p:spPr>
        <p:txBody>
          <a:bodyPr wrap="square" lIns="0" tIns="0" rIns="0" bIns="0" rtlCol="0" anchor="ctr"/>
          <a:lstStyle/>
          <a:p>
            <a:pPr algn="ctr" indent="0" marL="0">
              <a:buNone/>
            </a:pPr>
            <a:r>
              <a:rPr lang="en-US" sz="1800" b="1" dirty="0">
                <a:solidFill>
                  <a:schemeClr val="tx1"/>
                </a:solidFill>
              </a:rPr>
              <a:t>20% </a:t>
            </a:r>
            <a:pPr algn="ctr" indent="0" marL="0">
              <a:buNone/>
            </a:pPr>
            <a:r>
              <a:rPr lang="en-US" sz="1200" dirty="0">
                <a:solidFill>
                  <a:schemeClr val="tx1"/>
                </a:solidFill>
              </a:rPr>
              <a:t>test</a:t>
            </a:r>
            <a:endParaRPr lang="en-US" sz="1400" dirty="0"/>
          </a:p>
        </p:txBody>
      </p:sp>
      <p:sp>
        <p:nvSpPr>
          <p:cNvPr id="13" name="Shape 11"/>
          <p:cNvSpPr/>
          <p:nvPr/>
        </p:nvSpPr>
        <p:spPr>
          <a:xfrm>
            <a:off x="5074920" y="1508760"/>
            <a:ext cx="411480" cy="411480"/>
          </a:xfrm>
          <a:prstGeom prst="ellipse">
            <a:avLst/>
          </a:prstGeom>
          <a:solidFill>
            <a:schemeClr val="accent1"/>
          </a:solidFill>
          <a:ln w="12700">
            <a:solidFill>
              <a:schemeClr val="accent1"/>
            </a:solidFill>
            <a:prstDash val="solid"/>
          </a:ln>
        </p:spPr>
      </p:sp>
      <p:sp>
        <p:nvSpPr>
          <p:cNvPr id="14" name="Text 12"/>
          <p:cNvSpPr txBox="1"/>
          <p:nvPr/>
        </p:nvSpPr>
        <p:spPr>
          <a:xfrm>
            <a:off x="5074920" y="1508760"/>
            <a:ext cx="411480" cy="41148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5" name="Text 13"/>
          <p:cNvSpPr txBox="1"/>
          <p:nvPr/>
        </p:nvSpPr>
        <p:spPr>
          <a:xfrm>
            <a:off x="5669280" y="1508760"/>
            <a:ext cx="5852160" cy="411480"/>
          </a:xfrm>
          <a:prstGeom prst="rect">
            <a:avLst/>
          </a:prstGeom>
          <a:noFill/>
          <a:ln/>
        </p:spPr>
        <p:txBody>
          <a:bodyPr wrap="square" lIns="0" tIns="0" rIns="0" bIns="0" rtlCol="0" anchor="ctr"/>
          <a:lstStyle/>
          <a:p>
            <a:pPr indent="0" marL="0">
              <a:buNone/>
            </a:pPr>
            <a:r>
              <a:rPr lang="en-US" sz="1700" b="1" dirty="0">
                <a:solidFill>
                  <a:schemeClr val="tx1"/>
                </a:solidFill>
              </a:rPr>
              <a:t>Content library</a:t>
            </a:r>
            <a:endParaRPr lang="en-US" sz="1700" dirty="0"/>
          </a:p>
        </p:txBody>
      </p:sp>
      <p:sp>
        <p:nvSpPr>
          <p:cNvPr id="16" name="Text 14"/>
          <p:cNvSpPr txBox="1"/>
          <p:nvPr/>
        </p:nvSpPr>
        <p:spPr>
          <a:xfrm>
            <a:off x="5669280" y="1965960"/>
            <a:ext cx="5943600" cy="960120"/>
          </a:xfrm>
          <a:prstGeom prst="rect">
            <a:avLst/>
          </a:prstGeom>
          <a:noFill/>
          <a:ln/>
        </p:spPr>
        <p:txBody>
          <a:bodyPr wrap="square" lIns="0" tIns="0" rIns="0" bIns="0" rtlCol="0" anchor="t"/>
          <a:lstStyle/>
          <a:p>
            <a:pPr marL="177800" indent="-177800">
              <a:spcAft>
                <a:spcPts val="200"/>
              </a:spcAft>
              <a:buSzPct val="100000"/>
              <a:buChar char="•"/>
            </a:pPr>
            <a:r>
              <a:rPr lang="en-US" sz="1350" dirty="0">
                <a:solidFill>
                  <a:schemeClr val="tx2"/>
                </a:solidFill>
              </a:rPr>
              <a:t>Brand guideline, tone of voice, sign-off</a:t>
            </a:r>
            <a:endParaRPr lang="en-US" sz="1350" dirty="0"/>
          </a:p>
          <a:p>
            <a:pPr marL="177800" indent="-177800">
              <a:spcAft>
                <a:spcPts val="200"/>
              </a:spcAft>
              <a:buSzPct val="100000"/>
              <a:buChar char="•"/>
            </a:pPr>
            <a:r>
              <a:rPr lang="en-US" sz="1350" dirty="0">
                <a:solidFill>
                  <a:schemeClr val="tx2"/>
                </a:solidFill>
              </a:rPr>
              <a:t>Approved claims and case studies, with owners and expiry dates</a:t>
            </a:r>
            <a:endParaRPr lang="en-US" sz="1350" dirty="0"/>
          </a:p>
          <a:p>
            <a:pPr marL="177800" indent="-177800">
              <a:spcAft>
                <a:spcPts val="200"/>
              </a:spcAft>
              <a:buSzPct val="100000"/>
              <a:buChar char="•"/>
            </a:pPr>
            <a:r>
              <a:rPr lang="en-US" sz="1350" dirty="0">
                <a:solidFill>
                  <a:schemeClr val="tx2"/>
                </a:solidFill>
              </a:rPr>
              <a:t>Messaging plays per segment; banned words and competitors</a:t>
            </a:r>
            <a:endParaRPr lang="en-US" sz="1350" dirty="0"/>
          </a:p>
        </p:txBody>
      </p:sp>
      <p:sp>
        <p:nvSpPr>
          <p:cNvPr id="17" name="Shape 15"/>
          <p:cNvSpPr/>
          <p:nvPr/>
        </p:nvSpPr>
        <p:spPr>
          <a:xfrm>
            <a:off x="5074920" y="3044952"/>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5074920" y="3044952"/>
            <a:ext cx="411480" cy="41148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 17"/>
          <p:cNvSpPr txBox="1"/>
          <p:nvPr/>
        </p:nvSpPr>
        <p:spPr>
          <a:xfrm>
            <a:off x="5669280" y="3044952"/>
            <a:ext cx="5852160" cy="411480"/>
          </a:xfrm>
          <a:prstGeom prst="rect">
            <a:avLst/>
          </a:prstGeom>
          <a:noFill/>
          <a:ln/>
        </p:spPr>
        <p:txBody>
          <a:bodyPr wrap="square" lIns="0" tIns="0" rIns="0" bIns="0" rtlCol="0" anchor="ctr"/>
          <a:lstStyle/>
          <a:p>
            <a:pPr indent="0" marL="0">
              <a:buNone/>
            </a:pPr>
            <a:r>
              <a:rPr lang="en-US" sz="1700" b="1" dirty="0">
                <a:solidFill>
                  <a:schemeClr val="tx1"/>
                </a:solidFill>
              </a:rPr>
              <a:t>ICP and scoring rules</a:t>
            </a:r>
            <a:endParaRPr lang="en-US" sz="1700" dirty="0"/>
          </a:p>
        </p:txBody>
      </p:sp>
      <p:sp>
        <p:nvSpPr>
          <p:cNvPr id="20" name="Text 18"/>
          <p:cNvSpPr txBox="1"/>
          <p:nvPr/>
        </p:nvSpPr>
        <p:spPr>
          <a:xfrm>
            <a:off x="5669280" y="3502152"/>
            <a:ext cx="5943600" cy="960120"/>
          </a:xfrm>
          <a:prstGeom prst="rect">
            <a:avLst/>
          </a:prstGeom>
          <a:noFill/>
          <a:ln/>
        </p:spPr>
        <p:txBody>
          <a:bodyPr wrap="square" lIns="0" tIns="0" rIns="0" bIns="0" rtlCol="0" anchor="t"/>
          <a:lstStyle/>
          <a:p>
            <a:pPr marL="177800" indent="-177800">
              <a:spcAft>
                <a:spcPts val="200"/>
              </a:spcAft>
              <a:buSzPct val="100000"/>
              <a:buChar char="•"/>
            </a:pPr>
            <a:r>
              <a:rPr lang="en-US" sz="1350" dirty="0">
                <a:solidFill>
                  <a:schemeClr val="tx2"/>
                </a:solidFill>
              </a:rPr>
              <a:t>Ideal customer criteria and the fit floor</a:t>
            </a:r>
            <a:endParaRPr lang="en-US" sz="1350" dirty="0"/>
          </a:p>
          <a:p>
            <a:pPr marL="177800" indent="-177800">
              <a:spcAft>
                <a:spcPts val="200"/>
              </a:spcAft>
              <a:buSzPct val="100000"/>
              <a:buChar char="•"/>
            </a:pPr>
            <a:r>
              <a:rPr lang="en-US" sz="1350" dirty="0">
                <a:solidFill>
                  <a:schemeClr val="tx2"/>
                </a:solidFill>
              </a:rPr>
              <a:t>Target roles and seniority</a:t>
            </a:r>
            <a:endParaRPr lang="en-US" sz="1350" dirty="0"/>
          </a:p>
          <a:p>
            <a:pPr marL="177800" indent="-177800">
              <a:spcAft>
                <a:spcPts val="200"/>
              </a:spcAft>
              <a:buSzPct val="100000"/>
              <a:buChar char="•"/>
            </a:pPr>
            <a:r>
              <a:rPr lang="en-US" sz="1350" dirty="0">
                <a:solidFill>
                  <a:schemeClr val="tx2"/>
                </a:solidFill>
              </a:rPr>
              <a:t>Which signals count, and their weights</a:t>
            </a:r>
            <a:endParaRPr lang="en-US" sz="1350" dirty="0"/>
          </a:p>
        </p:txBody>
      </p:sp>
      <p:sp>
        <p:nvSpPr>
          <p:cNvPr id="21" name="Shape 19"/>
          <p:cNvSpPr/>
          <p:nvPr/>
        </p:nvSpPr>
        <p:spPr>
          <a:xfrm>
            <a:off x="5074920" y="4581144"/>
            <a:ext cx="411480" cy="411480"/>
          </a:xfrm>
          <a:prstGeom prst="ellipse">
            <a:avLst/>
          </a:prstGeom>
          <a:solidFill>
            <a:schemeClr val="accent1"/>
          </a:solidFill>
          <a:ln w="12700">
            <a:solidFill>
              <a:schemeClr val="accent1"/>
            </a:solidFill>
            <a:prstDash val="solid"/>
          </a:ln>
        </p:spPr>
      </p:sp>
      <p:sp>
        <p:nvSpPr>
          <p:cNvPr id="22" name="Text 20"/>
          <p:cNvSpPr txBox="1"/>
          <p:nvPr/>
        </p:nvSpPr>
        <p:spPr>
          <a:xfrm>
            <a:off x="5074920" y="4581144"/>
            <a:ext cx="411480" cy="41148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3" name="Text 21"/>
          <p:cNvSpPr txBox="1"/>
          <p:nvPr/>
        </p:nvSpPr>
        <p:spPr>
          <a:xfrm>
            <a:off x="5669280" y="4581144"/>
            <a:ext cx="5852160" cy="411480"/>
          </a:xfrm>
          <a:prstGeom prst="rect">
            <a:avLst/>
          </a:prstGeom>
          <a:noFill/>
          <a:ln/>
        </p:spPr>
        <p:txBody>
          <a:bodyPr wrap="square" lIns="0" tIns="0" rIns="0" bIns="0" rtlCol="0" anchor="ctr"/>
          <a:lstStyle/>
          <a:p>
            <a:pPr indent="0" marL="0">
              <a:buNone/>
            </a:pPr>
            <a:r>
              <a:rPr lang="en-US" sz="1700" b="1" dirty="0">
                <a:solidFill>
                  <a:schemeClr val="tx1"/>
                </a:solidFill>
              </a:rPr>
              <a:t>Signal sources and actions</a:t>
            </a:r>
            <a:endParaRPr lang="en-US" sz="1700" dirty="0"/>
          </a:p>
        </p:txBody>
      </p:sp>
      <p:sp>
        <p:nvSpPr>
          <p:cNvPr id="24" name="Text 22"/>
          <p:cNvSpPr txBox="1"/>
          <p:nvPr/>
        </p:nvSpPr>
        <p:spPr>
          <a:xfrm>
            <a:off x="5669280" y="5038344"/>
            <a:ext cx="5943600" cy="960120"/>
          </a:xfrm>
          <a:prstGeom prst="rect">
            <a:avLst/>
          </a:prstGeom>
          <a:noFill/>
          <a:ln/>
        </p:spPr>
        <p:txBody>
          <a:bodyPr wrap="square" lIns="0" tIns="0" rIns="0" bIns="0" rtlCol="0" anchor="t"/>
          <a:lstStyle/>
          <a:p>
            <a:pPr marL="177800" indent="-177800">
              <a:spcAft>
                <a:spcPts val="200"/>
              </a:spcAft>
              <a:buSzPct val="100000"/>
              <a:buChar char="•"/>
            </a:pPr>
            <a:r>
              <a:rPr lang="en-US" sz="1350" dirty="0">
                <a:solidFill>
                  <a:schemeClr val="tx2"/>
                </a:solidFill>
              </a:rPr>
              <a:t>Web forms, webinar and email platforms, CRM, installed base</a:t>
            </a:r>
            <a:endParaRPr lang="en-US" sz="1350" dirty="0"/>
          </a:p>
          <a:p>
            <a:pPr marL="177800" indent="-177800">
              <a:spcAft>
                <a:spcPts val="200"/>
              </a:spcAft>
              <a:buSzPct val="100000"/>
              <a:buChar char="•"/>
            </a:pPr>
            <a:r>
              <a:rPr lang="en-US" sz="1350" dirty="0">
                <a:solidFill>
                  <a:schemeClr val="tx2"/>
                </a:solidFill>
              </a:rPr>
              <a:t>News or project feeds you subscribe to</a:t>
            </a:r>
            <a:endParaRPr lang="en-US" sz="1350" dirty="0"/>
          </a:p>
          <a:p>
            <a:pPr marL="177800" indent="-177800">
              <a:spcAft>
                <a:spcPts val="200"/>
              </a:spcAft>
              <a:buSzPct val="100000"/>
              <a:buChar char="•"/>
            </a:pPr>
            <a:r>
              <a:rPr lang="en-US" sz="1350" dirty="0">
                <a:solidFill>
                  <a:schemeClr val="tx2"/>
                </a:solidFill>
              </a:rPr>
              <a:t>The actions reps may take, by segment</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KEY REQUIREMENTS · 2 OF 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What we need: access and ways of working</a:t>
            </a:r>
            <a:endParaRPr lang="en-US" sz="2800" dirty="0"/>
          </a:p>
        </p:txBody>
      </p:sp>
      <p:sp>
        <p:nvSpPr>
          <p:cNvPr id="4" name="Shape 2"/>
          <p:cNvSpPr/>
          <p:nvPr/>
        </p:nvSpPr>
        <p:spPr>
          <a:xfrm>
            <a:off x="548640" y="1463040"/>
            <a:ext cx="3566160" cy="2148840"/>
          </a:xfrm>
          <a:prstGeom prst="roundRect">
            <a:avLst>
              <a:gd name="adj" fmla="val 3404"/>
            </a:avLst>
          </a:prstGeom>
          <a:solidFill>
            <a:schemeClr val="bg2"/>
          </a:solidFill>
          <a:ln w="12700">
            <a:solidFill>
              <a:schemeClr val="bg2"/>
            </a:solidFill>
            <a:prstDash val="solid"/>
          </a:ln>
        </p:spPr>
      </p:sp>
      <p:sp>
        <p:nvSpPr>
          <p:cNvPr id="5" name="Shape 3"/>
          <p:cNvSpPr/>
          <p:nvPr/>
        </p:nvSpPr>
        <p:spPr>
          <a:xfrm>
            <a:off x="777240" y="1691640"/>
            <a:ext cx="548640" cy="5486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14400" y="1828800"/>
            <a:ext cx="274320" cy="274320"/>
          </a:xfrm>
          <a:prstGeom prst="rect">
            <a:avLst/>
          </a:prstGeom>
        </p:spPr>
      </p:pic>
      <p:sp>
        <p:nvSpPr>
          <p:cNvPr id="7" name="Text 4"/>
          <p:cNvSpPr txBox="1"/>
          <p:nvPr/>
        </p:nvSpPr>
        <p:spPr>
          <a:xfrm>
            <a:off x="1463040" y="169164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Pilot team</a:t>
            </a:r>
            <a:endParaRPr lang="en-US" sz="1600" dirty="0"/>
          </a:p>
        </p:txBody>
      </p:sp>
      <p:sp>
        <p:nvSpPr>
          <p:cNvPr id="8" name="Text 5"/>
          <p:cNvSpPr txBox="1"/>
          <p:nvPr/>
        </p:nvSpPr>
        <p:spPr>
          <a:xfrm>
            <a:off x="777240" y="242316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One business unit and 3 to 5 reps</a:t>
            </a:r>
            <a:endParaRPr lang="en-US" sz="1350" dirty="0"/>
          </a:p>
          <a:p>
            <a:pPr marL="177800" indent="-177800">
              <a:spcAft>
                <a:spcPts val="400"/>
              </a:spcAft>
              <a:buSzPct val="100000"/>
              <a:buChar char="•"/>
            </a:pPr>
            <a:r>
              <a:rPr lang="en-US" sz="1350" dirty="0">
                <a:solidFill>
                  <a:schemeClr val="tx2"/>
                </a:solidFill>
              </a:rPr>
              <a:t>Roles: admin, sales manager, rep, viewer, content owner</a:t>
            </a:r>
            <a:endParaRPr lang="en-US" sz="1350" dirty="0"/>
          </a:p>
        </p:txBody>
      </p:sp>
      <p:sp>
        <p:nvSpPr>
          <p:cNvPr id="9" name="Shape 6"/>
          <p:cNvSpPr/>
          <p:nvPr/>
        </p:nvSpPr>
        <p:spPr>
          <a:xfrm>
            <a:off x="4279392" y="1463040"/>
            <a:ext cx="3566160" cy="2148840"/>
          </a:xfrm>
          <a:prstGeom prst="roundRect">
            <a:avLst>
              <a:gd name="adj" fmla="val 3404"/>
            </a:avLst>
          </a:prstGeom>
          <a:solidFill>
            <a:schemeClr val="bg2"/>
          </a:solidFill>
          <a:ln w="12700">
            <a:solidFill>
              <a:schemeClr val="bg2"/>
            </a:solidFill>
            <a:prstDash val="solid"/>
          </a:ln>
        </p:spPr>
      </p:sp>
      <p:sp>
        <p:nvSpPr>
          <p:cNvPr id="10" name="Shape 7"/>
          <p:cNvSpPr/>
          <p:nvPr/>
        </p:nvSpPr>
        <p:spPr>
          <a:xfrm>
            <a:off x="4507992" y="169164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645152" y="1828800"/>
            <a:ext cx="274320" cy="274320"/>
          </a:xfrm>
          <a:prstGeom prst="rect">
            <a:avLst/>
          </a:prstGeom>
        </p:spPr>
      </p:pic>
      <p:sp>
        <p:nvSpPr>
          <p:cNvPr id="12" name="Text 8"/>
          <p:cNvSpPr txBox="1"/>
          <p:nvPr/>
        </p:nvSpPr>
        <p:spPr>
          <a:xfrm>
            <a:off x="5193792" y="169164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Cadence</a:t>
            </a:r>
            <a:endParaRPr lang="en-US" sz="1600" dirty="0"/>
          </a:p>
        </p:txBody>
      </p:sp>
      <p:sp>
        <p:nvSpPr>
          <p:cNvPr id="13" name="Text 9"/>
          <p:cNvSpPr txBox="1"/>
          <p:nvPr/>
        </p:nvSpPr>
        <p:spPr>
          <a:xfrm>
            <a:off x="4507992" y="242316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Biweekly check-in</a:t>
            </a:r>
            <a:endParaRPr lang="en-US" sz="1350" dirty="0"/>
          </a:p>
          <a:p>
            <a:pPr marL="177800" indent="-177800">
              <a:spcAft>
                <a:spcPts val="400"/>
              </a:spcAft>
              <a:buSzPct val="100000"/>
              <a:buChar char="•"/>
            </a:pPr>
            <a:r>
              <a:rPr lang="en-US" sz="1350" dirty="0">
                <a:solidFill>
                  <a:schemeClr val="tx2"/>
                </a:solidFill>
              </a:rPr>
              <a:t>Inputs provided by agreed dates</a:t>
            </a:r>
            <a:endParaRPr lang="en-US" sz="1350" dirty="0"/>
          </a:p>
        </p:txBody>
      </p:sp>
      <p:sp>
        <p:nvSpPr>
          <p:cNvPr id="14" name="Shape 10"/>
          <p:cNvSpPr/>
          <p:nvPr/>
        </p:nvSpPr>
        <p:spPr>
          <a:xfrm>
            <a:off x="8010144" y="1463040"/>
            <a:ext cx="3566160" cy="2148840"/>
          </a:xfrm>
          <a:prstGeom prst="roundRect">
            <a:avLst>
              <a:gd name="adj" fmla="val 3404"/>
            </a:avLst>
          </a:prstGeom>
          <a:solidFill>
            <a:schemeClr val="bg2"/>
          </a:solidFill>
          <a:ln w="12700">
            <a:solidFill>
              <a:schemeClr val="bg2"/>
            </a:solidFill>
            <a:prstDash val="solid"/>
          </a:ln>
        </p:spPr>
      </p:sp>
      <p:sp>
        <p:nvSpPr>
          <p:cNvPr id="15" name="Shape 11"/>
          <p:cNvSpPr/>
          <p:nvPr/>
        </p:nvSpPr>
        <p:spPr>
          <a:xfrm>
            <a:off x="8238744" y="1691640"/>
            <a:ext cx="548640" cy="54864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375904" y="1828800"/>
            <a:ext cx="274320" cy="274320"/>
          </a:xfrm>
          <a:prstGeom prst="rect">
            <a:avLst/>
          </a:prstGeom>
        </p:spPr>
      </p:pic>
      <p:sp>
        <p:nvSpPr>
          <p:cNvPr id="17" name="Text 12"/>
          <p:cNvSpPr txBox="1"/>
          <p:nvPr/>
        </p:nvSpPr>
        <p:spPr>
          <a:xfrm>
            <a:off x="8924544" y="169164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Communication channel</a:t>
            </a:r>
            <a:endParaRPr lang="en-US" sz="1600" dirty="0"/>
          </a:p>
        </p:txBody>
      </p:sp>
      <p:sp>
        <p:nvSpPr>
          <p:cNvPr id="18" name="Text 13"/>
          <p:cNvSpPr txBox="1"/>
          <p:nvPr/>
        </p:nvSpPr>
        <p:spPr>
          <a:xfrm>
            <a:off x="8238744" y="242316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Shared Teams channel</a:t>
            </a:r>
            <a:endParaRPr lang="en-US" sz="1350" dirty="0"/>
          </a:p>
          <a:p>
            <a:pPr marL="177800" indent="-177800">
              <a:spcAft>
                <a:spcPts val="400"/>
              </a:spcAft>
              <a:buSzPct val="100000"/>
              <a:buChar char="•"/>
            </a:pPr>
            <a:r>
              <a:rPr lang="en-US" sz="1350" dirty="0">
                <a:solidFill>
                  <a:schemeClr val="tx2"/>
                </a:solidFill>
              </a:rPr>
              <a:t>One owner per open question</a:t>
            </a:r>
            <a:endParaRPr lang="en-US" sz="1350" dirty="0"/>
          </a:p>
        </p:txBody>
      </p:sp>
      <p:sp>
        <p:nvSpPr>
          <p:cNvPr id="19" name="Shape 14"/>
          <p:cNvSpPr/>
          <p:nvPr/>
        </p:nvSpPr>
        <p:spPr>
          <a:xfrm>
            <a:off x="548640" y="3794760"/>
            <a:ext cx="3566160" cy="2148840"/>
          </a:xfrm>
          <a:prstGeom prst="roundRect">
            <a:avLst>
              <a:gd name="adj" fmla="val 3404"/>
            </a:avLst>
          </a:prstGeom>
          <a:solidFill>
            <a:schemeClr val="bg2"/>
          </a:solidFill>
          <a:ln w="12700">
            <a:solidFill>
              <a:schemeClr val="bg2"/>
            </a:solidFill>
            <a:prstDash val="solid"/>
          </a:ln>
        </p:spPr>
      </p:sp>
      <p:sp>
        <p:nvSpPr>
          <p:cNvPr id="20" name="Shape 15"/>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914400" y="4160520"/>
            <a:ext cx="274320" cy="274320"/>
          </a:xfrm>
          <a:prstGeom prst="rect">
            <a:avLst/>
          </a:prstGeom>
        </p:spPr>
      </p:pic>
      <p:sp>
        <p:nvSpPr>
          <p:cNvPr id="22" name="Text 16"/>
          <p:cNvSpPr txBox="1"/>
          <p:nvPr/>
        </p:nvSpPr>
        <p:spPr>
          <a:xfrm>
            <a:off x="1463040" y="402336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Data and content repository</a:t>
            </a:r>
            <a:endParaRPr lang="en-US" sz="1600" dirty="0"/>
          </a:p>
        </p:txBody>
      </p:sp>
      <p:sp>
        <p:nvSpPr>
          <p:cNvPr id="23" name="Text 17"/>
          <p:cNvSpPr txBox="1"/>
          <p:nvPr/>
        </p:nvSpPr>
        <p:spPr>
          <a:xfrm>
            <a:off x="777240" y="475488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Central folder for lists, signals and content</a:t>
            </a:r>
            <a:endParaRPr lang="en-US" sz="1350" dirty="0"/>
          </a:p>
          <a:p>
            <a:pPr marL="177800" indent="-177800">
              <a:spcAft>
                <a:spcPts val="400"/>
              </a:spcAft>
              <a:buSzPct val="100000"/>
              <a:buChar char="•"/>
            </a:pPr>
            <a:r>
              <a:rPr lang="en-US" sz="1350" dirty="0">
                <a:solidFill>
                  <a:schemeClr val="tx2"/>
                </a:solidFill>
              </a:rPr>
              <a:t>Access-controlled for the pilot team</a:t>
            </a:r>
            <a:endParaRPr lang="en-US" sz="1350" dirty="0"/>
          </a:p>
        </p:txBody>
      </p:sp>
      <p:sp>
        <p:nvSpPr>
          <p:cNvPr id="24" name="Shape 18"/>
          <p:cNvSpPr/>
          <p:nvPr/>
        </p:nvSpPr>
        <p:spPr>
          <a:xfrm>
            <a:off x="4279392" y="3794760"/>
            <a:ext cx="3566160" cy="2148840"/>
          </a:xfrm>
          <a:prstGeom prst="roundRect">
            <a:avLst>
              <a:gd name="adj" fmla="val 3404"/>
            </a:avLst>
          </a:prstGeom>
          <a:solidFill>
            <a:schemeClr val="bg2"/>
          </a:solidFill>
          <a:ln w="12700">
            <a:solidFill>
              <a:schemeClr val="bg2"/>
            </a:solidFill>
            <a:prstDash val="solid"/>
          </a:ln>
        </p:spPr>
      </p:sp>
      <p:sp>
        <p:nvSpPr>
          <p:cNvPr id="25" name="Shape 19"/>
          <p:cNvSpPr/>
          <p:nvPr/>
        </p:nvSpPr>
        <p:spPr>
          <a:xfrm>
            <a:off x="4507992" y="4023360"/>
            <a:ext cx="548640" cy="54864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4645152" y="4160520"/>
            <a:ext cx="274320" cy="274320"/>
          </a:xfrm>
          <a:prstGeom prst="rect">
            <a:avLst/>
          </a:prstGeom>
        </p:spPr>
      </p:pic>
      <p:sp>
        <p:nvSpPr>
          <p:cNvPr id="27" name="Text 20"/>
          <p:cNvSpPr txBox="1"/>
          <p:nvPr/>
        </p:nvSpPr>
        <p:spPr>
          <a:xfrm>
            <a:off x="5193792" y="402336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System and InfoSec access</a:t>
            </a:r>
            <a:endParaRPr lang="en-US" sz="1600" dirty="0"/>
          </a:p>
        </p:txBody>
      </p:sp>
      <p:sp>
        <p:nvSpPr>
          <p:cNvPr id="28" name="Text 21"/>
          <p:cNvSpPr txBox="1"/>
          <p:nvPr/>
        </p:nvSpPr>
        <p:spPr>
          <a:xfrm>
            <a:off x="4507992" y="475488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CRM export or read access</a:t>
            </a:r>
            <a:endParaRPr lang="en-US" sz="1350" dirty="0"/>
          </a:p>
          <a:p>
            <a:pPr marL="177800" indent="-177800">
              <a:spcAft>
                <a:spcPts val="400"/>
              </a:spcAft>
              <a:buSzPct val="100000"/>
              <a:buChar char="•"/>
            </a:pPr>
            <a:r>
              <a:rPr lang="en-US" sz="1350" dirty="0">
                <a:solidFill>
                  <a:schemeClr val="tx2"/>
                </a:solidFill>
              </a:rPr>
              <a:t>Security review and cloud account set-up</a:t>
            </a:r>
            <a:endParaRPr lang="en-US" sz="1350" dirty="0"/>
          </a:p>
        </p:txBody>
      </p:sp>
      <p:sp>
        <p:nvSpPr>
          <p:cNvPr id="29" name="Shape 22"/>
          <p:cNvSpPr/>
          <p:nvPr/>
        </p:nvSpPr>
        <p:spPr>
          <a:xfrm>
            <a:off x="8010144" y="3794760"/>
            <a:ext cx="3566160" cy="2148840"/>
          </a:xfrm>
          <a:prstGeom prst="roundRect">
            <a:avLst>
              <a:gd name="adj" fmla="val 3404"/>
            </a:avLst>
          </a:prstGeom>
          <a:solidFill>
            <a:schemeClr val="bg2"/>
          </a:solidFill>
          <a:ln w="12700">
            <a:solidFill>
              <a:schemeClr val="bg2"/>
            </a:solidFill>
            <a:prstDash val="solid"/>
          </a:ln>
        </p:spPr>
      </p:sp>
      <p:sp>
        <p:nvSpPr>
          <p:cNvPr id="30" name="Shape 23"/>
          <p:cNvSpPr/>
          <p:nvPr/>
        </p:nvSpPr>
        <p:spPr>
          <a:xfrm>
            <a:off x="8238744" y="4023360"/>
            <a:ext cx="548640" cy="54864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8375904" y="4160520"/>
            <a:ext cx="274320" cy="274320"/>
          </a:xfrm>
          <a:prstGeom prst="rect">
            <a:avLst/>
          </a:prstGeom>
        </p:spPr>
      </p:pic>
      <p:sp>
        <p:nvSpPr>
          <p:cNvPr id="32" name="Text 24"/>
          <p:cNvSpPr txBox="1"/>
          <p:nvPr/>
        </p:nvSpPr>
        <p:spPr>
          <a:xfrm>
            <a:off x="8924544" y="4023360"/>
            <a:ext cx="2560320" cy="548640"/>
          </a:xfrm>
          <a:prstGeom prst="rect">
            <a:avLst/>
          </a:prstGeom>
          <a:noFill/>
          <a:ln/>
        </p:spPr>
        <p:txBody>
          <a:bodyPr wrap="square" lIns="0" tIns="0" rIns="0" bIns="0" rtlCol="0" anchor="ctr"/>
          <a:lstStyle/>
          <a:p>
            <a:pPr indent="0" marL="0">
              <a:buNone/>
            </a:pPr>
            <a:r>
              <a:rPr lang="en-US" sz="1600" b="1" dirty="0">
                <a:solidFill>
                  <a:schemeClr val="tx1"/>
                </a:solidFill>
              </a:rPr>
              <a:t>Scope and timelines</a:t>
            </a:r>
            <a:endParaRPr lang="en-US" sz="1600" dirty="0"/>
          </a:p>
        </p:txBody>
      </p:sp>
      <p:sp>
        <p:nvSpPr>
          <p:cNvPr id="33" name="Text 25"/>
          <p:cNvSpPr txBox="1"/>
          <p:nvPr/>
        </p:nvSpPr>
        <p:spPr>
          <a:xfrm>
            <a:off x="8238744" y="4754880"/>
            <a:ext cx="3154680" cy="10972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chemeClr val="tx2"/>
                </a:solidFill>
              </a:rPr>
              <a:t>Agree the pilot business unit and dates</a:t>
            </a:r>
            <a:endParaRPr lang="en-US" sz="1350" dirty="0"/>
          </a:p>
          <a:p>
            <a:pPr marL="177800" indent="-177800">
              <a:spcAft>
                <a:spcPts val="400"/>
              </a:spcAft>
              <a:buSzPct val="100000"/>
              <a:buChar char="•"/>
            </a:pPr>
            <a:r>
              <a:rPr lang="en-US" sz="1350" dirty="0">
                <a:solidFill>
                  <a:schemeClr val="tx2"/>
                </a:solidFill>
              </a:rPr>
              <a:t>Review progress at each check-in</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SUCCESS CRITERIA · THE TWO MAIN MEASURES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The pilot is judged on two measures: G1 and G2</a:t>
            </a:r>
            <a:endParaRPr lang="en-US" sz="2800" dirty="0"/>
          </a:p>
        </p:txBody>
      </p:sp>
      <p:sp>
        <p:nvSpPr>
          <p:cNvPr id="4" name="Shape 2"/>
          <p:cNvSpPr/>
          <p:nvPr/>
        </p:nvSpPr>
        <p:spPr>
          <a:xfrm>
            <a:off x="548640" y="1325880"/>
            <a:ext cx="5394960" cy="4206240"/>
          </a:xfrm>
          <a:prstGeom prst="roundRect">
            <a:avLst>
              <a:gd name="adj" fmla="val 1739"/>
            </a:avLst>
          </a:prstGeom>
          <a:solidFill>
            <a:schemeClr val="tx1"/>
          </a:solidFill>
          <a:ln w="12700">
            <a:solidFill>
              <a:schemeClr val="tx1"/>
            </a:solidFill>
            <a:prstDash val="solid"/>
          </a:ln>
        </p:spPr>
      </p:sp>
      <p:sp>
        <p:nvSpPr>
          <p:cNvPr id="5" name="Text 3"/>
          <p:cNvSpPr txBox="1"/>
          <p:nvPr/>
        </p:nvSpPr>
        <p:spPr>
          <a:xfrm>
            <a:off x="822960" y="1417320"/>
            <a:ext cx="1280160" cy="822960"/>
          </a:xfrm>
          <a:prstGeom prst="rect">
            <a:avLst/>
          </a:prstGeom>
          <a:noFill/>
          <a:ln/>
        </p:spPr>
        <p:txBody>
          <a:bodyPr wrap="square" lIns="0" tIns="0" rIns="0" bIns="0" rtlCol="0" anchor="ctr"/>
          <a:lstStyle/>
          <a:p>
            <a:pPr indent="0" marL="0">
              <a:buNone/>
            </a:pPr>
            <a:r>
              <a:rPr lang="en-US" sz="4800" b="1" dirty="0">
                <a:solidFill>
                  <a:schemeClr val="accent1"/>
                </a:solidFill>
              </a:rPr>
              <a:t>G1</a:t>
            </a:r>
            <a:endParaRPr lang="en-US" sz="4800" dirty="0"/>
          </a:p>
        </p:txBody>
      </p:sp>
      <p:sp>
        <p:nvSpPr>
          <p:cNvPr id="6" name="Text 4"/>
          <p:cNvSpPr txBox="1"/>
          <p:nvPr/>
        </p:nvSpPr>
        <p:spPr>
          <a:xfrm>
            <a:off x="2103120" y="1417320"/>
            <a:ext cx="3657600" cy="822960"/>
          </a:xfrm>
          <a:prstGeom prst="rect">
            <a:avLst/>
          </a:prstGeom>
          <a:noFill/>
          <a:ln/>
        </p:spPr>
        <p:txBody>
          <a:bodyPr wrap="square" lIns="0" tIns="0" rIns="0" bIns="0" rtlCol="0" anchor="ctr"/>
          <a:lstStyle/>
          <a:p>
            <a:pPr indent="0" marL="0">
              <a:buNone/>
            </a:pPr>
            <a:r>
              <a:rPr lang="en-US" sz="2100" b="1" dirty="0">
                <a:solidFill>
                  <a:schemeClr val="bg1"/>
                </a:solidFill>
              </a:rPr>
              <a:t>Human review effort</a:t>
            </a:r>
            <a:endParaRPr lang="en-US" sz="1400" dirty="0"/>
          </a:p>
          <a:p>
            <a:pPr indent="0" marL="0">
              <a:buNone/>
            </a:pPr>
            <a:r>
              <a:rPr lang="en-US" sz="1250" i="1" dirty="0">
                <a:solidFill>
                  <a:schemeClr val="bg1"/>
                </a:solidFill>
              </a:rPr>
              <a:t>Does DemandAI save people time?</a:t>
            </a:r>
            <a:endParaRPr lang="en-US" sz="1400" dirty="0"/>
          </a:p>
        </p:txBody>
      </p:sp>
      <p:sp>
        <p:nvSpPr>
          <p:cNvPr id="7" name="Text 5"/>
          <p:cNvSpPr txBox="1"/>
          <p:nvPr/>
        </p:nvSpPr>
        <p:spPr>
          <a:xfrm>
            <a:off x="822960" y="2377440"/>
            <a:ext cx="2743200"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THE FORMULA</a:t>
            </a:r>
            <a:endParaRPr lang="en-US" sz="1050" dirty="0"/>
          </a:p>
        </p:txBody>
      </p:sp>
      <p:sp>
        <p:nvSpPr>
          <p:cNvPr id="8" name="Shape 6"/>
          <p:cNvSpPr/>
          <p:nvPr/>
        </p:nvSpPr>
        <p:spPr>
          <a:xfrm>
            <a:off x="822960" y="2633472"/>
            <a:ext cx="4846320" cy="960120"/>
          </a:xfrm>
          <a:prstGeom prst="roundRect">
            <a:avLst>
              <a:gd name="adj" fmla="val 7619"/>
            </a:avLst>
          </a:prstGeom>
          <a:solidFill>
            <a:schemeClr val="tx2"/>
          </a:solidFill>
          <a:ln w="12700">
            <a:solidFill>
              <a:schemeClr val="tx2"/>
            </a:solidFill>
            <a:prstDash val="solid"/>
          </a:ln>
        </p:spPr>
      </p:sp>
      <p:sp>
        <p:nvSpPr>
          <p:cNvPr id="9" name="Text 7"/>
          <p:cNvSpPr txBox="1"/>
          <p:nvPr/>
        </p:nvSpPr>
        <p:spPr>
          <a:xfrm>
            <a:off x="960120" y="2633472"/>
            <a:ext cx="4572000" cy="960120"/>
          </a:xfrm>
          <a:prstGeom prst="rect">
            <a:avLst/>
          </a:prstGeom>
          <a:noFill/>
          <a:ln/>
        </p:spPr>
        <p:txBody>
          <a:bodyPr wrap="square" lIns="0" tIns="0" rIns="0" bIns="0" rtlCol="0" anchor="ctr"/>
          <a:lstStyle/>
          <a:p>
            <a:pPr indent="0" marL="0">
              <a:buNone/>
            </a:pPr>
            <a:r>
              <a:rPr lang="en-US" sz="1300" b="1" dirty="0">
                <a:solidFill>
                  <a:schemeClr val="bg1"/>
                </a:solidFill>
              </a:rPr>
              <a:t>Minutes per action = </a:t>
            </a:r>
            <a:pPr indent="0" marL="0">
              <a:buNone/>
            </a:pPr>
            <a:r>
              <a:rPr lang="en-US" sz="1300" dirty="0">
                <a:solidFill>
                  <a:schemeClr val="bg1"/>
                </a:solidFill>
              </a:rPr>
              <a:t>minutes people spent deciding in For Review ÷ actions released</a:t>
            </a:r>
            <a:endParaRPr lang="en-US" sz="1300" dirty="0"/>
          </a:p>
          <a:p>
            <a:pPr indent="0" marL="0">
              <a:buNone/>
            </a:pPr>
            <a:r>
              <a:rPr lang="en-US" sz="1300" b="1" dirty="0">
                <a:solidFill>
                  <a:schemeClr val="bg1"/>
                </a:solidFill>
              </a:rPr>
              <a:t>Effort saved = </a:t>
            </a:r>
            <a:pPr indent="0" marL="0">
              <a:buNone/>
            </a:pPr>
            <a:r>
              <a:rPr lang="en-US" sz="1300" dirty="0">
                <a:solidFill>
                  <a:schemeClr val="bg1"/>
                </a:solidFill>
              </a:rPr>
              <a:t>1 − (minutes per action ÷ baseline)</a:t>
            </a:r>
            <a:endParaRPr lang="en-US" sz="1300" dirty="0"/>
          </a:p>
        </p:txBody>
      </p:sp>
      <p:sp>
        <p:nvSpPr>
          <p:cNvPr id="10" name="Text 8"/>
          <p:cNvSpPr txBox="1"/>
          <p:nvPr/>
        </p:nvSpPr>
        <p:spPr>
          <a:xfrm>
            <a:off x="822960" y="3703320"/>
            <a:ext cx="2743200"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WORKED EXAMPLE</a:t>
            </a:r>
            <a:endParaRPr lang="en-US" sz="1050" dirty="0"/>
          </a:p>
        </p:txBody>
      </p:sp>
      <p:sp>
        <p:nvSpPr>
          <p:cNvPr id="11" name="Text 9"/>
          <p:cNvSpPr txBox="1"/>
          <p:nvPr/>
        </p:nvSpPr>
        <p:spPr>
          <a:xfrm>
            <a:off x="822960" y="3950208"/>
            <a:ext cx="4846320" cy="960120"/>
          </a:xfrm>
          <a:prstGeom prst="rect">
            <a:avLst/>
          </a:prstGeom>
          <a:noFill/>
          <a:ln/>
        </p:spPr>
        <p:txBody>
          <a:bodyPr wrap="square" lIns="0" tIns="0" rIns="0" bIns="0" rtlCol="0" anchor="t"/>
          <a:lstStyle/>
          <a:p>
            <a:pPr indent="0" marL="0">
              <a:buNone/>
            </a:pPr>
            <a:r>
              <a:rPr lang="en-US" sz="1250" dirty="0">
                <a:solidFill>
                  <a:schemeClr val="bg1"/>
                </a:solidFill>
              </a:rPr>
              <a:t>20 actions released; people spent 150 minutes reviewing in total. 150 ÷ 20 = 7.5 minutes per action. Today it takes 38 minutes, so 1 − 7.5 ÷ 38 = 80% less effort.</a:t>
            </a:r>
            <a:endParaRPr lang="en-US" sz="1250" dirty="0"/>
          </a:p>
        </p:txBody>
      </p:sp>
      <p:sp>
        <p:nvSpPr>
          <p:cNvPr id="12" name="Text 10"/>
          <p:cNvSpPr txBox="1"/>
          <p:nvPr/>
        </p:nvSpPr>
        <p:spPr>
          <a:xfrm>
            <a:off x="822960" y="4983480"/>
            <a:ext cx="4846320" cy="411480"/>
          </a:xfrm>
          <a:prstGeom prst="rect">
            <a:avLst/>
          </a:prstGeom>
          <a:noFill/>
          <a:ln/>
        </p:spPr>
        <p:txBody>
          <a:bodyPr wrap="square" lIns="0" tIns="0" rIns="0" bIns="0" rtlCol="0" anchor="ctr"/>
          <a:lstStyle/>
          <a:p>
            <a:pPr indent="0" marL="0">
              <a:buNone/>
            </a:pPr>
            <a:r>
              <a:rPr lang="en-US" sz="1500" b="1" dirty="0">
                <a:solidFill>
                  <a:schemeClr val="accent1"/>
                </a:solidFill>
              </a:rPr>
              <a:t>Passes when  </a:t>
            </a:r>
            <a:pPr indent="0" marL="0">
              <a:buNone/>
            </a:pPr>
            <a:r>
              <a:rPr lang="en-US" sz="1500" b="1" dirty="0">
                <a:solidFill>
                  <a:schemeClr val="bg1"/>
                </a:solidFill>
              </a:rPr>
              <a:t>effort is at least 50% lower than the baseline</a:t>
            </a:r>
            <a:endParaRPr lang="en-US" sz="1500" dirty="0"/>
          </a:p>
        </p:txBody>
      </p:sp>
      <p:sp>
        <p:nvSpPr>
          <p:cNvPr id="13" name="Shape 11"/>
          <p:cNvSpPr/>
          <p:nvPr/>
        </p:nvSpPr>
        <p:spPr>
          <a:xfrm>
            <a:off x="6172200" y="1325880"/>
            <a:ext cx="5394960" cy="4206240"/>
          </a:xfrm>
          <a:prstGeom prst="roundRect">
            <a:avLst>
              <a:gd name="adj" fmla="val 1739"/>
            </a:avLst>
          </a:prstGeom>
          <a:solidFill>
            <a:schemeClr val="accent5"/>
          </a:solidFill>
          <a:ln w="12700">
            <a:solidFill>
              <a:schemeClr val="accent5"/>
            </a:solidFill>
            <a:prstDash val="solid"/>
          </a:ln>
        </p:spPr>
      </p:sp>
      <p:sp>
        <p:nvSpPr>
          <p:cNvPr id="14" name="Text 12"/>
          <p:cNvSpPr txBox="1"/>
          <p:nvPr/>
        </p:nvSpPr>
        <p:spPr>
          <a:xfrm>
            <a:off x="6446520" y="1417320"/>
            <a:ext cx="1280160" cy="822960"/>
          </a:xfrm>
          <a:prstGeom prst="rect">
            <a:avLst/>
          </a:prstGeom>
          <a:noFill/>
          <a:ln/>
        </p:spPr>
        <p:txBody>
          <a:bodyPr wrap="square" lIns="0" tIns="0" rIns="0" bIns="0" rtlCol="0" anchor="ctr"/>
          <a:lstStyle/>
          <a:p>
            <a:pPr indent="0" marL="0">
              <a:buNone/>
            </a:pPr>
            <a:r>
              <a:rPr lang="en-US" sz="4800" b="1" dirty="0">
                <a:solidFill>
                  <a:schemeClr val="accent1"/>
                </a:solidFill>
              </a:rPr>
              <a:t>G2</a:t>
            </a:r>
            <a:endParaRPr lang="en-US" sz="4800" dirty="0"/>
          </a:p>
        </p:txBody>
      </p:sp>
      <p:sp>
        <p:nvSpPr>
          <p:cNvPr id="15" name="Text 13"/>
          <p:cNvSpPr txBox="1"/>
          <p:nvPr/>
        </p:nvSpPr>
        <p:spPr>
          <a:xfrm>
            <a:off x="7726680" y="1417320"/>
            <a:ext cx="3657600" cy="822960"/>
          </a:xfrm>
          <a:prstGeom prst="rect">
            <a:avLst/>
          </a:prstGeom>
          <a:noFill/>
          <a:ln/>
        </p:spPr>
        <p:txBody>
          <a:bodyPr wrap="square" lIns="0" tIns="0" rIns="0" bIns="0" rtlCol="0" anchor="ctr"/>
          <a:lstStyle/>
          <a:p>
            <a:pPr indent="0" marL="0">
              <a:buNone/>
            </a:pPr>
            <a:r>
              <a:rPr lang="en-US" sz="2100" b="1" dirty="0">
                <a:solidFill>
                  <a:schemeClr val="tx1"/>
                </a:solidFill>
              </a:rPr>
              <a:t>Acceptance rate</a:t>
            </a:r>
            <a:endParaRPr lang="en-US" sz="1400" dirty="0"/>
          </a:p>
          <a:p>
            <a:pPr indent="0" marL="0">
              <a:buNone/>
            </a:pPr>
            <a:r>
              <a:rPr lang="en-US" sz="1250" i="1" dirty="0">
                <a:solidFill>
                  <a:schemeClr val="tx1"/>
                </a:solidFill>
              </a:rPr>
              <a:t>Do people trust what it recommends?</a:t>
            </a:r>
            <a:endParaRPr lang="en-US" sz="1400" dirty="0"/>
          </a:p>
        </p:txBody>
      </p:sp>
      <p:sp>
        <p:nvSpPr>
          <p:cNvPr id="16" name="Text 14"/>
          <p:cNvSpPr txBox="1"/>
          <p:nvPr/>
        </p:nvSpPr>
        <p:spPr>
          <a:xfrm>
            <a:off x="6446520" y="2377440"/>
            <a:ext cx="2743200"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THE FORMULA</a:t>
            </a:r>
            <a:endParaRPr lang="en-US" sz="1050" dirty="0"/>
          </a:p>
        </p:txBody>
      </p:sp>
      <p:sp>
        <p:nvSpPr>
          <p:cNvPr id="17" name="Shape 15"/>
          <p:cNvSpPr/>
          <p:nvPr/>
        </p:nvSpPr>
        <p:spPr>
          <a:xfrm>
            <a:off x="6446520" y="2633472"/>
            <a:ext cx="4846320" cy="960120"/>
          </a:xfrm>
          <a:prstGeom prst="roundRect">
            <a:avLst>
              <a:gd name="adj" fmla="val 7619"/>
            </a:avLst>
          </a:prstGeom>
          <a:solidFill>
            <a:schemeClr val="bg1"/>
          </a:solidFill>
          <a:ln w="12700">
            <a:solidFill>
              <a:schemeClr val="bg1"/>
            </a:solidFill>
            <a:prstDash val="solid"/>
          </a:ln>
        </p:spPr>
      </p:sp>
      <p:sp>
        <p:nvSpPr>
          <p:cNvPr id="18" name="Text 16"/>
          <p:cNvSpPr txBox="1"/>
          <p:nvPr/>
        </p:nvSpPr>
        <p:spPr>
          <a:xfrm>
            <a:off x="6583680" y="2633472"/>
            <a:ext cx="4572000" cy="960120"/>
          </a:xfrm>
          <a:prstGeom prst="rect">
            <a:avLst/>
          </a:prstGeom>
          <a:noFill/>
          <a:ln/>
        </p:spPr>
        <p:txBody>
          <a:bodyPr wrap="square" lIns="0" tIns="0" rIns="0" bIns="0" rtlCol="0" anchor="ctr"/>
          <a:lstStyle/>
          <a:p>
            <a:pPr indent="0" marL="0">
              <a:buNone/>
            </a:pPr>
            <a:r>
              <a:rPr lang="en-US" sz="1300" b="1" dirty="0">
                <a:solidFill>
                  <a:schemeClr val="tx1"/>
                </a:solidFill>
              </a:rPr>
              <a:t>Acceptance = </a:t>
            </a:r>
            <a:pPr indent="0" marL="0">
              <a:buNone/>
            </a:pPr>
            <a:r>
              <a:rPr lang="en-US" sz="1300" dirty="0">
                <a:solidFill>
                  <a:schemeClr val="tx1"/>
                </a:solidFill>
              </a:rPr>
              <a:t>recommendations accepted on the first look ÷ recommendations decided</a:t>
            </a:r>
            <a:endParaRPr lang="en-US" sz="1300" dirty="0"/>
          </a:p>
          <a:p>
            <a:pPr indent="0" marL="0">
              <a:buNone/>
            </a:pPr>
            <a:r>
              <a:rPr lang="en-US" sz="1300" b="1" dirty="0">
                <a:solidFill>
                  <a:schemeClr val="tx1"/>
                </a:solidFill>
              </a:rPr>
              <a:t>Counted from: </a:t>
            </a:r>
            <a:pPr indent="0" marL="0">
              <a:buNone/>
            </a:pPr>
            <a:r>
              <a:rPr lang="en-US" sz="1300" dirty="0">
                <a:solidFill>
                  <a:schemeClr val="tx1"/>
                </a:solidFill>
              </a:rPr>
              <a:t>the exception queue and the weekly spot-check, weighted by how many items took each path</a:t>
            </a:r>
            <a:endParaRPr lang="en-US" sz="1300" dirty="0"/>
          </a:p>
        </p:txBody>
      </p:sp>
      <p:sp>
        <p:nvSpPr>
          <p:cNvPr id="19" name="Text 17"/>
          <p:cNvSpPr txBox="1"/>
          <p:nvPr/>
        </p:nvSpPr>
        <p:spPr>
          <a:xfrm>
            <a:off x="6446520" y="3703320"/>
            <a:ext cx="2743200" cy="228600"/>
          </a:xfrm>
          <a:prstGeom prst="rect">
            <a:avLst/>
          </a:prstGeom>
          <a:noFill/>
          <a:ln/>
        </p:spPr>
        <p:txBody>
          <a:bodyPr wrap="square" lIns="0" tIns="0" rIns="0" bIns="0" rtlCol="0" anchor="t"/>
          <a:lstStyle/>
          <a:p>
            <a:pPr indent="0" marL="0">
              <a:buNone/>
            </a:pPr>
            <a:r>
              <a:rPr lang="en-US" sz="1050" b="1" spc="100" kern="0" dirty="0">
                <a:solidFill>
                  <a:schemeClr val="accent3"/>
                </a:solidFill>
              </a:rPr>
              <a:t>WORKED EXAMPLE</a:t>
            </a:r>
            <a:endParaRPr lang="en-US" sz="1050" dirty="0"/>
          </a:p>
        </p:txBody>
      </p:sp>
      <p:sp>
        <p:nvSpPr>
          <p:cNvPr id="20" name="Text 18"/>
          <p:cNvSpPr txBox="1"/>
          <p:nvPr/>
        </p:nvSpPr>
        <p:spPr>
          <a:xfrm>
            <a:off x="6446520" y="3950208"/>
            <a:ext cx="4846320" cy="960120"/>
          </a:xfrm>
          <a:prstGeom prst="rect">
            <a:avLst/>
          </a:prstGeom>
          <a:noFill/>
          <a:ln/>
        </p:spPr>
        <p:txBody>
          <a:bodyPr wrap="square" lIns="0" tIns="0" rIns="0" bIns="0" rtlCol="0" anchor="t"/>
          <a:lstStyle/>
          <a:p>
            <a:pPr indent="0" marL="0">
              <a:buNone/>
            </a:pPr>
            <a:r>
              <a:rPr lang="en-US" sz="1250" dirty="0">
                <a:solidFill>
                  <a:schemeClr val="tx1"/>
                </a:solidFill>
              </a:rPr>
              <a:t>Spot-check: 8 of 10 accepted (80%), on the 60% of items that went ahead. Queue: 5 of 10 accepted (50%), on the other 40%. 80% × 0.6 + 50% × 0.4 = 68%.</a:t>
            </a:r>
            <a:endParaRPr lang="en-US" sz="1250" dirty="0"/>
          </a:p>
        </p:txBody>
      </p:sp>
      <p:sp>
        <p:nvSpPr>
          <p:cNvPr id="21" name="Text 19"/>
          <p:cNvSpPr txBox="1"/>
          <p:nvPr/>
        </p:nvSpPr>
        <p:spPr>
          <a:xfrm>
            <a:off x="6446520" y="4983480"/>
            <a:ext cx="4846320" cy="411480"/>
          </a:xfrm>
          <a:prstGeom prst="rect">
            <a:avLst/>
          </a:prstGeom>
          <a:noFill/>
          <a:ln/>
        </p:spPr>
        <p:txBody>
          <a:bodyPr wrap="square" lIns="0" tIns="0" rIns="0" bIns="0" rtlCol="0" anchor="ctr"/>
          <a:lstStyle/>
          <a:p>
            <a:pPr indent="0" marL="0">
              <a:buNone/>
            </a:pPr>
            <a:r>
              <a:rPr lang="en-US" sz="1500" b="1" dirty="0">
                <a:solidFill>
                  <a:schemeClr val="accent3"/>
                </a:solidFill>
              </a:rPr>
              <a:t>Passes when  </a:t>
            </a:r>
            <a:pPr indent="0" marL="0">
              <a:buNone/>
            </a:pPr>
            <a:r>
              <a:rPr lang="en-US" sz="1500" b="1" dirty="0">
                <a:solidFill>
                  <a:schemeClr val="tx1"/>
                </a:solidFill>
              </a:rPr>
              <a:t>at least 70% are accepted (68% falls just short)</a:t>
            </a:r>
            <a:endParaRPr lang="en-US" sz="1500" dirty="0"/>
          </a:p>
        </p:txBody>
      </p:sp>
      <p:sp>
        <p:nvSpPr>
          <p:cNvPr id="22" name="Shape 20"/>
          <p:cNvSpPr/>
          <p:nvPr/>
        </p:nvSpPr>
        <p:spPr>
          <a:xfrm>
            <a:off x="548640" y="5669280"/>
            <a:ext cx="11094415" cy="640080"/>
          </a:xfrm>
          <a:prstGeom prst="roundRect">
            <a:avLst>
              <a:gd name="adj" fmla="val 11429"/>
            </a:avLst>
          </a:prstGeom>
          <a:solidFill>
            <a:schemeClr val="bg2"/>
          </a:solidFill>
          <a:ln w="12700">
            <a:solidFill>
              <a:schemeClr val="bg2"/>
            </a:solidFill>
            <a:prstDash val="solid"/>
          </a:ln>
        </p:spPr>
      </p:sp>
      <p:sp>
        <p:nvSpPr>
          <p:cNvPr id="23" name="Text 21"/>
          <p:cNvSpPr txBox="1"/>
          <p:nvPr/>
        </p:nvSpPr>
        <p:spPr>
          <a:xfrm>
            <a:off x="777240" y="5669280"/>
            <a:ext cx="10637215" cy="640080"/>
          </a:xfrm>
          <a:prstGeom prst="rect">
            <a:avLst/>
          </a:prstGeom>
          <a:noFill/>
          <a:ln/>
        </p:spPr>
        <p:txBody>
          <a:bodyPr wrap="square" lIns="0" tIns="0" rIns="0" bIns="0" rtlCol="0" anchor="ctr"/>
          <a:lstStyle/>
          <a:p>
            <a:pPr indent="0" marL="0">
              <a:buNone/>
            </a:pPr>
            <a:r>
              <a:rPr lang="en-US" sz="1250" b="1" dirty="0">
                <a:solidFill>
                  <a:schemeClr val="tx1"/>
                </a:solidFill>
              </a:rPr>
              <a:t>Too early to call: </a:t>
            </a:r>
            <a:pPr indent="0" marL="0">
              <a:buNone/>
            </a:pPr>
            <a:r>
              <a:rPr lang="en-US" sz="1250" dirty="0">
                <a:solidFill>
                  <a:schemeClr val="tx1"/>
                </a:solidFill>
              </a:rPr>
              <a:t>neither measure is judged until 10 decisions have been counted (spot-checks plus queue decisions). With 3 decisions, one rejection would swing G2 by 33 points. Baseline (38 min), thresholds and the 10 are agreed with you at baselining.</a:t>
            </a:r>
            <a:endParaRPr lang="en-US" sz="12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SUCCESS CRITERIA · OTHER MEASURES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Other measures: Prospect &amp; Account Scoring</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11480"/>
                <a:gridCol w="1920240"/>
                <a:gridCol w="2926080"/>
                <a:gridCol w="2240280"/>
                <a:gridCol w="2514600"/>
                <a:gridCol w="1078992"/>
              </a:tblGrid>
              <a:tr h="621792">
                <a:tc>
                  <a:txBody>
                    <a:bodyPr/>
                    <a:lstStyle/>
                    <a:p>
                      <a:pPr indent="0" marL="0">
                        <a:buNone/>
                      </a:pPr>
                      <a:r>
                        <a:rPr lang="en-US" sz="1200" b="1" dirty="0">
                          <a:solidFill>
                            <a:schemeClr val="tx1"/>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Baseline metric</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Metric definition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How we measure it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Metric illustration (examples)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Rating scale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r>
              <a:tr h="621792">
                <a:tc>
                  <a:txBody>
                    <a:bodyPr/>
                    <a:lstStyle/>
                    <a:p>
                      <a:pPr indent="0" marL="0">
                        <a:buNone/>
                      </a:pPr>
                      <a:r>
                        <a:rPr lang="en-US" sz="1200" dirty="0">
                          <a:solidFill>
                            <a:schemeClr val="tx1"/>
                          </a:solidFill>
                        </a:rPr>
                        <a:t>1</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Accounts covered*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many target accounts are reviewed for buying signals today?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Accounts with a current score each month</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Today 200 by hand | 2,000+ scored weekly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2</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Research effort*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long does a rep spend finding out why to call an account?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Minutes per account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30 minutes today vs 5 minutes to review | 80% less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621792">
                <a:tc>
                  <a:txBody>
                    <a:bodyPr/>
                    <a:lstStyle/>
                    <a:p>
                      <a:pPr indent="0" marL="0">
                        <a:buNone/>
                      </a:pPr>
                      <a:r>
                        <a:rPr lang="en-US" sz="1200" dirty="0">
                          <a:solidFill>
                            <a:schemeClr val="tx1"/>
                          </a:solidFill>
                        </a:rPr>
                        <a:t>3</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Signal-to-touch time*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long after a signal does the first touch happen?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Average days from signal date to first touch</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Not measured today vs within 3 working days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4</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Prioritisation accuracy*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 the top-tier prospects produce most of the meetings?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meetings from tier A and B</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70% of meetings from tier A and B</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621792">
                <a:tc>
                  <a:txBody>
                    <a:bodyPr/>
                    <a:lstStyle/>
                    <a:p>
                      <a:pPr indent="0" marL="0">
                        <a:buNone/>
                      </a:pPr>
                      <a:r>
                        <a:rPr lang="en-US" sz="1200" dirty="0">
                          <a:solidFill>
                            <a:schemeClr val="tx1"/>
                          </a:solidFill>
                        </a:rPr>
                        <a:t>5</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List quality*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many rows are unusable: duplicates, no contact, opted out?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Issues found per 1,000 rows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Flagged before scoring, with a fix suggested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6</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Missed signals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many live signals were not acted 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Signals older than 30 days with no touch</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Not measured today vs tracked weekly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100" dirty="0">
                <a:solidFill>
                  <a:schemeClr val="accent4"/>
                </a:solidFill>
              </a:rPr>
              <a:t>* can be measured during the pilot phase. Figures in the illustration column are examples to agree at baselining, not commitments.</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SUCCESS CRITERIA · OTHER MEASURES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Other measures: Micro-segments, NBA &amp; For Review</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11480"/>
                <a:gridCol w="1920240"/>
                <a:gridCol w="2926080"/>
                <a:gridCol w="2240280"/>
                <a:gridCol w="2514600"/>
                <a:gridCol w="1078992"/>
              </a:tblGrid>
              <a:tr h="621792">
                <a:tc>
                  <a:txBody>
                    <a:bodyPr/>
                    <a:lstStyle/>
                    <a:p>
                      <a:pPr indent="0" marL="0">
                        <a:buNone/>
                      </a:pPr>
                      <a:r>
                        <a:rPr lang="en-US" sz="1200" b="1" dirty="0">
                          <a:solidFill>
                            <a:schemeClr val="tx1"/>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Baseline metric</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Metric definition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How we measure it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Metric illustration (examples)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Rating scale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accent1"/>
                    </a:solidFill>
                  </a:tcPr>
                </a:tc>
              </a:tr>
              <a:tr h="621792">
                <a:tc>
                  <a:txBody>
                    <a:bodyPr/>
                    <a:lstStyle/>
                    <a:p>
                      <a:pPr indent="0" marL="0">
                        <a:buNone/>
                      </a:pPr>
                      <a:r>
                        <a:rPr lang="en-US" sz="1200" dirty="0">
                          <a:solidFill>
                            <a:schemeClr val="tx1"/>
                          </a:solidFill>
                        </a:rPr>
                        <a:t>1</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Go ahead on their own*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many actions pass every check without a person?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Released automatically ÷ all actions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 in 10 go ahead; the rest are reviewed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2</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Messages on brand*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many drafts pass the brand, claim and consent checks?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drafts with no flag</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95% pass; the rest are corrected once automatically</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621792">
                <a:tc>
                  <a:txBody>
                    <a:bodyPr/>
                    <a:lstStyle/>
                    <a:p>
                      <a:pPr indent="0" marL="0">
                        <a:buNone/>
                      </a:pPr>
                      <a:r>
                        <a:rPr lang="en-US" sz="1200" dirty="0">
                          <a:solidFill>
                            <a:schemeClr val="tx1"/>
                          </a:solidFill>
                        </a:rPr>
                        <a:t>3</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Spot-check rating*</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Are released actions good when a person checks a sample?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Average rating of the weekly 20% sample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 out of 5 or better</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4</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Rep adoption*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 reps use the list each week?</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Weekly active reps; actions worked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 of 5 reps active every week</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621792">
                <a:tc>
                  <a:txBody>
                    <a:bodyPr/>
                    <a:lstStyle/>
                    <a:p>
                      <a:pPr indent="0" marL="0">
                        <a:buNone/>
                      </a:pPr>
                      <a:r>
                        <a:rPr lang="en-US" sz="1200" dirty="0">
                          <a:solidFill>
                            <a:schemeClr val="tx1"/>
                          </a:solidFill>
                        </a:rPr>
                        <a:t>5</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Reply and meeting rate</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Do recommended actions get more responses?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Replies and meetings per 100 touches</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Pilot reps vs the same reps last year</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621792">
                <a:tc>
                  <a:txBody>
                    <a:bodyPr/>
                    <a:lstStyle/>
                    <a:p>
                      <a:pPr indent="0" marL="0">
                        <a:buNone/>
                      </a:pPr>
                      <a:r>
                        <a:rPr lang="en-US" sz="1200" dirty="0">
                          <a:solidFill>
                            <a:schemeClr val="tx1"/>
                          </a:solidFill>
                        </a:rPr>
                        <a:t>6</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Pipeline sourced</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What pipeline starts from a DemandAI action?</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Opportunities and value linked to a first touch</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Tracked from pilot week 4</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64008" marR="64008" marT="64008" marB="6400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100" dirty="0">
                <a:solidFill>
                  <a:schemeClr val="accent4"/>
                </a:solidFill>
              </a:rPr>
              <a:t>* can be measured during the pilot phase. Reply rates and pipeline need outcomes from your CRM; revenue attribution needs a longer window. Open to discussion.</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DRAFT TIMELINE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Draft pilot timeline</a:t>
            </a:r>
            <a:endParaRPr lang="en-US" sz="2800" dirty="0"/>
          </a:p>
        </p:txBody>
      </p:sp>
      <p:sp>
        <p:nvSpPr>
          <p:cNvPr id="4" name="Shape 2"/>
          <p:cNvSpPr/>
          <p:nvPr/>
        </p:nvSpPr>
        <p:spPr>
          <a:xfrm>
            <a:off x="4864608" y="1371600"/>
            <a:ext cx="2087404" cy="274320"/>
          </a:xfrm>
          <a:prstGeom prst="roundRect">
            <a:avLst>
              <a:gd name="adj" fmla="val 10000"/>
            </a:avLst>
          </a:prstGeom>
          <a:solidFill>
            <a:schemeClr val="tx1"/>
          </a:solidFill>
          <a:ln w="12700">
            <a:solidFill>
              <a:schemeClr val="tx1"/>
            </a:solidFill>
            <a:prstDash val="solid"/>
          </a:ln>
        </p:spPr>
      </p:sp>
      <p:sp>
        <p:nvSpPr>
          <p:cNvPr id="5" name="Text 3"/>
          <p:cNvSpPr txBox="1"/>
          <p:nvPr/>
        </p:nvSpPr>
        <p:spPr>
          <a:xfrm>
            <a:off x="4846320" y="1371600"/>
            <a:ext cx="2123980" cy="274320"/>
          </a:xfrm>
          <a:prstGeom prst="rect">
            <a:avLst/>
          </a:prstGeom>
          <a:noFill/>
          <a:ln/>
        </p:spPr>
        <p:txBody>
          <a:bodyPr wrap="square" lIns="0" tIns="0" rIns="0" bIns="0" rtlCol="0" anchor="ctr"/>
          <a:lstStyle/>
          <a:p>
            <a:pPr algn="ctr" indent="0" marL="0">
              <a:buNone/>
            </a:pPr>
            <a:r>
              <a:rPr lang="en-US" sz="1100" b="1" dirty="0">
                <a:solidFill>
                  <a:schemeClr val="bg1"/>
                </a:solidFill>
              </a:rPr>
              <a:t>Nov 2026</a:t>
            </a:r>
            <a:endParaRPr lang="en-US" sz="1100" dirty="0"/>
          </a:p>
        </p:txBody>
      </p:sp>
      <p:sp>
        <p:nvSpPr>
          <p:cNvPr id="6" name="Shape 4"/>
          <p:cNvSpPr/>
          <p:nvPr/>
        </p:nvSpPr>
        <p:spPr>
          <a:xfrm>
            <a:off x="6988588" y="1371600"/>
            <a:ext cx="1662608" cy="27432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6970300" y="1371600"/>
            <a:ext cx="1699184" cy="274320"/>
          </a:xfrm>
          <a:prstGeom prst="rect">
            <a:avLst/>
          </a:prstGeom>
          <a:noFill/>
          <a:ln/>
        </p:spPr>
        <p:txBody>
          <a:bodyPr wrap="square" lIns="0" tIns="0" rIns="0" bIns="0" rtlCol="0" anchor="ctr"/>
          <a:lstStyle/>
          <a:p>
            <a:pPr algn="ctr" indent="0" marL="0">
              <a:buNone/>
            </a:pPr>
            <a:r>
              <a:rPr lang="en-US" sz="1100" b="1" dirty="0">
                <a:solidFill>
                  <a:schemeClr val="bg1"/>
                </a:solidFill>
              </a:rPr>
              <a:t>Dec 2026</a:t>
            </a:r>
            <a:endParaRPr lang="en-US" sz="1100" dirty="0"/>
          </a:p>
        </p:txBody>
      </p:sp>
      <p:sp>
        <p:nvSpPr>
          <p:cNvPr id="8" name="Shape 6"/>
          <p:cNvSpPr/>
          <p:nvPr/>
        </p:nvSpPr>
        <p:spPr>
          <a:xfrm>
            <a:off x="8687772" y="1371600"/>
            <a:ext cx="1662608" cy="274320"/>
          </a:xfrm>
          <a:prstGeom prst="roundRect">
            <a:avLst>
              <a:gd name="adj" fmla="val 10000"/>
            </a:avLst>
          </a:prstGeom>
          <a:solidFill>
            <a:schemeClr val="tx1"/>
          </a:solidFill>
          <a:ln w="12700">
            <a:solidFill>
              <a:schemeClr val="tx1"/>
            </a:solidFill>
            <a:prstDash val="solid"/>
          </a:ln>
        </p:spPr>
      </p:sp>
      <p:sp>
        <p:nvSpPr>
          <p:cNvPr id="9" name="Text 7"/>
          <p:cNvSpPr txBox="1"/>
          <p:nvPr/>
        </p:nvSpPr>
        <p:spPr>
          <a:xfrm>
            <a:off x="8669484" y="1371600"/>
            <a:ext cx="1699184" cy="274320"/>
          </a:xfrm>
          <a:prstGeom prst="rect">
            <a:avLst/>
          </a:prstGeom>
          <a:noFill/>
          <a:ln/>
        </p:spPr>
        <p:txBody>
          <a:bodyPr wrap="square" lIns="0" tIns="0" rIns="0" bIns="0" rtlCol="0" anchor="ctr"/>
          <a:lstStyle/>
          <a:p>
            <a:pPr algn="ctr" indent="0" marL="0">
              <a:buNone/>
            </a:pPr>
            <a:r>
              <a:rPr lang="en-US" sz="1100" b="1" dirty="0">
                <a:solidFill>
                  <a:schemeClr val="bg1"/>
                </a:solidFill>
              </a:rPr>
              <a:t>Jan 2027</a:t>
            </a:r>
            <a:endParaRPr lang="en-US" sz="1100" dirty="0"/>
          </a:p>
        </p:txBody>
      </p:sp>
      <p:sp>
        <p:nvSpPr>
          <p:cNvPr id="10" name="Shape 8"/>
          <p:cNvSpPr/>
          <p:nvPr/>
        </p:nvSpPr>
        <p:spPr>
          <a:xfrm>
            <a:off x="10386955" y="1371600"/>
            <a:ext cx="1237812" cy="274320"/>
          </a:xfrm>
          <a:prstGeom prst="roundRect">
            <a:avLst>
              <a:gd name="adj" fmla="val 10000"/>
            </a:avLst>
          </a:prstGeom>
          <a:solidFill>
            <a:schemeClr val="tx2"/>
          </a:solidFill>
          <a:ln w="12700">
            <a:solidFill>
              <a:schemeClr val="tx2"/>
            </a:solidFill>
            <a:prstDash val="solid"/>
          </a:ln>
        </p:spPr>
      </p:sp>
      <p:sp>
        <p:nvSpPr>
          <p:cNvPr id="11" name="Text 9"/>
          <p:cNvSpPr txBox="1"/>
          <p:nvPr/>
        </p:nvSpPr>
        <p:spPr>
          <a:xfrm>
            <a:off x="10368667" y="1371600"/>
            <a:ext cx="1274388" cy="274320"/>
          </a:xfrm>
          <a:prstGeom prst="rect">
            <a:avLst/>
          </a:prstGeom>
          <a:noFill/>
          <a:ln/>
        </p:spPr>
        <p:txBody>
          <a:bodyPr wrap="square" lIns="0" tIns="0" rIns="0" bIns="0" rtlCol="0" anchor="ctr"/>
          <a:lstStyle/>
          <a:p>
            <a:pPr algn="ctr" indent="0" marL="0">
              <a:buNone/>
            </a:pPr>
            <a:r>
              <a:rPr lang="en-US" sz="1100" b="1" dirty="0">
                <a:solidFill>
                  <a:schemeClr val="bg1"/>
                </a:solidFill>
              </a:rPr>
              <a:t>Feb 2027</a:t>
            </a:r>
            <a:endParaRPr lang="en-US" sz="1100" dirty="0"/>
          </a:p>
        </p:txBody>
      </p:sp>
      <p:sp>
        <p:nvSpPr>
          <p:cNvPr id="12" name="Text 10"/>
          <p:cNvSpPr txBox="1"/>
          <p:nvPr/>
        </p:nvSpPr>
        <p:spPr>
          <a:xfrm>
            <a:off x="4846320"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a:t>
            </a:r>
            <a:endParaRPr lang="en-US" sz="950" dirty="0"/>
          </a:p>
          <a:p>
            <a:pPr algn="ctr" indent="0" marL="0">
              <a:buNone/>
            </a:pPr>
            <a:r>
              <a:rPr lang="en-US" sz="950" dirty="0">
                <a:solidFill>
                  <a:schemeClr val="accent4"/>
                </a:solidFill>
              </a:rPr>
              <a:t>2</a:t>
            </a:r>
            <a:endParaRPr lang="en-US" sz="950" dirty="0"/>
          </a:p>
        </p:txBody>
      </p:sp>
      <p:sp>
        <p:nvSpPr>
          <p:cNvPr id="13" name="Text 11"/>
          <p:cNvSpPr txBox="1"/>
          <p:nvPr/>
        </p:nvSpPr>
        <p:spPr>
          <a:xfrm>
            <a:off x="5271116"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W2</a:t>
            </a:r>
            <a:endParaRPr lang="en-US" sz="950" dirty="0"/>
          </a:p>
          <a:p>
            <a:pPr algn="ctr" indent="0" marL="0">
              <a:buNone/>
            </a:pPr>
            <a:r>
              <a:rPr lang="en-US" sz="950" dirty="0">
                <a:solidFill>
                  <a:schemeClr val="accent4"/>
                </a:solidFill>
              </a:rPr>
              <a:t>9</a:t>
            </a:r>
            <a:endParaRPr lang="en-US" sz="950" dirty="0"/>
          </a:p>
        </p:txBody>
      </p:sp>
      <p:sp>
        <p:nvSpPr>
          <p:cNvPr id="14" name="Text 12"/>
          <p:cNvSpPr txBox="1"/>
          <p:nvPr/>
        </p:nvSpPr>
        <p:spPr>
          <a:xfrm>
            <a:off x="5695912"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W3</a:t>
            </a:r>
            <a:endParaRPr lang="en-US" sz="950" dirty="0"/>
          </a:p>
          <a:p>
            <a:pPr algn="ctr" indent="0" marL="0">
              <a:buNone/>
            </a:pPr>
            <a:r>
              <a:rPr lang="en-US" sz="950" dirty="0">
                <a:solidFill>
                  <a:schemeClr val="accent4"/>
                </a:solidFill>
              </a:rPr>
              <a:t>16</a:t>
            </a:r>
            <a:endParaRPr lang="en-US" sz="950" dirty="0"/>
          </a:p>
        </p:txBody>
      </p:sp>
      <p:sp>
        <p:nvSpPr>
          <p:cNvPr id="15" name="Text 13"/>
          <p:cNvSpPr txBox="1"/>
          <p:nvPr/>
        </p:nvSpPr>
        <p:spPr>
          <a:xfrm>
            <a:off x="6120708"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W4</a:t>
            </a:r>
            <a:endParaRPr lang="en-US" sz="950" dirty="0"/>
          </a:p>
          <a:p>
            <a:pPr algn="ctr" indent="0" marL="0">
              <a:buNone/>
            </a:pPr>
            <a:r>
              <a:rPr lang="en-US" sz="950" dirty="0">
                <a:solidFill>
                  <a:schemeClr val="accent4"/>
                </a:solidFill>
              </a:rPr>
              <a:t>23</a:t>
            </a:r>
            <a:endParaRPr lang="en-US" sz="950" dirty="0"/>
          </a:p>
        </p:txBody>
      </p:sp>
      <p:sp>
        <p:nvSpPr>
          <p:cNvPr id="16" name="Text 14"/>
          <p:cNvSpPr txBox="1"/>
          <p:nvPr/>
        </p:nvSpPr>
        <p:spPr>
          <a:xfrm>
            <a:off x="6545504"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W5</a:t>
            </a:r>
            <a:endParaRPr lang="en-US" sz="950" dirty="0"/>
          </a:p>
          <a:p>
            <a:pPr algn="ctr" indent="0" marL="0">
              <a:buNone/>
            </a:pPr>
            <a:r>
              <a:rPr lang="en-US" sz="950" dirty="0">
                <a:solidFill>
                  <a:schemeClr val="accent4"/>
                </a:solidFill>
              </a:rPr>
              <a:t>30</a:t>
            </a:r>
            <a:endParaRPr lang="en-US" sz="950" dirty="0"/>
          </a:p>
        </p:txBody>
      </p:sp>
      <p:sp>
        <p:nvSpPr>
          <p:cNvPr id="17" name="Text 15"/>
          <p:cNvSpPr txBox="1"/>
          <p:nvPr/>
        </p:nvSpPr>
        <p:spPr>
          <a:xfrm>
            <a:off x="6970300"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W6</a:t>
            </a:r>
            <a:endParaRPr lang="en-US" sz="950" dirty="0"/>
          </a:p>
          <a:p>
            <a:pPr algn="ctr" indent="0" marL="0">
              <a:buNone/>
            </a:pPr>
            <a:r>
              <a:rPr lang="en-US" sz="950" dirty="0">
                <a:solidFill>
                  <a:schemeClr val="accent4"/>
                </a:solidFill>
              </a:rPr>
              <a:t>7</a:t>
            </a:r>
            <a:endParaRPr lang="en-US" sz="950" dirty="0"/>
          </a:p>
        </p:txBody>
      </p:sp>
      <p:sp>
        <p:nvSpPr>
          <p:cNvPr id="18" name="Text 16"/>
          <p:cNvSpPr txBox="1"/>
          <p:nvPr/>
        </p:nvSpPr>
        <p:spPr>
          <a:xfrm>
            <a:off x="7395096"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W7</a:t>
            </a:r>
            <a:endParaRPr lang="en-US" sz="950" dirty="0"/>
          </a:p>
          <a:p>
            <a:pPr algn="ctr" indent="0" marL="0">
              <a:buNone/>
            </a:pPr>
            <a:r>
              <a:rPr lang="en-US" sz="950" dirty="0">
                <a:solidFill>
                  <a:schemeClr val="accent4"/>
                </a:solidFill>
              </a:rPr>
              <a:t>14</a:t>
            </a:r>
            <a:endParaRPr lang="en-US" sz="950" dirty="0"/>
          </a:p>
        </p:txBody>
      </p:sp>
      <p:sp>
        <p:nvSpPr>
          <p:cNvPr id="19" name="Text 17"/>
          <p:cNvSpPr txBox="1"/>
          <p:nvPr/>
        </p:nvSpPr>
        <p:spPr>
          <a:xfrm>
            <a:off x="7819892"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W8</a:t>
            </a:r>
            <a:endParaRPr lang="en-US" sz="950" dirty="0"/>
          </a:p>
          <a:p>
            <a:pPr algn="ctr" indent="0" marL="0">
              <a:buNone/>
            </a:pPr>
            <a:r>
              <a:rPr lang="en-US" sz="950" dirty="0">
                <a:solidFill>
                  <a:schemeClr val="accent4"/>
                </a:solidFill>
              </a:rPr>
              <a:t>21</a:t>
            </a:r>
            <a:endParaRPr lang="en-US" sz="950" dirty="0"/>
          </a:p>
        </p:txBody>
      </p:sp>
      <p:sp>
        <p:nvSpPr>
          <p:cNvPr id="20" name="Text 18"/>
          <p:cNvSpPr txBox="1"/>
          <p:nvPr/>
        </p:nvSpPr>
        <p:spPr>
          <a:xfrm>
            <a:off x="8244688"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W9</a:t>
            </a:r>
            <a:endParaRPr lang="en-US" sz="950" dirty="0"/>
          </a:p>
          <a:p>
            <a:pPr algn="ctr" indent="0" marL="0">
              <a:buNone/>
            </a:pPr>
            <a:r>
              <a:rPr lang="en-US" sz="950" dirty="0">
                <a:solidFill>
                  <a:schemeClr val="accent4"/>
                </a:solidFill>
              </a:rPr>
              <a:t>28</a:t>
            </a:r>
            <a:endParaRPr lang="en-US" sz="950" dirty="0"/>
          </a:p>
        </p:txBody>
      </p:sp>
      <p:sp>
        <p:nvSpPr>
          <p:cNvPr id="21" name="Text 19"/>
          <p:cNvSpPr txBox="1"/>
          <p:nvPr/>
        </p:nvSpPr>
        <p:spPr>
          <a:xfrm>
            <a:off x="8669484"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W10</a:t>
            </a:r>
            <a:endParaRPr lang="en-US" sz="950" dirty="0"/>
          </a:p>
          <a:p>
            <a:pPr algn="ctr" indent="0" marL="0">
              <a:buNone/>
            </a:pPr>
            <a:r>
              <a:rPr lang="en-US" sz="950" dirty="0">
                <a:solidFill>
                  <a:schemeClr val="accent4"/>
                </a:solidFill>
              </a:rPr>
              <a:t>4</a:t>
            </a:r>
            <a:endParaRPr lang="en-US" sz="950" dirty="0"/>
          </a:p>
        </p:txBody>
      </p:sp>
      <p:sp>
        <p:nvSpPr>
          <p:cNvPr id="22" name="Text 20"/>
          <p:cNvSpPr txBox="1"/>
          <p:nvPr/>
        </p:nvSpPr>
        <p:spPr>
          <a:xfrm>
            <a:off x="9094280"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W11</a:t>
            </a:r>
            <a:endParaRPr lang="en-US" sz="950" dirty="0"/>
          </a:p>
          <a:p>
            <a:pPr algn="ctr" indent="0" marL="0">
              <a:buNone/>
            </a:pPr>
            <a:r>
              <a:rPr lang="en-US" sz="950" dirty="0">
                <a:solidFill>
                  <a:schemeClr val="accent4"/>
                </a:solidFill>
              </a:rPr>
              <a:t>11</a:t>
            </a:r>
            <a:endParaRPr lang="en-US" sz="950" dirty="0"/>
          </a:p>
        </p:txBody>
      </p:sp>
      <p:sp>
        <p:nvSpPr>
          <p:cNvPr id="23" name="Text 21"/>
          <p:cNvSpPr txBox="1"/>
          <p:nvPr/>
        </p:nvSpPr>
        <p:spPr>
          <a:xfrm>
            <a:off x="9519075"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W12</a:t>
            </a:r>
            <a:endParaRPr lang="en-US" sz="950" dirty="0"/>
          </a:p>
          <a:p>
            <a:pPr algn="ctr" indent="0" marL="0">
              <a:buNone/>
            </a:pPr>
            <a:r>
              <a:rPr lang="en-US" sz="950" dirty="0">
                <a:solidFill>
                  <a:schemeClr val="accent4"/>
                </a:solidFill>
              </a:rPr>
              <a:t>18</a:t>
            </a:r>
            <a:endParaRPr lang="en-US" sz="950" dirty="0"/>
          </a:p>
        </p:txBody>
      </p:sp>
      <p:sp>
        <p:nvSpPr>
          <p:cNvPr id="24" name="Text 22"/>
          <p:cNvSpPr txBox="1"/>
          <p:nvPr/>
        </p:nvSpPr>
        <p:spPr>
          <a:xfrm>
            <a:off x="9943871"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W13</a:t>
            </a:r>
            <a:endParaRPr lang="en-US" sz="950" dirty="0"/>
          </a:p>
          <a:p>
            <a:pPr algn="ctr" indent="0" marL="0">
              <a:buNone/>
            </a:pPr>
            <a:r>
              <a:rPr lang="en-US" sz="950" dirty="0">
                <a:solidFill>
                  <a:schemeClr val="accent4"/>
                </a:solidFill>
              </a:rPr>
              <a:t>25</a:t>
            </a:r>
            <a:endParaRPr lang="en-US" sz="950" dirty="0"/>
          </a:p>
        </p:txBody>
      </p:sp>
      <p:sp>
        <p:nvSpPr>
          <p:cNvPr id="25" name="Text 23"/>
          <p:cNvSpPr txBox="1"/>
          <p:nvPr/>
        </p:nvSpPr>
        <p:spPr>
          <a:xfrm>
            <a:off x="10368667"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W14</a:t>
            </a:r>
            <a:endParaRPr lang="en-US" sz="950" dirty="0"/>
          </a:p>
          <a:p>
            <a:pPr algn="ctr" indent="0" marL="0">
              <a:buNone/>
            </a:pPr>
            <a:r>
              <a:rPr lang="en-US" sz="950" dirty="0">
                <a:solidFill>
                  <a:schemeClr val="accent4"/>
                </a:solidFill>
              </a:rPr>
              <a:t>1</a:t>
            </a:r>
            <a:endParaRPr lang="en-US" sz="950" dirty="0"/>
          </a:p>
        </p:txBody>
      </p:sp>
      <p:sp>
        <p:nvSpPr>
          <p:cNvPr id="26" name="Text 24"/>
          <p:cNvSpPr txBox="1"/>
          <p:nvPr/>
        </p:nvSpPr>
        <p:spPr>
          <a:xfrm>
            <a:off x="10793463"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W15</a:t>
            </a:r>
            <a:endParaRPr lang="en-US" sz="950" dirty="0"/>
          </a:p>
          <a:p>
            <a:pPr algn="ctr" indent="0" marL="0">
              <a:buNone/>
            </a:pPr>
            <a:r>
              <a:rPr lang="en-US" sz="950" dirty="0">
                <a:solidFill>
                  <a:schemeClr val="accent4"/>
                </a:solidFill>
              </a:rPr>
              <a:t>8</a:t>
            </a:r>
            <a:endParaRPr lang="en-US" sz="950" dirty="0"/>
          </a:p>
        </p:txBody>
      </p:sp>
      <p:sp>
        <p:nvSpPr>
          <p:cNvPr id="27" name="Text 25"/>
          <p:cNvSpPr txBox="1"/>
          <p:nvPr/>
        </p:nvSpPr>
        <p:spPr>
          <a:xfrm>
            <a:off x="11218259" y="1673352"/>
            <a:ext cx="424796" cy="384048"/>
          </a:xfrm>
          <a:prstGeom prst="rect">
            <a:avLst/>
          </a:prstGeom>
          <a:noFill/>
          <a:ln/>
        </p:spPr>
        <p:txBody>
          <a:bodyPr wrap="square" lIns="0" tIns="0" rIns="0" bIns="0" rtlCol="0" anchor="t"/>
          <a:lstStyle/>
          <a:p>
            <a:pPr algn="ctr" indent="0" marL="0">
              <a:buNone/>
            </a:pPr>
            <a:r>
              <a:rPr lang="en-US" sz="950" b="1" dirty="0">
                <a:solidFill>
                  <a:schemeClr val="tx1"/>
                </a:solidFill>
              </a:rPr>
              <a:t>W16</a:t>
            </a:r>
            <a:endParaRPr lang="en-US" sz="950" dirty="0"/>
          </a:p>
          <a:p>
            <a:pPr algn="ctr" indent="0" marL="0">
              <a:buNone/>
            </a:pPr>
            <a:r>
              <a:rPr lang="en-US" sz="950" dirty="0">
                <a:solidFill>
                  <a:schemeClr val="accent4"/>
                </a:solidFill>
              </a:rPr>
              <a:t>15</a:t>
            </a:r>
            <a:endParaRPr lang="en-US" sz="950" dirty="0"/>
          </a:p>
        </p:txBody>
      </p:sp>
      <p:sp>
        <p:nvSpPr>
          <p:cNvPr id="28" name="Shape 26"/>
          <p:cNvSpPr/>
          <p:nvPr/>
        </p:nvSpPr>
        <p:spPr>
          <a:xfrm>
            <a:off x="548640" y="2121408"/>
            <a:ext cx="1600200" cy="786384"/>
          </a:xfrm>
          <a:prstGeom prst="roundRect">
            <a:avLst>
              <a:gd name="adj" fmla="val 3488"/>
            </a:avLst>
          </a:prstGeom>
          <a:solidFill>
            <a:schemeClr val="tx1"/>
          </a:solidFill>
          <a:ln w="12700">
            <a:solidFill>
              <a:schemeClr val="tx1"/>
            </a:solidFill>
            <a:prstDash val="solid"/>
          </a:ln>
        </p:spPr>
      </p:sp>
      <p:sp>
        <p:nvSpPr>
          <p:cNvPr id="29" name="Text 27"/>
          <p:cNvSpPr txBox="1"/>
          <p:nvPr/>
        </p:nvSpPr>
        <p:spPr>
          <a:xfrm>
            <a:off x="621792" y="2121408"/>
            <a:ext cx="1463040" cy="786384"/>
          </a:xfrm>
          <a:prstGeom prst="rect">
            <a:avLst/>
          </a:prstGeom>
          <a:noFill/>
          <a:ln/>
        </p:spPr>
        <p:txBody>
          <a:bodyPr wrap="square" lIns="0" tIns="0" rIns="0" bIns="0" rtlCol="0" anchor="ctr"/>
          <a:lstStyle/>
          <a:p>
            <a:pPr indent="0" marL="0">
              <a:buNone/>
            </a:pPr>
            <a:r>
              <a:rPr lang="en-US" sz="1050" b="1" dirty="0">
                <a:solidFill>
                  <a:schemeClr val="bg1"/>
                </a:solidFill>
              </a:rPr>
              <a:t>Initiation &amp; readiness</a:t>
            </a:r>
            <a:endParaRPr lang="en-US" sz="1050" dirty="0"/>
          </a:p>
        </p:txBody>
      </p:sp>
      <p:sp>
        <p:nvSpPr>
          <p:cNvPr id="30" name="Text 28"/>
          <p:cNvSpPr txBox="1"/>
          <p:nvPr/>
        </p:nvSpPr>
        <p:spPr>
          <a:xfrm>
            <a:off x="2286000" y="2121408"/>
            <a:ext cx="2514600" cy="205740"/>
          </a:xfrm>
          <a:prstGeom prst="rect">
            <a:avLst/>
          </a:prstGeom>
          <a:noFill/>
          <a:ln/>
        </p:spPr>
        <p:txBody>
          <a:bodyPr wrap="square" lIns="0" tIns="0" rIns="0" bIns="0" rtlCol="0" anchor="ctr"/>
          <a:lstStyle/>
          <a:p>
            <a:pPr indent="0" marL="0">
              <a:buNone/>
            </a:pPr>
            <a:r>
              <a:rPr lang="en-US" sz="1000" dirty="0">
                <a:solidFill>
                  <a:schemeClr val="tx1"/>
                </a:solidFill>
              </a:rPr>
              <a:t>Project preparation</a:t>
            </a:r>
            <a:endParaRPr lang="en-US" sz="1000" dirty="0"/>
          </a:p>
        </p:txBody>
      </p:sp>
      <p:sp>
        <p:nvSpPr>
          <p:cNvPr id="31" name="Shape 29"/>
          <p:cNvSpPr/>
          <p:nvPr/>
        </p:nvSpPr>
        <p:spPr>
          <a:xfrm>
            <a:off x="2286000" y="2327148"/>
            <a:ext cx="9357055" cy="0"/>
          </a:xfrm>
          <a:prstGeom prst="line">
            <a:avLst/>
          </a:prstGeom>
          <a:noFill/>
          <a:ln w="6350">
            <a:solidFill>
              <a:schemeClr val="accent6"/>
            </a:solidFill>
            <a:prstDash val="solid"/>
          </a:ln>
        </p:spPr>
      </p:sp>
      <p:sp>
        <p:nvSpPr>
          <p:cNvPr id="32" name="Shape 30"/>
          <p:cNvSpPr/>
          <p:nvPr/>
        </p:nvSpPr>
        <p:spPr>
          <a:xfrm>
            <a:off x="4873752" y="2162556"/>
            <a:ext cx="369932" cy="123444"/>
          </a:xfrm>
          <a:prstGeom prst="roundRect">
            <a:avLst>
              <a:gd name="adj" fmla="val 22222"/>
            </a:avLst>
          </a:prstGeom>
          <a:solidFill>
            <a:schemeClr val="tx1"/>
          </a:solidFill>
          <a:ln w="12700">
            <a:solidFill>
              <a:schemeClr val="tx1"/>
            </a:solidFill>
            <a:prstDash val="solid"/>
          </a:ln>
        </p:spPr>
      </p:sp>
      <p:sp>
        <p:nvSpPr>
          <p:cNvPr id="33" name="Text 31"/>
          <p:cNvSpPr txBox="1"/>
          <p:nvPr/>
        </p:nvSpPr>
        <p:spPr>
          <a:xfrm>
            <a:off x="2286000" y="2327148"/>
            <a:ext cx="2514600" cy="205740"/>
          </a:xfrm>
          <a:prstGeom prst="rect">
            <a:avLst/>
          </a:prstGeom>
          <a:noFill/>
          <a:ln/>
        </p:spPr>
        <p:txBody>
          <a:bodyPr wrap="square" lIns="0" tIns="0" rIns="0" bIns="0" rtlCol="0" anchor="ctr"/>
          <a:lstStyle/>
          <a:p>
            <a:pPr indent="0" marL="0">
              <a:buNone/>
            </a:pPr>
            <a:r>
              <a:rPr lang="en-US" sz="1000" dirty="0">
                <a:solidFill>
                  <a:schemeClr val="tx1"/>
                </a:solidFill>
              </a:rPr>
              <a:t>Team briefing preparation</a:t>
            </a:r>
            <a:endParaRPr lang="en-US" sz="1000" dirty="0"/>
          </a:p>
        </p:txBody>
      </p:sp>
      <p:sp>
        <p:nvSpPr>
          <p:cNvPr id="34" name="Shape 32"/>
          <p:cNvSpPr/>
          <p:nvPr/>
        </p:nvSpPr>
        <p:spPr>
          <a:xfrm>
            <a:off x="2286000" y="2532888"/>
            <a:ext cx="9357055" cy="0"/>
          </a:xfrm>
          <a:prstGeom prst="line">
            <a:avLst/>
          </a:prstGeom>
          <a:noFill/>
          <a:ln w="6350">
            <a:solidFill>
              <a:schemeClr val="accent6"/>
            </a:solidFill>
            <a:prstDash val="solid"/>
          </a:ln>
        </p:spPr>
      </p:sp>
      <p:sp>
        <p:nvSpPr>
          <p:cNvPr id="35" name="Shape 33"/>
          <p:cNvSpPr/>
          <p:nvPr/>
        </p:nvSpPr>
        <p:spPr>
          <a:xfrm>
            <a:off x="4873752" y="2368296"/>
            <a:ext cx="369932" cy="123444"/>
          </a:xfrm>
          <a:prstGeom prst="roundRect">
            <a:avLst>
              <a:gd name="adj" fmla="val 22222"/>
            </a:avLst>
          </a:prstGeom>
          <a:solidFill>
            <a:schemeClr val="tx1"/>
          </a:solidFill>
          <a:ln w="12700">
            <a:solidFill>
              <a:schemeClr val="tx1"/>
            </a:solidFill>
            <a:prstDash val="solid"/>
          </a:ln>
        </p:spPr>
      </p:sp>
      <p:sp>
        <p:nvSpPr>
          <p:cNvPr id="36" name="Text 34"/>
          <p:cNvSpPr txBox="1"/>
          <p:nvPr/>
        </p:nvSpPr>
        <p:spPr>
          <a:xfrm>
            <a:off x="2286000" y="2532888"/>
            <a:ext cx="2514600" cy="205740"/>
          </a:xfrm>
          <a:prstGeom prst="rect">
            <a:avLst/>
          </a:prstGeom>
          <a:noFill/>
          <a:ln/>
        </p:spPr>
        <p:txBody>
          <a:bodyPr wrap="square" lIns="0" tIns="0" rIns="0" bIns="0" rtlCol="0" anchor="ctr"/>
          <a:lstStyle/>
          <a:p>
            <a:pPr indent="0" marL="0">
              <a:buNone/>
            </a:pPr>
            <a:r>
              <a:rPr lang="en-US" sz="1000" dirty="0">
                <a:solidFill>
                  <a:schemeClr val="tx1"/>
                </a:solidFill>
              </a:rPr>
              <a:t>Pilot business unit and reps selected</a:t>
            </a:r>
            <a:endParaRPr lang="en-US" sz="1000" dirty="0"/>
          </a:p>
        </p:txBody>
      </p:sp>
      <p:sp>
        <p:nvSpPr>
          <p:cNvPr id="37" name="Shape 35"/>
          <p:cNvSpPr/>
          <p:nvPr/>
        </p:nvSpPr>
        <p:spPr>
          <a:xfrm>
            <a:off x="2286000" y="2738628"/>
            <a:ext cx="9357055" cy="0"/>
          </a:xfrm>
          <a:prstGeom prst="line">
            <a:avLst/>
          </a:prstGeom>
          <a:noFill/>
          <a:ln w="6350">
            <a:solidFill>
              <a:schemeClr val="accent6"/>
            </a:solidFill>
            <a:prstDash val="solid"/>
          </a:ln>
        </p:spPr>
      </p:sp>
      <p:sp>
        <p:nvSpPr>
          <p:cNvPr id="38" name="Shape 36"/>
          <p:cNvSpPr/>
          <p:nvPr/>
        </p:nvSpPr>
        <p:spPr>
          <a:xfrm>
            <a:off x="5298548" y="2574036"/>
            <a:ext cx="369932" cy="123444"/>
          </a:xfrm>
          <a:prstGeom prst="roundRect">
            <a:avLst>
              <a:gd name="adj" fmla="val 22222"/>
            </a:avLst>
          </a:prstGeom>
          <a:solidFill>
            <a:schemeClr val="tx1"/>
          </a:solidFill>
          <a:ln w="12700">
            <a:solidFill>
              <a:schemeClr val="tx1"/>
            </a:solidFill>
            <a:prstDash val="solid"/>
          </a:ln>
        </p:spPr>
      </p:sp>
      <p:sp>
        <p:nvSpPr>
          <p:cNvPr id="39" name="Text 37"/>
          <p:cNvSpPr txBox="1"/>
          <p:nvPr/>
        </p:nvSpPr>
        <p:spPr>
          <a:xfrm>
            <a:off x="2286000" y="2738628"/>
            <a:ext cx="2514600" cy="205740"/>
          </a:xfrm>
          <a:prstGeom prst="rect">
            <a:avLst/>
          </a:prstGeom>
          <a:noFill/>
          <a:ln/>
        </p:spPr>
        <p:txBody>
          <a:bodyPr wrap="square" lIns="0" tIns="0" rIns="0" bIns="0" rtlCol="0" anchor="ctr"/>
          <a:lstStyle/>
          <a:p>
            <a:pPr indent="0" marL="0">
              <a:buNone/>
            </a:pPr>
            <a:r>
              <a:rPr lang="en-US" sz="1000" dirty="0">
                <a:solidFill>
                  <a:schemeClr val="tx1"/>
                </a:solidFill>
              </a:rPr>
              <a:t>Team confirmation</a:t>
            </a:r>
            <a:endParaRPr lang="en-US" sz="1000" dirty="0"/>
          </a:p>
        </p:txBody>
      </p:sp>
      <p:sp>
        <p:nvSpPr>
          <p:cNvPr id="40" name="Shape 38"/>
          <p:cNvSpPr/>
          <p:nvPr/>
        </p:nvSpPr>
        <p:spPr>
          <a:xfrm>
            <a:off x="2286000" y="2944368"/>
            <a:ext cx="9357055" cy="0"/>
          </a:xfrm>
          <a:prstGeom prst="line">
            <a:avLst/>
          </a:prstGeom>
          <a:noFill/>
          <a:ln w="6350">
            <a:solidFill>
              <a:schemeClr val="accent6"/>
            </a:solidFill>
            <a:prstDash val="solid"/>
          </a:ln>
        </p:spPr>
      </p:sp>
      <p:sp>
        <p:nvSpPr>
          <p:cNvPr id="41" name="Shape 39"/>
          <p:cNvSpPr/>
          <p:nvPr/>
        </p:nvSpPr>
        <p:spPr>
          <a:xfrm>
            <a:off x="5298548" y="2779776"/>
            <a:ext cx="369932" cy="123444"/>
          </a:xfrm>
          <a:prstGeom prst="roundRect">
            <a:avLst>
              <a:gd name="adj" fmla="val 22222"/>
            </a:avLst>
          </a:prstGeom>
          <a:solidFill>
            <a:schemeClr val="tx1"/>
          </a:solidFill>
          <a:ln w="12700">
            <a:solidFill>
              <a:schemeClr val="tx1"/>
            </a:solidFill>
            <a:prstDash val="solid"/>
          </a:ln>
        </p:spPr>
      </p:sp>
      <p:sp>
        <p:nvSpPr>
          <p:cNvPr id="42" name="Shape 40"/>
          <p:cNvSpPr/>
          <p:nvPr/>
        </p:nvSpPr>
        <p:spPr>
          <a:xfrm>
            <a:off x="548640" y="3008376"/>
            <a:ext cx="1600200" cy="786384"/>
          </a:xfrm>
          <a:prstGeom prst="roundRect">
            <a:avLst>
              <a:gd name="adj" fmla="val 3488"/>
            </a:avLst>
          </a:prstGeom>
          <a:solidFill>
            <a:schemeClr val="accent2"/>
          </a:solidFill>
          <a:ln w="12700">
            <a:solidFill>
              <a:schemeClr val="accent2"/>
            </a:solidFill>
            <a:prstDash val="solid"/>
          </a:ln>
        </p:spPr>
      </p:sp>
      <p:sp>
        <p:nvSpPr>
          <p:cNvPr id="43" name="Text 41"/>
          <p:cNvSpPr txBox="1"/>
          <p:nvPr/>
        </p:nvSpPr>
        <p:spPr>
          <a:xfrm>
            <a:off x="621792" y="3008376"/>
            <a:ext cx="1463040" cy="786384"/>
          </a:xfrm>
          <a:prstGeom prst="rect">
            <a:avLst/>
          </a:prstGeom>
          <a:noFill/>
          <a:ln/>
        </p:spPr>
        <p:txBody>
          <a:bodyPr wrap="square" lIns="0" tIns="0" rIns="0" bIns="0" rtlCol="0" anchor="ctr"/>
          <a:lstStyle/>
          <a:p>
            <a:pPr indent="0" marL="0">
              <a:buNone/>
            </a:pPr>
            <a:r>
              <a:rPr lang="en-US" sz="1050" b="1" dirty="0">
                <a:solidFill>
                  <a:schemeClr val="bg1"/>
                </a:solidFill>
              </a:rPr>
              <a:t>Discovery workshops</a:t>
            </a:r>
            <a:endParaRPr lang="en-US" sz="1050" dirty="0"/>
          </a:p>
        </p:txBody>
      </p:sp>
      <p:sp>
        <p:nvSpPr>
          <p:cNvPr id="44" name="Text 42"/>
          <p:cNvSpPr txBox="1"/>
          <p:nvPr/>
        </p:nvSpPr>
        <p:spPr>
          <a:xfrm>
            <a:off x="2286000" y="3008376"/>
            <a:ext cx="2514600" cy="205740"/>
          </a:xfrm>
          <a:prstGeom prst="rect">
            <a:avLst/>
          </a:prstGeom>
          <a:noFill/>
          <a:ln/>
        </p:spPr>
        <p:txBody>
          <a:bodyPr wrap="square" lIns="0" tIns="0" rIns="0" bIns="0" rtlCol="0" anchor="ctr"/>
          <a:lstStyle/>
          <a:p>
            <a:pPr indent="0" marL="0">
              <a:buNone/>
            </a:pPr>
            <a:r>
              <a:rPr lang="en-US" sz="1000" dirty="0">
                <a:solidFill>
                  <a:schemeClr val="tx1"/>
                </a:solidFill>
              </a:rPr>
              <a:t>Kick-off &amp; demo</a:t>
            </a:r>
            <a:endParaRPr lang="en-US" sz="1000" dirty="0"/>
          </a:p>
        </p:txBody>
      </p:sp>
      <p:sp>
        <p:nvSpPr>
          <p:cNvPr id="45" name="Shape 43"/>
          <p:cNvSpPr/>
          <p:nvPr/>
        </p:nvSpPr>
        <p:spPr>
          <a:xfrm>
            <a:off x="2286000" y="3214116"/>
            <a:ext cx="9357055" cy="0"/>
          </a:xfrm>
          <a:prstGeom prst="line">
            <a:avLst/>
          </a:prstGeom>
          <a:noFill/>
          <a:ln w="6350">
            <a:solidFill>
              <a:schemeClr val="accent6"/>
            </a:solidFill>
            <a:prstDash val="solid"/>
          </a:ln>
        </p:spPr>
      </p:sp>
      <p:sp>
        <p:nvSpPr>
          <p:cNvPr id="46" name="Shape 44"/>
          <p:cNvSpPr/>
          <p:nvPr/>
        </p:nvSpPr>
        <p:spPr>
          <a:xfrm>
            <a:off x="5298548" y="3049524"/>
            <a:ext cx="369932" cy="123444"/>
          </a:xfrm>
          <a:prstGeom prst="roundRect">
            <a:avLst>
              <a:gd name="adj" fmla="val 22222"/>
            </a:avLst>
          </a:prstGeom>
          <a:solidFill>
            <a:schemeClr val="accent2"/>
          </a:solidFill>
          <a:ln w="12700">
            <a:solidFill>
              <a:schemeClr val="accent2"/>
            </a:solidFill>
            <a:prstDash val="solid"/>
          </a:ln>
        </p:spPr>
      </p:sp>
      <p:sp>
        <p:nvSpPr>
          <p:cNvPr id="47" name="Text 45"/>
          <p:cNvSpPr txBox="1"/>
          <p:nvPr/>
        </p:nvSpPr>
        <p:spPr>
          <a:xfrm>
            <a:off x="2286000" y="3214116"/>
            <a:ext cx="2514600" cy="205740"/>
          </a:xfrm>
          <a:prstGeom prst="rect">
            <a:avLst/>
          </a:prstGeom>
          <a:noFill/>
          <a:ln/>
        </p:spPr>
        <p:txBody>
          <a:bodyPr wrap="square" lIns="0" tIns="0" rIns="0" bIns="0" rtlCol="0" anchor="ctr"/>
          <a:lstStyle/>
          <a:p>
            <a:pPr indent="0" marL="0">
              <a:buNone/>
            </a:pPr>
            <a:r>
              <a:rPr lang="en-US" sz="1000" dirty="0">
                <a:solidFill>
                  <a:schemeClr val="tx1"/>
                </a:solidFill>
              </a:rPr>
              <a:t>Sales &amp; marketing workshop</a:t>
            </a:r>
            <a:endParaRPr lang="en-US" sz="1000" dirty="0"/>
          </a:p>
        </p:txBody>
      </p:sp>
      <p:sp>
        <p:nvSpPr>
          <p:cNvPr id="48" name="Shape 46"/>
          <p:cNvSpPr/>
          <p:nvPr/>
        </p:nvSpPr>
        <p:spPr>
          <a:xfrm>
            <a:off x="2286000" y="3419856"/>
            <a:ext cx="9357055" cy="0"/>
          </a:xfrm>
          <a:prstGeom prst="line">
            <a:avLst/>
          </a:prstGeom>
          <a:noFill/>
          <a:ln w="6350">
            <a:solidFill>
              <a:schemeClr val="accent6"/>
            </a:solidFill>
            <a:prstDash val="solid"/>
          </a:ln>
        </p:spPr>
      </p:sp>
      <p:sp>
        <p:nvSpPr>
          <p:cNvPr id="49" name="Shape 47"/>
          <p:cNvSpPr/>
          <p:nvPr/>
        </p:nvSpPr>
        <p:spPr>
          <a:xfrm>
            <a:off x="5723344" y="3255264"/>
            <a:ext cx="369932" cy="123444"/>
          </a:xfrm>
          <a:prstGeom prst="roundRect">
            <a:avLst>
              <a:gd name="adj" fmla="val 22222"/>
            </a:avLst>
          </a:prstGeom>
          <a:solidFill>
            <a:schemeClr val="accent2"/>
          </a:solidFill>
          <a:ln w="12700">
            <a:solidFill>
              <a:schemeClr val="accent2"/>
            </a:solidFill>
            <a:prstDash val="solid"/>
          </a:ln>
        </p:spPr>
      </p:sp>
      <p:sp>
        <p:nvSpPr>
          <p:cNvPr id="50" name="Text 48"/>
          <p:cNvSpPr txBox="1"/>
          <p:nvPr/>
        </p:nvSpPr>
        <p:spPr>
          <a:xfrm>
            <a:off x="2286000" y="3419856"/>
            <a:ext cx="2514600" cy="205740"/>
          </a:xfrm>
          <a:prstGeom prst="rect">
            <a:avLst/>
          </a:prstGeom>
          <a:noFill/>
          <a:ln/>
        </p:spPr>
        <p:txBody>
          <a:bodyPr wrap="square" lIns="0" tIns="0" rIns="0" bIns="0" rtlCol="0" anchor="ctr"/>
          <a:lstStyle/>
          <a:p>
            <a:pPr indent="0" marL="0">
              <a:buNone/>
            </a:pPr>
            <a:r>
              <a:rPr lang="en-US" sz="1000" dirty="0">
                <a:solidFill>
                  <a:schemeClr val="tx1"/>
                </a:solidFill>
              </a:rPr>
              <a:t>Stakeholder alignment &amp; requirements</a:t>
            </a:r>
            <a:endParaRPr lang="en-US" sz="1000" dirty="0"/>
          </a:p>
        </p:txBody>
      </p:sp>
      <p:sp>
        <p:nvSpPr>
          <p:cNvPr id="51" name="Shape 49"/>
          <p:cNvSpPr/>
          <p:nvPr/>
        </p:nvSpPr>
        <p:spPr>
          <a:xfrm>
            <a:off x="2286000" y="3625596"/>
            <a:ext cx="9357055" cy="0"/>
          </a:xfrm>
          <a:prstGeom prst="line">
            <a:avLst/>
          </a:prstGeom>
          <a:noFill/>
          <a:ln w="6350">
            <a:solidFill>
              <a:schemeClr val="accent6"/>
            </a:solidFill>
            <a:prstDash val="solid"/>
          </a:ln>
        </p:spPr>
      </p:sp>
      <p:sp>
        <p:nvSpPr>
          <p:cNvPr id="52" name="Shape 50"/>
          <p:cNvSpPr/>
          <p:nvPr/>
        </p:nvSpPr>
        <p:spPr>
          <a:xfrm>
            <a:off x="5723344" y="3461004"/>
            <a:ext cx="794728" cy="123444"/>
          </a:xfrm>
          <a:prstGeom prst="roundRect">
            <a:avLst>
              <a:gd name="adj" fmla="val 22222"/>
            </a:avLst>
          </a:prstGeom>
          <a:solidFill>
            <a:schemeClr val="accent2"/>
          </a:solidFill>
          <a:ln w="12700">
            <a:solidFill>
              <a:schemeClr val="accent2"/>
            </a:solidFill>
            <a:prstDash val="solid"/>
          </a:ln>
        </p:spPr>
      </p:sp>
      <p:sp>
        <p:nvSpPr>
          <p:cNvPr id="53" name="Text 51"/>
          <p:cNvSpPr txBox="1"/>
          <p:nvPr/>
        </p:nvSpPr>
        <p:spPr>
          <a:xfrm>
            <a:off x="2286000" y="3625596"/>
            <a:ext cx="2514600" cy="205740"/>
          </a:xfrm>
          <a:prstGeom prst="rect">
            <a:avLst/>
          </a:prstGeom>
          <a:noFill/>
          <a:ln/>
        </p:spPr>
        <p:txBody>
          <a:bodyPr wrap="square" lIns="0" tIns="0" rIns="0" bIns="0" rtlCol="0" anchor="ctr"/>
          <a:lstStyle/>
          <a:p>
            <a:pPr indent="0" marL="0">
              <a:buNone/>
            </a:pPr>
            <a:r>
              <a:rPr lang="en-US" sz="1000" dirty="0">
                <a:solidFill>
                  <a:schemeClr val="tx1"/>
                </a:solidFill>
              </a:rPr>
              <a:t>Baseline, success criteria &amp; work plan</a:t>
            </a:r>
            <a:endParaRPr lang="en-US" sz="1000" dirty="0"/>
          </a:p>
        </p:txBody>
      </p:sp>
      <p:sp>
        <p:nvSpPr>
          <p:cNvPr id="54" name="Shape 52"/>
          <p:cNvSpPr/>
          <p:nvPr/>
        </p:nvSpPr>
        <p:spPr>
          <a:xfrm>
            <a:off x="2286000" y="3831336"/>
            <a:ext cx="9357055" cy="0"/>
          </a:xfrm>
          <a:prstGeom prst="line">
            <a:avLst/>
          </a:prstGeom>
          <a:noFill/>
          <a:ln w="6350">
            <a:solidFill>
              <a:schemeClr val="accent6"/>
            </a:solidFill>
            <a:prstDash val="solid"/>
          </a:ln>
        </p:spPr>
      </p:sp>
      <p:sp>
        <p:nvSpPr>
          <p:cNvPr id="55" name="Shape 53"/>
          <p:cNvSpPr/>
          <p:nvPr/>
        </p:nvSpPr>
        <p:spPr>
          <a:xfrm>
            <a:off x="6148140" y="3666744"/>
            <a:ext cx="794728" cy="123444"/>
          </a:xfrm>
          <a:prstGeom prst="roundRect">
            <a:avLst>
              <a:gd name="adj" fmla="val 22222"/>
            </a:avLst>
          </a:prstGeom>
          <a:solidFill>
            <a:schemeClr val="accent2"/>
          </a:solidFill>
          <a:ln w="12700">
            <a:solidFill>
              <a:schemeClr val="accent2"/>
            </a:solidFill>
            <a:prstDash val="solid"/>
          </a:ln>
        </p:spPr>
      </p:sp>
      <p:sp>
        <p:nvSpPr>
          <p:cNvPr id="56" name="Shape 54"/>
          <p:cNvSpPr/>
          <p:nvPr/>
        </p:nvSpPr>
        <p:spPr>
          <a:xfrm>
            <a:off x="548640" y="3895344"/>
            <a:ext cx="1600200" cy="1403604"/>
          </a:xfrm>
          <a:prstGeom prst="roundRect">
            <a:avLst>
              <a:gd name="adj" fmla="val 1954"/>
            </a:avLst>
          </a:prstGeom>
          <a:solidFill>
            <a:schemeClr val="tx2"/>
          </a:solidFill>
          <a:ln w="12700">
            <a:solidFill>
              <a:schemeClr val="tx2"/>
            </a:solidFill>
            <a:prstDash val="solid"/>
          </a:ln>
        </p:spPr>
      </p:sp>
      <p:sp>
        <p:nvSpPr>
          <p:cNvPr id="57" name="Text 55"/>
          <p:cNvSpPr txBox="1"/>
          <p:nvPr/>
        </p:nvSpPr>
        <p:spPr>
          <a:xfrm>
            <a:off x="621792" y="3895344"/>
            <a:ext cx="1463040" cy="1403604"/>
          </a:xfrm>
          <a:prstGeom prst="rect">
            <a:avLst/>
          </a:prstGeom>
          <a:noFill/>
          <a:ln/>
        </p:spPr>
        <p:txBody>
          <a:bodyPr wrap="square" lIns="0" tIns="0" rIns="0" bIns="0" rtlCol="0" anchor="ctr"/>
          <a:lstStyle/>
          <a:p>
            <a:pPr indent="0" marL="0">
              <a:buNone/>
            </a:pPr>
            <a:r>
              <a:rPr lang="en-US" sz="1050" b="1" dirty="0">
                <a:solidFill>
                  <a:schemeClr val="bg1"/>
                </a:solidFill>
              </a:rPr>
              <a:t>Pilot: configure &amp; set up</a:t>
            </a:r>
            <a:endParaRPr lang="en-US" sz="1050" dirty="0"/>
          </a:p>
        </p:txBody>
      </p:sp>
      <p:sp>
        <p:nvSpPr>
          <p:cNvPr id="58" name="Text 56"/>
          <p:cNvSpPr txBox="1"/>
          <p:nvPr/>
        </p:nvSpPr>
        <p:spPr>
          <a:xfrm>
            <a:off x="2286000" y="3895344"/>
            <a:ext cx="2514600" cy="205740"/>
          </a:xfrm>
          <a:prstGeom prst="rect">
            <a:avLst/>
          </a:prstGeom>
          <a:noFill/>
          <a:ln/>
        </p:spPr>
        <p:txBody>
          <a:bodyPr wrap="square" lIns="0" tIns="0" rIns="0" bIns="0" rtlCol="0" anchor="ctr"/>
          <a:lstStyle/>
          <a:p>
            <a:pPr indent="0" marL="0">
              <a:buNone/>
            </a:pPr>
            <a:r>
              <a:rPr lang="en-US" sz="1000" dirty="0">
                <a:solidFill>
                  <a:schemeClr val="tx1"/>
                </a:solidFill>
              </a:rPr>
              <a:t>Platform set-up &amp; configuration</a:t>
            </a:r>
            <a:endParaRPr lang="en-US" sz="1000" dirty="0"/>
          </a:p>
        </p:txBody>
      </p:sp>
      <p:sp>
        <p:nvSpPr>
          <p:cNvPr id="59" name="Shape 57"/>
          <p:cNvSpPr/>
          <p:nvPr/>
        </p:nvSpPr>
        <p:spPr>
          <a:xfrm>
            <a:off x="2286000" y="4101084"/>
            <a:ext cx="9357055" cy="0"/>
          </a:xfrm>
          <a:prstGeom prst="line">
            <a:avLst/>
          </a:prstGeom>
          <a:noFill/>
          <a:ln w="6350">
            <a:solidFill>
              <a:schemeClr val="accent6"/>
            </a:solidFill>
            <a:prstDash val="solid"/>
          </a:ln>
        </p:spPr>
      </p:sp>
      <p:sp>
        <p:nvSpPr>
          <p:cNvPr id="60" name="Shape 58"/>
          <p:cNvSpPr/>
          <p:nvPr/>
        </p:nvSpPr>
        <p:spPr>
          <a:xfrm>
            <a:off x="6148140" y="3936492"/>
            <a:ext cx="1219524" cy="123444"/>
          </a:xfrm>
          <a:prstGeom prst="roundRect">
            <a:avLst>
              <a:gd name="adj" fmla="val 22222"/>
            </a:avLst>
          </a:prstGeom>
          <a:solidFill>
            <a:schemeClr val="tx2"/>
          </a:solidFill>
          <a:ln w="12700">
            <a:solidFill>
              <a:schemeClr val="tx2"/>
            </a:solidFill>
            <a:prstDash val="solid"/>
          </a:ln>
        </p:spPr>
      </p:sp>
      <p:sp>
        <p:nvSpPr>
          <p:cNvPr id="61" name="Text 59"/>
          <p:cNvSpPr txBox="1"/>
          <p:nvPr/>
        </p:nvSpPr>
        <p:spPr>
          <a:xfrm>
            <a:off x="2286000" y="4101084"/>
            <a:ext cx="2514600" cy="205740"/>
          </a:xfrm>
          <a:prstGeom prst="rect">
            <a:avLst/>
          </a:prstGeom>
          <a:noFill/>
          <a:ln/>
        </p:spPr>
        <p:txBody>
          <a:bodyPr wrap="square" lIns="0" tIns="0" rIns="0" bIns="0" rtlCol="0" anchor="ctr"/>
          <a:lstStyle/>
          <a:p>
            <a:pPr indent="0" marL="0">
              <a:buNone/>
            </a:pPr>
            <a:r>
              <a:rPr lang="en-US" sz="1000" dirty="0">
                <a:solidFill>
                  <a:schemeClr val="tx1"/>
                </a:solidFill>
              </a:rPr>
              <a:t>ICP rubric, signals &amp; segment plays</a:t>
            </a:r>
            <a:endParaRPr lang="en-US" sz="1000" dirty="0"/>
          </a:p>
        </p:txBody>
      </p:sp>
      <p:sp>
        <p:nvSpPr>
          <p:cNvPr id="62" name="Shape 60"/>
          <p:cNvSpPr/>
          <p:nvPr/>
        </p:nvSpPr>
        <p:spPr>
          <a:xfrm>
            <a:off x="2286000" y="4306824"/>
            <a:ext cx="9357055" cy="0"/>
          </a:xfrm>
          <a:prstGeom prst="line">
            <a:avLst/>
          </a:prstGeom>
          <a:noFill/>
          <a:ln w="6350">
            <a:solidFill>
              <a:schemeClr val="accent6"/>
            </a:solidFill>
            <a:prstDash val="solid"/>
          </a:ln>
        </p:spPr>
      </p:sp>
      <p:sp>
        <p:nvSpPr>
          <p:cNvPr id="63" name="Shape 61"/>
          <p:cNvSpPr/>
          <p:nvPr/>
        </p:nvSpPr>
        <p:spPr>
          <a:xfrm>
            <a:off x="6572936" y="4142232"/>
            <a:ext cx="1219524" cy="123444"/>
          </a:xfrm>
          <a:prstGeom prst="roundRect">
            <a:avLst>
              <a:gd name="adj" fmla="val 22222"/>
            </a:avLst>
          </a:prstGeom>
          <a:solidFill>
            <a:schemeClr val="tx2"/>
          </a:solidFill>
          <a:ln w="12700">
            <a:solidFill>
              <a:schemeClr val="tx2"/>
            </a:solidFill>
            <a:prstDash val="solid"/>
          </a:ln>
        </p:spPr>
      </p:sp>
      <p:sp>
        <p:nvSpPr>
          <p:cNvPr id="64" name="Text 62"/>
          <p:cNvSpPr txBox="1"/>
          <p:nvPr/>
        </p:nvSpPr>
        <p:spPr>
          <a:xfrm>
            <a:off x="2286000" y="4306824"/>
            <a:ext cx="2514600" cy="205740"/>
          </a:xfrm>
          <a:prstGeom prst="rect">
            <a:avLst/>
          </a:prstGeom>
          <a:noFill/>
          <a:ln/>
        </p:spPr>
        <p:txBody>
          <a:bodyPr wrap="square" lIns="0" tIns="0" rIns="0" bIns="0" rtlCol="0" anchor="ctr"/>
          <a:lstStyle/>
          <a:p>
            <a:pPr indent="0" marL="0">
              <a:buNone/>
            </a:pPr>
            <a:r>
              <a:rPr lang="en-US" sz="1000" dirty="0">
                <a:solidFill>
                  <a:schemeClr val="tx1"/>
                </a:solidFill>
              </a:rPr>
              <a:t>Content library: brand, claims, plays</a:t>
            </a:r>
            <a:endParaRPr lang="en-US" sz="1000" dirty="0"/>
          </a:p>
        </p:txBody>
      </p:sp>
      <p:sp>
        <p:nvSpPr>
          <p:cNvPr id="65" name="Shape 63"/>
          <p:cNvSpPr/>
          <p:nvPr/>
        </p:nvSpPr>
        <p:spPr>
          <a:xfrm>
            <a:off x="2286000" y="4512564"/>
            <a:ext cx="9357055" cy="0"/>
          </a:xfrm>
          <a:prstGeom prst="line">
            <a:avLst/>
          </a:prstGeom>
          <a:noFill/>
          <a:ln w="6350">
            <a:solidFill>
              <a:schemeClr val="accent6"/>
            </a:solidFill>
            <a:prstDash val="solid"/>
          </a:ln>
        </p:spPr>
      </p:sp>
      <p:sp>
        <p:nvSpPr>
          <p:cNvPr id="66" name="Shape 64"/>
          <p:cNvSpPr/>
          <p:nvPr/>
        </p:nvSpPr>
        <p:spPr>
          <a:xfrm>
            <a:off x="6572936" y="4347972"/>
            <a:ext cx="1219524" cy="123444"/>
          </a:xfrm>
          <a:prstGeom prst="roundRect">
            <a:avLst>
              <a:gd name="adj" fmla="val 22222"/>
            </a:avLst>
          </a:prstGeom>
          <a:solidFill>
            <a:schemeClr val="tx2"/>
          </a:solidFill>
          <a:ln w="12700">
            <a:solidFill>
              <a:schemeClr val="tx2"/>
            </a:solidFill>
            <a:prstDash val="solid"/>
          </a:ln>
        </p:spPr>
      </p:sp>
      <p:sp>
        <p:nvSpPr>
          <p:cNvPr id="67" name="Text 65"/>
          <p:cNvSpPr txBox="1"/>
          <p:nvPr/>
        </p:nvSpPr>
        <p:spPr>
          <a:xfrm>
            <a:off x="2286000" y="4512564"/>
            <a:ext cx="2514600" cy="205740"/>
          </a:xfrm>
          <a:prstGeom prst="rect">
            <a:avLst/>
          </a:prstGeom>
          <a:noFill/>
          <a:ln/>
        </p:spPr>
        <p:txBody>
          <a:bodyPr wrap="square" lIns="0" tIns="0" rIns="0" bIns="0" rtlCol="0" anchor="ctr"/>
          <a:lstStyle/>
          <a:p>
            <a:pPr indent="0" marL="0">
              <a:buNone/>
            </a:pPr>
            <a:r>
              <a:rPr lang="en-US" sz="1000" dirty="0">
                <a:solidFill>
                  <a:schemeClr val="tx1"/>
                </a:solidFill>
              </a:rPr>
              <a:t>Data load: lead lists &amp; signal feeds</a:t>
            </a:r>
            <a:endParaRPr lang="en-US" sz="1000" dirty="0"/>
          </a:p>
        </p:txBody>
      </p:sp>
      <p:sp>
        <p:nvSpPr>
          <p:cNvPr id="68" name="Shape 66"/>
          <p:cNvSpPr/>
          <p:nvPr/>
        </p:nvSpPr>
        <p:spPr>
          <a:xfrm>
            <a:off x="2286000" y="4718304"/>
            <a:ext cx="9357055" cy="0"/>
          </a:xfrm>
          <a:prstGeom prst="line">
            <a:avLst/>
          </a:prstGeom>
          <a:noFill/>
          <a:ln w="6350">
            <a:solidFill>
              <a:schemeClr val="accent6"/>
            </a:solidFill>
            <a:prstDash val="solid"/>
          </a:ln>
        </p:spPr>
      </p:sp>
      <p:sp>
        <p:nvSpPr>
          <p:cNvPr id="69" name="Shape 67"/>
          <p:cNvSpPr/>
          <p:nvPr/>
        </p:nvSpPr>
        <p:spPr>
          <a:xfrm>
            <a:off x="6997732" y="4553712"/>
            <a:ext cx="794728" cy="123444"/>
          </a:xfrm>
          <a:prstGeom prst="roundRect">
            <a:avLst>
              <a:gd name="adj" fmla="val 22222"/>
            </a:avLst>
          </a:prstGeom>
          <a:solidFill>
            <a:schemeClr val="tx2"/>
          </a:solidFill>
          <a:ln w="12700">
            <a:solidFill>
              <a:schemeClr val="tx2"/>
            </a:solidFill>
            <a:prstDash val="solid"/>
          </a:ln>
        </p:spPr>
      </p:sp>
      <p:sp>
        <p:nvSpPr>
          <p:cNvPr id="70" name="Text 68"/>
          <p:cNvSpPr txBox="1"/>
          <p:nvPr/>
        </p:nvSpPr>
        <p:spPr>
          <a:xfrm>
            <a:off x="2286000" y="4718304"/>
            <a:ext cx="2514600" cy="205740"/>
          </a:xfrm>
          <a:prstGeom prst="rect">
            <a:avLst/>
          </a:prstGeom>
          <a:noFill/>
          <a:ln/>
        </p:spPr>
        <p:txBody>
          <a:bodyPr wrap="square" lIns="0" tIns="0" rIns="0" bIns="0" rtlCol="0" anchor="ctr"/>
          <a:lstStyle/>
          <a:p>
            <a:pPr indent="0" marL="0">
              <a:buNone/>
            </a:pPr>
            <a:r>
              <a:rPr lang="en-US" sz="1000" dirty="0">
                <a:solidFill>
                  <a:schemeClr val="tx1"/>
                </a:solidFill>
              </a:rPr>
              <a:t>Training run, tuning &amp; fixes</a:t>
            </a:r>
            <a:endParaRPr lang="en-US" sz="1000" dirty="0"/>
          </a:p>
        </p:txBody>
      </p:sp>
      <p:sp>
        <p:nvSpPr>
          <p:cNvPr id="71" name="Shape 69"/>
          <p:cNvSpPr/>
          <p:nvPr/>
        </p:nvSpPr>
        <p:spPr>
          <a:xfrm>
            <a:off x="2286000" y="4924044"/>
            <a:ext cx="9357055" cy="0"/>
          </a:xfrm>
          <a:prstGeom prst="line">
            <a:avLst/>
          </a:prstGeom>
          <a:noFill/>
          <a:ln w="6350">
            <a:solidFill>
              <a:schemeClr val="accent6"/>
            </a:solidFill>
            <a:prstDash val="solid"/>
          </a:ln>
        </p:spPr>
      </p:sp>
      <p:sp>
        <p:nvSpPr>
          <p:cNvPr id="72" name="Shape 70"/>
          <p:cNvSpPr/>
          <p:nvPr/>
        </p:nvSpPr>
        <p:spPr>
          <a:xfrm>
            <a:off x="7847324" y="4759452"/>
            <a:ext cx="794728" cy="123444"/>
          </a:xfrm>
          <a:prstGeom prst="roundRect">
            <a:avLst>
              <a:gd name="adj" fmla="val 22222"/>
            </a:avLst>
          </a:prstGeom>
          <a:solidFill>
            <a:schemeClr val="tx2"/>
          </a:solidFill>
          <a:ln w="12700">
            <a:solidFill>
              <a:schemeClr val="tx2"/>
            </a:solidFill>
            <a:prstDash val="solid"/>
          </a:ln>
        </p:spPr>
      </p:sp>
      <p:sp>
        <p:nvSpPr>
          <p:cNvPr id="73" name="Text 71"/>
          <p:cNvSpPr txBox="1"/>
          <p:nvPr/>
        </p:nvSpPr>
        <p:spPr>
          <a:xfrm>
            <a:off x="2286000" y="4924044"/>
            <a:ext cx="2514600" cy="205740"/>
          </a:xfrm>
          <a:prstGeom prst="rect">
            <a:avLst/>
          </a:prstGeom>
          <a:noFill/>
          <a:ln/>
        </p:spPr>
        <p:txBody>
          <a:bodyPr wrap="square" lIns="0" tIns="0" rIns="0" bIns="0" rtlCol="0" anchor="ctr"/>
          <a:lstStyle/>
          <a:p>
            <a:pPr indent="0" marL="0">
              <a:buNone/>
            </a:pPr>
            <a:r>
              <a:rPr lang="en-US" sz="1000" dirty="0">
                <a:solidFill>
                  <a:schemeClr val="tx1"/>
                </a:solidFill>
              </a:rPr>
              <a:t>UAT &amp; InfoSec checks</a:t>
            </a:r>
            <a:endParaRPr lang="en-US" sz="1000" dirty="0"/>
          </a:p>
        </p:txBody>
      </p:sp>
      <p:sp>
        <p:nvSpPr>
          <p:cNvPr id="74" name="Shape 72"/>
          <p:cNvSpPr/>
          <p:nvPr/>
        </p:nvSpPr>
        <p:spPr>
          <a:xfrm>
            <a:off x="2286000" y="5129784"/>
            <a:ext cx="9357055" cy="0"/>
          </a:xfrm>
          <a:prstGeom prst="line">
            <a:avLst/>
          </a:prstGeom>
          <a:noFill/>
          <a:ln w="6350">
            <a:solidFill>
              <a:schemeClr val="accent6"/>
            </a:solidFill>
            <a:prstDash val="solid"/>
          </a:ln>
        </p:spPr>
      </p:sp>
      <p:sp>
        <p:nvSpPr>
          <p:cNvPr id="75" name="Shape 73"/>
          <p:cNvSpPr/>
          <p:nvPr/>
        </p:nvSpPr>
        <p:spPr>
          <a:xfrm>
            <a:off x="8272120" y="4965192"/>
            <a:ext cx="794728" cy="123444"/>
          </a:xfrm>
          <a:prstGeom prst="roundRect">
            <a:avLst>
              <a:gd name="adj" fmla="val 22222"/>
            </a:avLst>
          </a:prstGeom>
          <a:solidFill>
            <a:schemeClr val="tx2"/>
          </a:solidFill>
          <a:ln w="12700">
            <a:solidFill>
              <a:schemeClr val="tx2"/>
            </a:solidFill>
            <a:prstDash val="solid"/>
          </a:ln>
        </p:spPr>
      </p:sp>
      <p:sp>
        <p:nvSpPr>
          <p:cNvPr id="76" name="Text 74"/>
          <p:cNvSpPr txBox="1"/>
          <p:nvPr/>
        </p:nvSpPr>
        <p:spPr>
          <a:xfrm>
            <a:off x="2286000" y="5129784"/>
            <a:ext cx="2514600" cy="205740"/>
          </a:xfrm>
          <a:prstGeom prst="rect">
            <a:avLst/>
          </a:prstGeom>
          <a:noFill/>
          <a:ln/>
        </p:spPr>
        <p:txBody>
          <a:bodyPr wrap="square" lIns="0" tIns="0" rIns="0" bIns="0" rtlCol="0" anchor="ctr"/>
          <a:lstStyle/>
          <a:p>
            <a:pPr indent="0" marL="0">
              <a:buNone/>
            </a:pPr>
            <a:r>
              <a:rPr lang="en-US" sz="1000" dirty="0">
                <a:solidFill>
                  <a:schemeClr val="tx1"/>
                </a:solidFill>
              </a:rPr>
              <a:t>User training</a:t>
            </a:r>
            <a:endParaRPr lang="en-US" sz="1000" dirty="0"/>
          </a:p>
        </p:txBody>
      </p:sp>
      <p:sp>
        <p:nvSpPr>
          <p:cNvPr id="77" name="Shape 75"/>
          <p:cNvSpPr/>
          <p:nvPr/>
        </p:nvSpPr>
        <p:spPr>
          <a:xfrm>
            <a:off x="2286000" y="5335524"/>
            <a:ext cx="9357055" cy="0"/>
          </a:xfrm>
          <a:prstGeom prst="line">
            <a:avLst/>
          </a:prstGeom>
          <a:noFill/>
          <a:ln w="6350">
            <a:solidFill>
              <a:schemeClr val="accent6"/>
            </a:solidFill>
            <a:prstDash val="solid"/>
          </a:ln>
        </p:spPr>
      </p:sp>
      <p:sp>
        <p:nvSpPr>
          <p:cNvPr id="78" name="Shape 76"/>
          <p:cNvSpPr/>
          <p:nvPr/>
        </p:nvSpPr>
        <p:spPr>
          <a:xfrm>
            <a:off x="8696916" y="5170932"/>
            <a:ext cx="369932" cy="123444"/>
          </a:xfrm>
          <a:prstGeom prst="roundRect">
            <a:avLst>
              <a:gd name="adj" fmla="val 22222"/>
            </a:avLst>
          </a:prstGeom>
          <a:solidFill>
            <a:schemeClr val="tx2"/>
          </a:solidFill>
          <a:ln w="12700">
            <a:solidFill>
              <a:schemeClr val="tx2"/>
            </a:solidFill>
            <a:prstDash val="solid"/>
          </a:ln>
        </p:spPr>
      </p:sp>
      <p:sp>
        <p:nvSpPr>
          <p:cNvPr id="79" name="Shape 77"/>
          <p:cNvSpPr/>
          <p:nvPr/>
        </p:nvSpPr>
        <p:spPr>
          <a:xfrm>
            <a:off x="548640" y="5399532"/>
            <a:ext cx="1600200" cy="374904"/>
          </a:xfrm>
          <a:prstGeom prst="roundRect">
            <a:avLst>
              <a:gd name="adj" fmla="val 7317"/>
            </a:avLst>
          </a:prstGeom>
          <a:solidFill>
            <a:schemeClr val="accent3"/>
          </a:solidFill>
          <a:ln w="12700">
            <a:solidFill>
              <a:schemeClr val="accent3"/>
            </a:solidFill>
            <a:prstDash val="solid"/>
          </a:ln>
        </p:spPr>
      </p:sp>
      <p:sp>
        <p:nvSpPr>
          <p:cNvPr id="80" name="Text 78"/>
          <p:cNvSpPr txBox="1"/>
          <p:nvPr/>
        </p:nvSpPr>
        <p:spPr>
          <a:xfrm>
            <a:off x="621792" y="5399532"/>
            <a:ext cx="1463040" cy="374904"/>
          </a:xfrm>
          <a:prstGeom prst="rect">
            <a:avLst/>
          </a:prstGeom>
          <a:noFill/>
          <a:ln/>
        </p:spPr>
        <p:txBody>
          <a:bodyPr wrap="square" lIns="0" tIns="0" rIns="0" bIns="0" rtlCol="0" anchor="ctr"/>
          <a:lstStyle/>
          <a:p>
            <a:pPr indent="0" marL="0">
              <a:buNone/>
            </a:pPr>
            <a:r>
              <a:rPr lang="en-US" sz="1050" b="1" dirty="0">
                <a:solidFill>
                  <a:schemeClr val="bg1"/>
                </a:solidFill>
              </a:rPr>
              <a:t>Pilot execution</a:t>
            </a:r>
            <a:endParaRPr lang="en-US" sz="1050" dirty="0"/>
          </a:p>
        </p:txBody>
      </p:sp>
      <p:sp>
        <p:nvSpPr>
          <p:cNvPr id="81" name="Text 79"/>
          <p:cNvSpPr txBox="1"/>
          <p:nvPr/>
        </p:nvSpPr>
        <p:spPr>
          <a:xfrm>
            <a:off x="2286000" y="5399532"/>
            <a:ext cx="2514600" cy="205740"/>
          </a:xfrm>
          <a:prstGeom prst="rect">
            <a:avLst/>
          </a:prstGeom>
          <a:noFill/>
          <a:ln/>
        </p:spPr>
        <p:txBody>
          <a:bodyPr wrap="square" lIns="0" tIns="0" rIns="0" bIns="0" rtlCol="0" anchor="ctr"/>
          <a:lstStyle/>
          <a:p>
            <a:pPr indent="0" marL="0">
              <a:buNone/>
            </a:pPr>
            <a:r>
              <a:rPr lang="en-US" sz="1000" dirty="0">
                <a:solidFill>
                  <a:schemeClr val="tx1"/>
                </a:solidFill>
              </a:rPr>
              <a:t>Pilot run &amp; measurement</a:t>
            </a:r>
            <a:endParaRPr lang="en-US" sz="1000" dirty="0"/>
          </a:p>
        </p:txBody>
      </p:sp>
      <p:sp>
        <p:nvSpPr>
          <p:cNvPr id="82" name="Shape 80"/>
          <p:cNvSpPr/>
          <p:nvPr/>
        </p:nvSpPr>
        <p:spPr>
          <a:xfrm>
            <a:off x="2286000" y="5605272"/>
            <a:ext cx="9357055" cy="0"/>
          </a:xfrm>
          <a:prstGeom prst="line">
            <a:avLst/>
          </a:prstGeom>
          <a:noFill/>
          <a:ln w="6350">
            <a:solidFill>
              <a:schemeClr val="accent6"/>
            </a:solidFill>
            <a:prstDash val="solid"/>
          </a:ln>
        </p:spPr>
      </p:sp>
      <p:sp>
        <p:nvSpPr>
          <p:cNvPr id="83" name="Shape 81"/>
          <p:cNvSpPr/>
          <p:nvPr/>
        </p:nvSpPr>
        <p:spPr>
          <a:xfrm>
            <a:off x="9121712" y="5440680"/>
            <a:ext cx="1644320" cy="123444"/>
          </a:xfrm>
          <a:prstGeom prst="roundRect">
            <a:avLst>
              <a:gd name="adj" fmla="val 22222"/>
            </a:avLst>
          </a:prstGeom>
          <a:solidFill>
            <a:schemeClr val="accent3"/>
          </a:solidFill>
          <a:ln w="12700">
            <a:solidFill>
              <a:schemeClr val="accent3"/>
            </a:solidFill>
            <a:prstDash val="solid"/>
          </a:ln>
        </p:spPr>
      </p:sp>
      <p:sp>
        <p:nvSpPr>
          <p:cNvPr id="84" name="Text 82"/>
          <p:cNvSpPr txBox="1"/>
          <p:nvPr/>
        </p:nvSpPr>
        <p:spPr>
          <a:xfrm>
            <a:off x="2286000" y="5605272"/>
            <a:ext cx="2514600" cy="205740"/>
          </a:xfrm>
          <a:prstGeom prst="rect">
            <a:avLst/>
          </a:prstGeom>
          <a:noFill/>
          <a:ln/>
        </p:spPr>
        <p:txBody>
          <a:bodyPr wrap="square" lIns="0" tIns="0" rIns="0" bIns="0" rtlCol="0" anchor="ctr"/>
          <a:lstStyle/>
          <a:p>
            <a:pPr indent="0" marL="0">
              <a:buNone/>
            </a:pPr>
            <a:r>
              <a:rPr lang="en-US" sz="1000" dirty="0">
                <a:solidFill>
                  <a:schemeClr val="tx1"/>
                </a:solidFill>
              </a:rPr>
              <a:t>User support</a:t>
            </a:r>
            <a:endParaRPr lang="en-US" sz="1000" dirty="0"/>
          </a:p>
        </p:txBody>
      </p:sp>
      <p:sp>
        <p:nvSpPr>
          <p:cNvPr id="85" name="Shape 83"/>
          <p:cNvSpPr/>
          <p:nvPr/>
        </p:nvSpPr>
        <p:spPr>
          <a:xfrm>
            <a:off x="2286000" y="5811012"/>
            <a:ext cx="9357055" cy="0"/>
          </a:xfrm>
          <a:prstGeom prst="line">
            <a:avLst/>
          </a:prstGeom>
          <a:noFill/>
          <a:ln w="6350">
            <a:solidFill>
              <a:schemeClr val="accent6"/>
            </a:solidFill>
            <a:prstDash val="solid"/>
          </a:ln>
        </p:spPr>
      </p:sp>
      <p:sp>
        <p:nvSpPr>
          <p:cNvPr id="86" name="Shape 84"/>
          <p:cNvSpPr/>
          <p:nvPr/>
        </p:nvSpPr>
        <p:spPr>
          <a:xfrm>
            <a:off x="9121712" y="5646420"/>
            <a:ext cx="1644320" cy="123444"/>
          </a:xfrm>
          <a:prstGeom prst="roundRect">
            <a:avLst>
              <a:gd name="adj" fmla="val 22222"/>
            </a:avLst>
          </a:prstGeom>
          <a:solidFill>
            <a:schemeClr val="accent3"/>
          </a:solidFill>
          <a:ln w="12700">
            <a:solidFill>
              <a:schemeClr val="accent3"/>
            </a:solidFill>
            <a:prstDash val="solid"/>
          </a:ln>
        </p:spPr>
      </p:sp>
      <p:sp>
        <p:nvSpPr>
          <p:cNvPr id="87" name="Shape 85"/>
          <p:cNvSpPr/>
          <p:nvPr/>
        </p:nvSpPr>
        <p:spPr>
          <a:xfrm>
            <a:off x="548640" y="5875020"/>
            <a:ext cx="1600200" cy="374904"/>
          </a:xfrm>
          <a:prstGeom prst="roundRect">
            <a:avLst>
              <a:gd name="adj" fmla="val 7317"/>
            </a:avLst>
          </a:prstGeom>
          <a:solidFill>
            <a:schemeClr val="accent1"/>
          </a:solidFill>
          <a:ln w="12700">
            <a:solidFill>
              <a:schemeClr val="accent1"/>
            </a:solidFill>
            <a:prstDash val="solid"/>
          </a:ln>
        </p:spPr>
      </p:sp>
      <p:sp>
        <p:nvSpPr>
          <p:cNvPr id="88" name="Text 86"/>
          <p:cNvSpPr txBox="1"/>
          <p:nvPr/>
        </p:nvSpPr>
        <p:spPr>
          <a:xfrm>
            <a:off x="621792" y="5875020"/>
            <a:ext cx="1463040" cy="374904"/>
          </a:xfrm>
          <a:prstGeom prst="rect">
            <a:avLst/>
          </a:prstGeom>
          <a:noFill/>
          <a:ln/>
        </p:spPr>
        <p:txBody>
          <a:bodyPr wrap="square" lIns="0" tIns="0" rIns="0" bIns="0" rtlCol="0" anchor="ctr"/>
          <a:lstStyle/>
          <a:p>
            <a:pPr indent="0" marL="0">
              <a:buNone/>
            </a:pPr>
            <a:r>
              <a:rPr lang="en-US" sz="1050" b="1" dirty="0">
                <a:solidFill>
                  <a:schemeClr val="tx1"/>
                </a:solidFill>
              </a:rPr>
              <a:t>Results &amp; recommendation</a:t>
            </a:r>
            <a:endParaRPr lang="en-US" sz="1050" dirty="0"/>
          </a:p>
        </p:txBody>
      </p:sp>
      <p:sp>
        <p:nvSpPr>
          <p:cNvPr id="89" name="Text 87"/>
          <p:cNvSpPr txBox="1"/>
          <p:nvPr/>
        </p:nvSpPr>
        <p:spPr>
          <a:xfrm>
            <a:off x="2286000" y="5875020"/>
            <a:ext cx="2514600" cy="205740"/>
          </a:xfrm>
          <a:prstGeom prst="rect">
            <a:avLst/>
          </a:prstGeom>
          <a:noFill/>
          <a:ln/>
        </p:spPr>
        <p:txBody>
          <a:bodyPr wrap="square" lIns="0" tIns="0" rIns="0" bIns="0" rtlCol="0" anchor="ctr"/>
          <a:lstStyle/>
          <a:p>
            <a:pPr indent="0" marL="0">
              <a:buNone/>
            </a:pPr>
            <a:r>
              <a:rPr lang="en-US" sz="1000" dirty="0">
                <a:solidFill>
                  <a:schemeClr val="tx1"/>
                </a:solidFill>
              </a:rPr>
              <a:t>Results consolidation</a:t>
            </a:r>
            <a:endParaRPr lang="en-US" sz="1000" dirty="0"/>
          </a:p>
        </p:txBody>
      </p:sp>
      <p:sp>
        <p:nvSpPr>
          <p:cNvPr id="90" name="Shape 88"/>
          <p:cNvSpPr/>
          <p:nvPr/>
        </p:nvSpPr>
        <p:spPr>
          <a:xfrm>
            <a:off x="2286000" y="6080760"/>
            <a:ext cx="9357055" cy="0"/>
          </a:xfrm>
          <a:prstGeom prst="line">
            <a:avLst/>
          </a:prstGeom>
          <a:noFill/>
          <a:ln w="6350">
            <a:solidFill>
              <a:schemeClr val="accent6"/>
            </a:solidFill>
            <a:prstDash val="solid"/>
          </a:ln>
        </p:spPr>
      </p:sp>
      <p:sp>
        <p:nvSpPr>
          <p:cNvPr id="91" name="Shape 89"/>
          <p:cNvSpPr/>
          <p:nvPr/>
        </p:nvSpPr>
        <p:spPr>
          <a:xfrm>
            <a:off x="10820895" y="5916168"/>
            <a:ext cx="369932" cy="123444"/>
          </a:xfrm>
          <a:prstGeom prst="roundRect">
            <a:avLst>
              <a:gd name="adj" fmla="val 22222"/>
            </a:avLst>
          </a:prstGeom>
          <a:solidFill>
            <a:schemeClr val="accent1"/>
          </a:solidFill>
          <a:ln w="12700">
            <a:solidFill>
              <a:schemeClr val="accent1"/>
            </a:solidFill>
            <a:prstDash val="solid"/>
          </a:ln>
        </p:spPr>
      </p:sp>
      <p:sp>
        <p:nvSpPr>
          <p:cNvPr id="92" name="Text 90"/>
          <p:cNvSpPr txBox="1"/>
          <p:nvPr/>
        </p:nvSpPr>
        <p:spPr>
          <a:xfrm>
            <a:off x="2286000" y="6080760"/>
            <a:ext cx="2514600" cy="205740"/>
          </a:xfrm>
          <a:prstGeom prst="rect">
            <a:avLst/>
          </a:prstGeom>
          <a:noFill/>
          <a:ln/>
        </p:spPr>
        <p:txBody>
          <a:bodyPr wrap="square" lIns="0" tIns="0" rIns="0" bIns="0" rtlCol="0" anchor="ctr"/>
          <a:lstStyle/>
          <a:p>
            <a:pPr indent="0" marL="0">
              <a:buNone/>
            </a:pPr>
            <a:r>
              <a:rPr lang="en-US" sz="1000" dirty="0">
                <a:solidFill>
                  <a:schemeClr val="tx1"/>
                </a:solidFill>
              </a:rPr>
              <a:t>Rollout recommendation</a:t>
            </a:r>
            <a:endParaRPr lang="en-US" sz="1000" dirty="0"/>
          </a:p>
        </p:txBody>
      </p:sp>
      <p:sp>
        <p:nvSpPr>
          <p:cNvPr id="93" name="Shape 91"/>
          <p:cNvSpPr/>
          <p:nvPr/>
        </p:nvSpPr>
        <p:spPr>
          <a:xfrm>
            <a:off x="2286000" y="6286500"/>
            <a:ext cx="9357055" cy="0"/>
          </a:xfrm>
          <a:prstGeom prst="line">
            <a:avLst/>
          </a:prstGeom>
          <a:noFill/>
          <a:ln w="6350">
            <a:solidFill>
              <a:schemeClr val="accent6"/>
            </a:solidFill>
            <a:prstDash val="solid"/>
          </a:ln>
        </p:spPr>
      </p:sp>
      <p:sp>
        <p:nvSpPr>
          <p:cNvPr id="94" name="Shape 92"/>
          <p:cNvSpPr/>
          <p:nvPr/>
        </p:nvSpPr>
        <p:spPr>
          <a:xfrm>
            <a:off x="10820895" y="6121908"/>
            <a:ext cx="794728" cy="123444"/>
          </a:xfrm>
          <a:prstGeom prst="roundRect">
            <a:avLst>
              <a:gd name="adj" fmla="val 22222"/>
            </a:avLst>
          </a:prstGeom>
          <a:solidFill>
            <a:schemeClr val="accent1"/>
          </a:solidFill>
          <a:ln w="12700">
            <a:solidFill>
              <a:schemeClr val="accent1"/>
            </a:solidFill>
            <a:prstDash val="solid"/>
          </a:ln>
        </p:spPr>
      </p:sp>
      <p:sp>
        <p:nvSpPr>
          <p:cNvPr id="95" name="Text 9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chemeClr val="accent4"/>
                </a:solidFill>
              </a:rPr>
              <a:t>Weeks start on Mondays. The year-end weeks (W8, W9) carry lighter work; dates are agreed at kick-off.</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138160" y="1188720"/>
            <a:ext cx="4206240" cy="4206240"/>
          </a:xfrm>
          <a:prstGeom prst="diamond">
            <a:avLst/>
          </a:prstGeom>
          <a:solidFill>
            <a:schemeClr val="accent1"/>
          </a:solidFill>
          <a:ln w="12700">
            <a:solidFill>
              <a:schemeClr val="accent1"/>
            </a:solidFill>
            <a:prstDash val="solid"/>
          </a:ln>
        </p:spPr>
      </p:sp>
      <p:sp>
        <p:nvSpPr>
          <p:cNvPr id="3" name="Shape 1"/>
          <p:cNvSpPr/>
          <p:nvPr/>
        </p:nvSpPr>
        <p:spPr>
          <a:xfrm>
            <a:off x="7589520" y="4206240"/>
            <a:ext cx="1463040" cy="1463040"/>
          </a:xfrm>
          <a:prstGeom prst="diamond">
            <a:avLst/>
          </a:prstGeom>
          <a:solidFill>
            <a:schemeClr val="accent2"/>
          </a:solidFill>
          <a:ln w="12700">
            <a:solidFill>
              <a:schemeClr val="accent2"/>
            </a:solidFill>
            <a:prstDash val="solid"/>
          </a:ln>
        </p:spPr>
      </p:sp>
      <p:sp>
        <p:nvSpPr>
          <p:cNvPr id="4" name="Text 2"/>
          <p:cNvSpPr txBox="1"/>
          <p:nvPr/>
        </p:nvSpPr>
        <p:spPr>
          <a:xfrm>
            <a:off x="548640" y="2194560"/>
            <a:ext cx="7315200" cy="365760"/>
          </a:xfrm>
          <a:prstGeom prst="rect">
            <a:avLst/>
          </a:prstGeom>
          <a:noFill/>
          <a:ln/>
        </p:spPr>
        <p:txBody>
          <a:bodyPr wrap="square" lIns="0" tIns="0" rIns="0" bIns="0" rtlCol="0" anchor="t"/>
          <a:lstStyle/>
          <a:p>
            <a:pPr indent="0" marL="0">
              <a:buNone/>
            </a:pPr>
            <a:r>
              <a:rPr lang="en-US" sz="1300" b="1" spc="200" kern="0" dirty="0">
                <a:solidFill>
                  <a:schemeClr val="accent1"/>
                </a:solidFill>
              </a:rPr>
              <a:t>DEMAND AI PILOT  ·  DISCOVERY WORKSHOP</a:t>
            </a:r>
            <a:endParaRPr lang="en-US" sz="1300" dirty="0"/>
          </a:p>
        </p:txBody>
      </p:sp>
      <p:sp>
        <p:nvSpPr>
          <p:cNvPr id="5" name="Text 3"/>
          <p:cNvSpPr txBox="1"/>
          <p:nvPr/>
        </p:nvSpPr>
        <p:spPr>
          <a:xfrm>
            <a:off x="548640" y="2651760"/>
            <a:ext cx="7315200" cy="1097280"/>
          </a:xfrm>
          <a:prstGeom prst="rect">
            <a:avLst/>
          </a:prstGeom>
          <a:noFill/>
          <a:ln/>
        </p:spPr>
        <p:txBody>
          <a:bodyPr wrap="square" lIns="0" tIns="0" rIns="0" bIns="0" rtlCol="0" anchor="t"/>
          <a:lstStyle/>
          <a:p>
            <a:pPr indent="0" marL="0">
              <a:buNone/>
            </a:pPr>
            <a:r>
              <a:rPr lang="en-US" sz="5400" b="1" dirty="0">
                <a:solidFill>
                  <a:schemeClr val="bg1"/>
                </a:solidFill>
              </a:rPr>
              <a:t>Thank you</a:t>
            </a:r>
            <a:endParaRPr lang="en-US" sz="5400" dirty="0"/>
          </a:p>
        </p:txBody>
      </p:sp>
      <p:sp>
        <p:nvSpPr>
          <p:cNvPr id="6" name="Text 4"/>
          <p:cNvSpPr txBox="1"/>
          <p:nvPr/>
        </p:nvSpPr>
        <p:spPr>
          <a:xfrm>
            <a:off x="548640" y="3749040"/>
            <a:ext cx="7315200" cy="457200"/>
          </a:xfrm>
          <a:prstGeom prst="rect">
            <a:avLst/>
          </a:prstGeom>
          <a:noFill/>
          <a:ln/>
        </p:spPr>
        <p:txBody>
          <a:bodyPr wrap="square" lIns="0" tIns="0" rIns="0" bIns="0" rtlCol="0" anchor="t"/>
          <a:lstStyle/>
          <a:p>
            <a:pPr indent="0" marL="0">
              <a:buNone/>
            </a:pPr>
            <a:r>
              <a:rPr lang="en-US" sz="1800" dirty="0">
                <a:solidFill>
                  <a:schemeClr val="accent6"/>
                </a:solidFill>
              </a:rPr>
              <a:t>Questions and discussion welcome.</a:t>
            </a:r>
            <a:endParaRPr lang="en-US" sz="1800" dirty="0"/>
          </a:p>
        </p:txBody>
      </p:sp>
      <p:sp>
        <p:nvSpPr>
          <p:cNvPr id="7" name="Text 5"/>
          <p:cNvSpPr txBox="1"/>
          <p:nvPr/>
        </p:nvSpPr>
        <p:spPr>
          <a:xfrm>
            <a:off x="548640" y="6172200"/>
            <a:ext cx="6400800" cy="274320"/>
          </a:xfrm>
          <a:prstGeom prst="rect">
            <a:avLst/>
          </a:prstGeom>
          <a:noFill/>
          <a:ln/>
        </p:spPr>
        <p:txBody>
          <a:bodyPr wrap="square" lIns="0" tIns="0" rIns="0" bIns="0" rtlCol="0" anchor="t"/>
          <a:lstStyle/>
          <a:p>
            <a:pPr indent="0" marL="0">
              <a:buNone/>
            </a:pPr>
            <a:r>
              <a:rPr lang="en-US" sz="1100" dirty="0">
                <a:solidFill>
                  <a:schemeClr val="accent4"/>
                </a:solidFill>
              </a:rPr>
              <a:t>Prepared for Client  ·  Response to RFP  ·  Confidential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7680960" y="1371600"/>
            <a:ext cx="3840480" cy="3840480"/>
          </a:xfrm>
          <a:prstGeom prst="diamond">
            <a:avLst/>
          </a:prstGeom>
          <a:solidFill>
            <a:schemeClr val="tx2"/>
          </a:solidFill>
          <a:ln w="12700">
            <a:solidFill>
              <a:schemeClr val="tx2"/>
            </a:solidFill>
            <a:prstDash val="solid"/>
          </a:ln>
        </p:spPr>
      </p:sp>
      <p:sp>
        <p:nvSpPr>
          <p:cNvPr id="3" name="Text 1"/>
          <p:cNvSpPr txBox="1"/>
          <p:nvPr/>
        </p:nvSpPr>
        <p:spPr>
          <a:xfrm>
            <a:off x="7680960" y="1371600"/>
            <a:ext cx="3840480" cy="3840480"/>
          </a:xfrm>
          <a:prstGeom prst="rect">
            <a:avLst/>
          </a:prstGeom>
          <a:noFill/>
          <a:ln/>
        </p:spPr>
        <p:txBody>
          <a:bodyPr wrap="square" lIns="0" tIns="0" rIns="0" bIns="0" rtlCol="0" anchor="ctr"/>
          <a:lstStyle/>
          <a:p>
            <a:pPr algn="ctr" indent="0" marL="0">
              <a:buNone/>
            </a:pPr>
            <a:r>
              <a:rPr lang="en-US" sz="7200" b="1" dirty="0">
                <a:solidFill>
                  <a:schemeClr val="accent1"/>
                </a:solidFill>
              </a:rPr>
              <a:t>A</a:t>
            </a:r>
            <a:endParaRPr lang="en-US" sz="7200" dirty="0"/>
          </a:p>
        </p:txBody>
      </p:sp>
      <p:sp>
        <p:nvSpPr>
          <p:cNvPr id="4" name="Text 2"/>
          <p:cNvSpPr txBox="1"/>
          <p:nvPr/>
        </p:nvSpPr>
        <p:spPr>
          <a:xfrm>
            <a:off x="548640" y="2560320"/>
            <a:ext cx="6766560" cy="914400"/>
          </a:xfrm>
          <a:prstGeom prst="rect">
            <a:avLst/>
          </a:prstGeom>
          <a:noFill/>
          <a:ln/>
        </p:spPr>
        <p:txBody>
          <a:bodyPr wrap="square" lIns="0" tIns="0" rIns="0" bIns="0" rtlCol="0" anchor="t"/>
          <a:lstStyle/>
          <a:p>
            <a:pPr indent="0" marL="0">
              <a:buNone/>
            </a:pPr>
            <a:r>
              <a:rPr lang="en-US" sz="4000" b="1" dirty="0">
                <a:solidFill>
                  <a:schemeClr val="bg1"/>
                </a:solidFill>
              </a:rPr>
              <a:t>Appendix</a:t>
            </a:r>
            <a:endParaRPr lang="en-US" sz="4000" dirty="0"/>
          </a:p>
        </p:txBody>
      </p:sp>
      <p:sp>
        <p:nvSpPr>
          <p:cNvPr id="5" name="Text 3"/>
          <p:cNvSpPr txBox="1"/>
          <p:nvPr/>
        </p:nvSpPr>
        <p:spPr>
          <a:xfrm>
            <a:off x="548640" y="3566160"/>
            <a:ext cx="6400800" cy="731520"/>
          </a:xfrm>
          <a:prstGeom prst="rect">
            <a:avLst/>
          </a:prstGeom>
          <a:noFill/>
          <a:ln/>
        </p:spPr>
        <p:txBody>
          <a:bodyPr wrap="square" lIns="0" tIns="0" rIns="0" bIns="0" rtlCol="0" anchor="t"/>
          <a:lstStyle/>
          <a:p>
            <a:pPr indent="0" marL="0">
              <a:buNone/>
            </a:pPr>
            <a:r>
              <a:rPr lang="en-US" sz="1600" dirty="0">
                <a:solidFill>
                  <a:schemeClr val="accent6"/>
                </a:solidFill>
              </a:rPr>
              <a:t>Security and responsible AI, agent detail and validation dimensions.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SECURITY AND RESPONSIBLE AI</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Three layers of protection</a:t>
            </a:r>
            <a:endParaRPr lang="en-US" sz="2800" dirty="0"/>
          </a:p>
        </p:txBody>
      </p:sp>
      <p:sp>
        <p:nvSpPr>
          <p:cNvPr id="4" name="Text 2"/>
          <p:cNvSpPr txBox="1"/>
          <p:nvPr/>
        </p:nvSpPr>
        <p:spPr>
          <a:xfrm>
            <a:off x="548640" y="1188720"/>
            <a:ext cx="8229600" cy="320040"/>
          </a:xfrm>
          <a:prstGeom prst="rect">
            <a:avLst/>
          </a:prstGeom>
          <a:noFill/>
          <a:ln/>
        </p:spPr>
        <p:txBody>
          <a:bodyPr wrap="square" lIns="0" tIns="0" rIns="0" bIns="0" rtlCol="0" anchor="t"/>
          <a:lstStyle/>
          <a:p>
            <a:pPr indent="0" marL="0">
              <a:buNone/>
            </a:pPr>
            <a:r>
              <a:rPr lang="en-US" sz="1400" dirty="0">
                <a:solidFill>
                  <a:schemeClr val="tx2"/>
                </a:solidFill>
              </a:rPr>
              <a:t>Every AI request passes through all three before a draft reaches your team</a:t>
            </a:r>
            <a:endParaRPr lang="en-US" sz="1400" dirty="0"/>
          </a:p>
        </p:txBody>
      </p:sp>
      <p:sp>
        <p:nvSpPr>
          <p:cNvPr id="5" name="Shape 3"/>
          <p:cNvSpPr/>
          <p:nvPr/>
        </p:nvSpPr>
        <p:spPr>
          <a:xfrm>
            <a:off x="1463040" y="1737360"/>
            <a:ext cx="3017520" cy="3749040"/>
          </a:xfrm>
          <a:prstGeom prst="roundRect">
            <a:avLst>
              <a:gd name="adj" fmla="val 2424"/>
            </a:avLst>
          </a:prstGeom>
          <a:solidFill>
            <a:schemeClr val="bg2"/>
          </a:solidFill>
          <a:ln w="12700">
            <a:solidFill>
              <a:schemeClr val="bg2"/>
            </a:solidFill>
            <a:prstDash val="solid"/>
          </a:ln>
        </p:spPr>
      </p:sp>
      <p:sp>
        <p:nvSpPr>
          <p:cNvPr id="6" name="Text 4"/>
          <p:cNvSpPr txBox="1"/>
          <p:nvPr/>
        </p:nvSpPr>
        <p:spPr>
          <a:xfrm>
            <a:off x="1737360" y="1920240"/>
            <a:ext cx="2468880" cy="274320"/>
          </a:xfrm>
          <a:prstGeom prst="rect">
            <a:avLst/>
          </a:prstGeom>
          <a:noFill/>
          <a:ln/>
        </p:spPr>
        <p:txBody>
          <a:bodyPr wrap="square" lIns="0" tIns="0" rIns="0" bIns="0" rtlCol="0" anchor="t"/>
          <a:lstStyle/>
          <a:p>
            <a:pPr indent="0" marL="0">
              <a:buNone/>
            </a:pPr>
            <a:r>
              <a:rPr lang="en-US" sz="1100" b="1" spc="150" kern="0" dirty="0">
                <a:solidFill>
                  <a:schemeClr val="accent3"/>
                </a:solidFill>
              </a:rPr>
              <a:t>LAYER 1</a:t>
            </a:r>
            <a:endParaRPr lang="en-US" sz="1100" dirty="0"/>
          </a:p>
        </p:txBody>
      </p:sp>
      <p:sp>
        <p:nvSpPr>
          <p:cNvPr id="7" name="Text 5"/>
          <p:cNvSpPr txBox="1"/>
          <p:nvPr/>
        </p:nvSpPr>
        <p:spPr>
          <a:xfrm>
            <a:off x="1737360" y="2240280"/>
            <a:ext cx="2606040" cy="457200"/>
          </a:xfrm>
          <a:prstGeom prst="rect">
            <a:avLst/>
          </a:prstGeom>
          <a:noFill/>
          <a:ln/>
        </p:spPr>
        <p:txBody>
          <a:bodyPr wrap="square" lIns="0" tIns="0" rIns="0" bIns="0" rtlCol="0" anchor="t"/>
          <a:lstStyle/>
          <a:p>
            <a:pPr indent="0" marL="0">
              <a:buNone/>
            </a:pPr>
            <a:r>
              <a:rPr lang="en-US" sz="1800" b="1" dirty="0">
                <a:solidFill>
                  <a:schemeClr val="tx1"/>
                </a:solidFill>
              </a:rPr>
              <a:t>AI gateway</a:t>
            </a:r>
            <a:endParaRPr lang="en-US" sz="1800" dirty="0"/>
          </a:p>
        </p:txBody>
      </p:sp>
      <p:sp>
        <p:nvSpPr>
          <p:cNvPr id="8" name="Text 6"/>
          <p:cNvSpPr txBox="1"/>
          <p:nvPr/>
        </p:nvSpPr>
        <p:spPr>
          <a:xfrm>
            <a:off x="1737360" y="2743200"/>
            <a:ext cx="2468880" cy="548640"/>
          </a:xfrm>
          <a:prstGeom prst="rect">
            <a:avLst/>
          </a:prstGeom>
          <a:noFill/>
          <a:ln/>
        </p:spPr>
        <p:txBody>
          <a:bodyPr wrap="square" lIns="0" tIns="0" rIns="0" bIns="0" rtlCol="0" anchor="t"/>
          <a:lstStyle/>
          <a:p>
            <a:pPr indent="0" marL="0">
              <a:buNone/>
            </a:pPr>
            <a:r>
              <a:rPr lang="en-US" sz="1300" i="1" dirty="0">
                <a:solidFill>
                  <a:schemeClr val="tx2"/>
                </a:solidFill>
              </a:rPr>
              <a:t>Checks every call to and from the AI</a:t>
            </a:r>
            <a:endParaRPr lang="en-US" sz="1300" dirty="0"/>
          </a:p>
        </p:txBody>
      </p:sp>
      <p:pic>
        <p:nvPicPr>
          <p:cNvPr id="9" name="Image 0" descr="preencoded.png">    </p:cNvPr>
          <p:cNvPicPr>
            <a:picLocks noChangeAspect="1"/>
          </p:cNvPicPr>
          <p:nvPr/>
        </p:nvPicPr>
        <p:blipFill>
          <a:blip r:embed="rId1"/>
          <a:stretch>
            <a:fillRect/>
          </a:stretch>
        </p:blipFill>
        <p:spPr>
          <a:xfrm>
            <a:off x="1737360" y="3474720"/>
            <a:ext cx="256032" cy="256032"/>
          </a:xfrm>
          <a:prstGeom prst="rect">
            <a:avLst/>
          </a:prstGeom>
        </p:spPr>
      </p:pic>
      <p:sp>
        <p:nvSpPr>
          <p:cNvPr id="10" name="Text 7"/>
          <p:cNvSpPr txBox="1"/>
          <p:nvPr/>
        </p:nvSpPr>
        <p:spPr>
          <a:xfrm>
            <a:off x="2148840" y="3401568"/>
            <a:ext cx="2148840" cy="457200"/>
          </a:xfrm>
          <a:prstGeom prst="rect">
            <a:avLst/>
          </a:prstGeom>
          <a:noFill/>
          <a:ln/>
        </p:spPr>
        <p:txBody>
          <a:bodyPr wrap="square" lIns="0" tIns="0" rIns="0" bIns="0" rtlCol="0" anchor="ctr"/>
          <a:lstStyle/>
          <a:p>
            <a:pPr indent="0" marL="0">
              <a:buNone/>
            </a:pPr>
            <a:r>
              <a:rPr lang="en-US" sz="1300" dirty="0">
                <a:solidFill>
                  <a:schemeClr val="tx1"/>
                </a:solidFill>
              </a:rPr>
              <a:t>Only features you switched on</a:t>
            </a:r>
            <a:endParaRPr lang="en-US" sz="1300" dirty="0"/>
          </a:p>
        </p:txBody>
      </p:sp>
      <p:pic>
        <p:nvPicPr>
          <p:cNvPr id="11" name="Image 1" descr="preencoded.png">    </p:cNvPr>
          <p:cNvPicPr>
            <a:picLocks noChangeAspect="1"/>
          </p:cNvPicPr>
          <p:nvPr/>
        </p:nvPicPr>
        <p:blipFill>
          <a:blip r:embed="rId2"/>
          <a:stretch>
            <a:fillRect/>
          </a:stretch>
        </p:blipFill>
        <p:spPr>
          <a:xfrm>
            <a:off x="1737360" y="4069080"/>
            <a:ext cx="256032" cy="256032"/>
          </a:xfrm>
          <a:prstGeom prst="rect">
            <a:avLst/>
          </a:prstGeom>
        </p:spPr>
      </p:pic>
      <p:sp>
        <p:nvSpPr>
          <p:cNvPr id="12" name="Text 8"/>
          <p:cNvSpPr txBox="1"/>
          <p:nvPr/>
        </p:nvSpPr>
        <p:spPr>
          <a:xfrm>
            <a:off x="2148840" y="3995928"/>
            <a:ext cx="2148840" cy="457200"/>
          </a:xfrm>
          <a:prstGeom prst="rect">
            <a:avLst/>
          </a:prstGeom>
          <a:noFill/>
          <a:ln/>
        </p:spPr>
        <p:txBody>
          <a:bodyPr wrap="square" lIns="0" tIns="0" rIns="0" bIns="0" rtlCol="0" anchor="ctr"/>
          <a:lstStyle/>
          <a:p>
            <a:pPr indent="0" marL="0">
              <a:buNone/>
            </a:pPr>
            <a:r>
              <a:rPr lang="en-US" sz="1300" dirty="0">
                <a:solidFill>
                  <a:schemeClr val="tx1"/>
                </a:solidFill>
              </a:rPr>
              <a:t>Sends the minimum data needed</a:t>
            </a:r>
            <a:endParaRPr lang="en-US" sz="1300" dirty="0"/>
          </a:p>
        </p:txBody>
      </p:sp>
      <p:pic>
        <p:nvPicPr>
          <p:cNvPr id="13" name="Image 2" descr="preencoded.png">    </p:cNvPr>
          <p:cNvPicPr>
            <a:picLocks noChangeAspect="1"/>
          </p:cNvPicPr>
          <p:nvPr/>
        </p:nvPicPr>
        <p:blipFill>
          <a:blip r:embed="rId3"/>
          <a:stretch>
            <a:fillRect/>
          </a:stretch>
        </p:blipFill>
        <p:spPr>
          <a:xfrm>
            <a:off x="1737360" y="4663440"/>
            <a:ext cx="256032" cy="256032"/>
          </a:xfrm>
          <a:prstGeom prst="rect">
            <a:avLst/>
          </a:prstGeom>
        </p:spPr>
      </p:pic>
      <p:sp>
        <p:nvSpPr>
          <p:cNvPr id="14" name="Text 9"/>
          <p:cNvSpPr txBox="1"/>
          <p:nvPr/>
        </p:nvSpPr>
        <p:spPr>
          <a:xfrm>
            <a:off x="2148840" y="4590288"/>
            <a:ext cx="2148840" cy="457200"/>
          </a:xfrm>
          <a:prstGeom prst="rect">
            <a:avLst/>
          </a:prstGeom>
          <a:noFill/>
          <a:ln/>
        </p:spPr>
        <p:txBody>
          <a:bodyPr wrap="square" lIns="0" tIns="0" rIns="0" bIns="0" rtlCol="0" anchor="ctr"/>
          <a:lstStyle/>
          <a:p>
            <a:pPr indent="0" marL="0">
              <a:buNone/>
            </a:pPr>
            <a:r>
              <a:rPr lang="en-US" sz="1300" dirty="0">
                <a:solidFill>
                  <a:schemeClr val="tx1"/>
                </a:solidFill>
              </a:rPr>
              <a:t>Logs metadata, never the prompt text</a:t>
            </a:r>
            <a:endParaRPr lang="en-US" sz="1300" dirty="0"/>
          </a:p>
        </p:txBody>
      </p:sp>
      <p:sp>
        <p:nvSpPr>
          <p:cNvPr id="15" name="Shape 10"/>
          <p:cNvSpPr/>
          <p:nvPr/>
        </p:nvSpPr>
        <p:spPr>
          <a:xfrm>
            <a:off x="4754880" y="1737360"/>
            <a:ext cx="3017520" cy="3749040"/>
          </a:xfrm>
          <a:prstGeom prst="roundRect">
            <a:avLst>
              <a:gd name="adj" fmla="val 2424"/>
            </a:avLst>
          </a:prstGeom>
          <a:solidFill>
            <a:schemeClr val="tx1"/>
          </a:solidFill>
          <a:ln w="12700">
            <a:solidFill>
              <a:schemeClr val="tx1"/>
            </a:solidFill>
            <a:prstDash val="solid"/>
          </a:ln>
        </p:spPr>
      </p:sp>
      <p:sp>
        <p:nvSpPr>
          <p:cNvPr id="16" name="Text 11"/>
          <p:cNvSpPr txBox="1"/>
          <p:nvPr/>
        </p:nvSpPr>
        <p:spPr>
          <a:xfrm>
            <a:off x="5029200" y="1920240"/>
            <a:ext cx="246888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LAYER 2</a:t>
            </a:r>
            <a:endParaRPr lang="en-US" sz="1100" dirty="0"/>
          </a:p>
        </p:txBody>
      </p:sp>
      <p:sp>
        <p:nvSpPr>
          <p:cNvPr id="17" name="Text 12"/>
          <p:cNvSpPr txBox="1"/>
          <p:nvPr/>
        </p:nvSpPr>
        <p:spPr>
          <a:xfrm>
            <a:off x="5029200" y="2240280"/>
            <a:ext cx="2606040" cy="457200"/>
          </a:xfrm>
          <a:prstGeom prst="rect">
            <a:avLst/>
          </a:prstGeom>
          <a:noFill/>
          <a:ln/>
        </p:spPr>
        <p:txBody>
          <a:bodyPr wrap="square" lIns="0" tIns="0" rIns="0" bIns="0" rtlCol="0" anchor="t"/>
          <a:lstStyle/>
          <a:p>
            <a:pPr indent="0" marL="0">
              <a:buNone/>
            </a:pPr>
            <a:r>
              <a:rPr lang="en-US" sz="1800" b="1" dirty="0">
                <a:solidFill>
                  <a:schemeClr val="bg1"/>
                </a:solidFill>
              </a:rPr>
              <a:t>Controlled agents</a:t>
            </a:r>
            <a:endParaRPr lang="en-US" sz="1800" dirty="0"/>
          </a:p>
        </p:txBody>
      </p:sp>
      <p:sp>
        <p:nvSpPr>
          <p:cNvPr id="18" name="Text 13"/>
          <p:cNvSpPr txBox="1"/>
          <p:nvPr/>
        </p:nvSpPr>
        <p:spPr>
          <a:xfrm>
            <a:off x="5029200" y="2743200"/>
            <a:ext cx="2468880" cy="548640"/>
          </a:xfrm>
          <a:prstGeom prst="rect">
            <a:avLst/>
          </a:prstGeom>
          <a:noFill/>
          <a:ln/>
        </p:spPr>
        <p:txBody>
          <a:bodyPr wrap="square" lIns="0" tIns="0" rIns="0" bIns="0" rtlCol="0" anchor="t"/>
          <a:lstStyle/>
          <a:p>
            <a:pPr indent="0" marL="0">
              <a:buNone/>
            </a:pPr>
            <a:r>
              <a:rPr lang="en-US" sz="1300" i="1" dirty="0">
                <a:solidFill>
                  <a:schemeClr val="accent6"/>
                </a:solidFill>
              </a:rPr>
              <a:t>Agents follow fixed, approved rules</a:t>
            </a:r>
            <a:endParaRPr lang="en-US" sz="1300" dirty="0"/>
          </a:p>
        </p:txBody>
      </p:sp>
      <p:pic>
        <p:nvPicPr>
          <p:cNvPr id="19" name="Image 3" descr="preencoded.png">    </p:cNvPr>
          <p:cNvPicPr>
            <a:picLocks noChangeAspect="1"/>
          </p:cNvPicPr>
          <p:nvPr/>
        </p:nvPicPr>
        <p:blipFill>
          <a:blip r:embed="rId4"/>
          <a:stretch>
            <a:fillRect/>
          </a:stretch>
        </p:blipFill>
        <p:spPr>
          <a:xfrm>
            <a:off x="5029200" y="3474720"/>
            <a:ext cx="256032" cy="256032"/>
          </a:xfrm>
          <a:prstGeom prst="rect">
            <a:avLst/>
          </a:prstGeom>
        </p:spPr>
      </p:pic>
      <p:sp>
        <p:nvSpPr>
          <p:cNvPr id="20" name="Text 14"/>
          <p:cNvSpPr txBox="1"/>
          <p:nvPr/>
        </p:nvSpPr>
        <p:spPr>
          <a:xfrm>
            <a:off x="5440680" y="3401568"/>
            <a:ext cx="2148840" cy="457200"/>
          </a:xfrm>
          <a:prstGeom prst="rect">
            <a:avLst/>
          </a:prstGeom>
          <a:noFill/>
          <a:ln/>
        </p:spPr>
        <p:txBody>
          <a:bodyPr wrap="square" lIns="0" tIns="0" rIns="0" bIns="0" rtlCol="0" anchor="ctr"/>
          <a:lstStyle/>
          <a:p>
            <a:pPr indent="0" marL="0">
              <a:buNone/>
            </a:pPr>
            <a:r>
              <a:rPr lang="en-US" sz="1300" dirty="0">
                <a:solidFill>
                  <a:schemeClr val="bg1"/>
                </a:solidFill>
              </a:rPr>
              <a:t>Versioned prompt templates</a:t>
            </a:r>
            <a:endParaRPr lang="en-US" sz="1300" dirty="0"/>
          </a:p>
        </p:txBody>
      </p:sp>
      <p:pic>
        <p:nvPicPr>
          <p:cNvPr id="21" name="Image 4" descr="preencoded.png">    </p:cNvPr>
          <p:cNvPicPr>
            <a:picLocks noChangeAspect="1"/>
          </p:cNvPicPr>
          <p:nvPr/>
        </p:nvPicPr>
        <p:blipFill>
          <a:blip r:embed="rId5"/>
          <a:stretch>
            <a:fillRect/>
          </a:stretch>
        </p:blipFill>
        <p:spPr>
          <a:xfrm>
            <a:off x="5029200" y="4069080"/>
            <a:ext cx="256032" cy="256032"/>
          </a:xfrm>
          <a:prstGeom prst="rect">
            <a:avLst/>
          </a:prstGeom>
        </p:spPr>
      </p:pic>
      <p:sp>
        <p:nvSpPr>
          <p:cNvPr id="22" name="Text 15"/>
          <p:cNvSpPr txBox="1"/>
          <p:nvPr/>
        </p:nvSpPr>
        <p:spPr>
          <a:xfrm>
            <a:off x="5440680" y="3995928"/>
            <a:ext cx="2148840" cy="457200"/>
          </a:xfrm>
          <a:prstGeom prst="rect">
            <a:avLst/>
          </a:prstGeom>
          <a:noFill/>
          <a:ln/>
        </p:spPr>
        <p:txBody>
          <a:bodyPr wrap="square" lIns="0" tIns="0" rIns="0" bIns="0" rtlCol="0" anchor="ctr"/>
          <a:lstStyle/>
          <a:p>
            <a:pPr indent="0" marL="0">
              <a:buNone/>
            </a:pPr>
            <a:r>
              <a:rPr lang="en-US" sz="1300" dirty="0">
                <a:solidFill>
                  <a:schemeClr val="bg1"/>
                </a:solidFill>
              </a:rPr>
              <a:t>Approved claims and plays only</a:t>
            </a:r>
            <a:endParaRPr lang="en-US" sz="1300" dirty="0"/>
          </a:p>
        </p:txBody>
      </p:sp>
      <p:pic>
        <p:nvPicPr>
          <p:cNvPr id="23" name="Image 5" descr="preencoded.png">    </p:cNvPr>
          <p:cNvPicPr>
            <a:picLocks noChangeAspect="1"/>
          </p:cNvPicPr>
          <p:nvPr/>
        </p:nvPicPr>
        <p:blipFill>
          <a:blip r:embed="rId6"/>
          <a:stretch>
            <a:fillRect/>
          </a:stretch>
        </p:blipFill>
        <p:spPr>
          <a:xfrm>
            <a:off x="5029200" y="4663440"/>
            <a:ext cx="256032" cy="256032"/>
          </a:xfrm>
          <a:prstGeom prst="rect">
            <a:avLst/>
          </a:prstGeom>
        </p:spPr>
      </p:pic>
      <p:sp>
        <p:nvSpPr>
          <p:cNvPr id="24" name="Text 16"/>
          <p:cNvSpPr txBox="1"/>
          <p:nvPr/>
        </p:nvSpPr>
        <p:spPr>
          <a:xfrm>
            <a:off x="5440680" y="4590288"/>
            <a:ext cx="2148840" cy="457200"/>
          </a:xfrm>
          <a:prstGeom prst="rect">
            <a:avLst/>
          </a:prstGeom>
          <a:noFill/>
          <a:ln/>
        </p:spPr>
        <p:txBody>
          <a:bodyPr wrap="square" lIns="0" tIns="0" rIns="0" bIns="0" rtlCol="0" anchor="ctr"/>
          <a:lstStyle/>
          <a:p>
            <a:pPr indent="0" marL="0">
              <a:buNone/>
            </a:pPr>
            <a:r>
              <a:rPr lang="en-US" sz="1300" dirty="0">
                <a:solidFill>
                  <a:schemeClr val="bg1"/>
                </a:solidFill>
              </a:rPr>
              <a:t>Every action tied to a user</a:t>
            </a:r>
            <a:endParaRPr lang="en-US" sz="1300" dirty="0"/>
          </a:p>
        </p:txBody>
      </p:sp>
      <p:sp>
        <p:nvSpPr>
          <p:cNvPr id="25" name="Shape 17"/>
          <p:cNvSpPr/>
          <p:nvPr/>
        </p:nvSpPr>
        <p:spPr>
          <a:xfrm>
            <a:off x="8046720" y="1737360"/>
            <a:ext cx="3017520" cy="3749040"/>
          </a:xfrm>
          <a:prstGeom prst="roundRect">
            <a:avLst>
              <a:gd name="adj" fmla="val 2424"/>
            </a:avLst>
          </a:prstGeom>
          <a:solidFill>
            <a:schemeClr val="bg2"/>
          </a:solidFill>
          <a:ln w="12700">
            <a:solidFill>
              <a:schemeClr val="bg2"/>
            </a:solidFill>
            <a:prstDash val="solid"/>
          </a:ln>
        </p:spPr>
      </p:sp>
      <p:sp>
        <p:nvSpPr>
          <p:cNvPr id="26" name="Text 18"/>
          <p:cNvSpPr txBox="1"/>
          <p:nvPr/>
        </p:nvSpPr>
        <p:spPr>
          <a:xfrm>
            <a:off x="8321040" y="1920240"/>
            <a:ext cx="2468880" cy="274320"/>
          </a:xfrm>
          <a:prstGeom prst="rect">
            <a:avLst/>
          </a:prstGeom>
          <a:noFill/>
          <a:ln/>
        </p:spPr>
        <p:txBody>
          <a:bodyPr wrap="square" lIns="0" tIns="0" rIns="0" bIns="0" rtlCol="0" anchor="t"/>
          <a:lstStyle/>
          <a:p>
            <a:pPr indent="0" marL="0">
              <a:buNone/>
            </a:pPr>
            <a:r>
              <a:rPr lang="en-US" sz="1100" b="1" spc="150" kern="0" dirty="0">
                <a:solidFill>
                  <a:schemeClr val="accent3"/>
                </a:solidFill>
              </a:rPr>
              <a:t>LAYER 3</a:t>
            </a:r>
            <a:endParaRPr lang="en-US" sz="1100" dirty="0"/>
          </a:p>
        </p:txBody>
      </p:sp>
      <p:sp>
        <p:nvSpPr>
          <p:cNvPr id="27" name="Text 19"/>
          <p:cNvSpPr txBox="1"/>
          <p:nvPr/>
        </p:nvSpPr>
        <p:spPr>
          <a:xfrm>
            <a:off x="8321040" y="2240280"/>
            <a:ext cx="2606040" cy="457200"/>
          </a:xfrm>
          <a:prstGeom prst="rect">
            <a:avLst/>
          </a:prstGeom>
          <a:noFill/>
          <a:ln/>
        </p:spPr>
        <p:txBody>
          <a:bodyPr wrap="square" lIns="0" tIns="0" rIns="0" bIns="0" rtlCol="0" anchor="t"/>
          <a:lstStyle/>
          <a:p>
            <a:pPr indent="0" marL="0">
              <a:buNone/>
            </a:pPr>
            <a:r>
              <a:rPr lang="en-US" sz="1800" b="1" dirty="0">
                <a:solidFill>
                  <a:schemeClr val="tx1"/>
                </a:solidFill>
              </a:rPr>
              <a:t>Draft checks</a:t>
            </a:r>
            <a:endParaRPr lang="en-US" sz="1800" dirty="0"/>
          </a:p>
        </p:txBody>
      </p:sp>
      <p:sp>
        <p:nvSpPr>
          <p:cNvPr id="28" name="Text 20"/>
          <p:cNvSpPr txBox="1"/>
          <p:nvPr/>
        </p:nvSpPr>
        <p:spPr>
          <a:xfrm>
            <a:off x="8321040" y="2743200"/>
            <a:ext cx="2468880" cy="548640"/>
          </a:xfrm>
          <a:prstGeom prst="rect">
            <a:avLst/>
          </a:prstGeom>
          <a:noFill/>
          <a:ln/>
        </p:spPr>
        <p:txBody>
          <a:bodyPr wrap="square" lIns="0" tIns="0" rIns="0" bIns="0" rtlCol="0" anchor="t"/>
          <a:lstStyle/>
          <a:p>
            <a:pPr indent="0" marL="0">
              <a:buNone/>
            </a:pPr>
            <a:r>
              <a:rPr lang="en-US" sz="1300" i="1" dirty="0">
                <a:solidFill>
                  <a:schemeClr val="tx2"/>
                </a:solidFill>
              </a:rPr>
              <a:t>Every draft checked before you see it</a:t>
            </a:r>
            <a:endParaRPr lang="en-US" sz="1300" dirty="0"/>
          </a:p>
        </p:txBody>
      </p:sp>
      <p:pic>
        <p:nvPicPr>
          <p:cNvPr id="29" name="Image 6" descr="preencoded.png">    </p:cNvPr>
          <p:cNvPicPr>
            <a:picLocks noChangeAspect="1"/>
          </p:cNvPicPr>
          <p:nvPr/>
        </p:nvPicPr>
        <p:blipFill>
          <a:blip r:embed="rId7"/>
          <a:stretch>
            <a:fillRect/>
          </a:stretch>
        </p:blipFill>
        <p:spPr>
          <a:xfrm>
            <a:off x="8321040" y="3474720"/>
            <a:ext cx="256032" cy="256032"/>
          </a:xfrm>
          <a:prstGeom prst="rect">
            <a:avLst/>
          </a:prstGeom>
        </p:spPr>
      </p:pic>
      <p:sp>
        <p:nvSpPr>
          <p:cNvPr id="30" name="Text 21"/>
          <p:cNvSpPr txBox="1"/>
          <p:nvPr/>
        </p:nvSpPr>
        <p:spPr>
          <a:xfrm>
            <a:off x="8732520" y="3401568"/>
            <a:ext cx="2148840" cy="457200"/>
          </a:xfrm>
          <a:prstGeom prst="rect">
            <a:avLst/>
          </a:prstGeom>
          <a:noFill/>
          <a:ln/>
        </p:spPr>
        <p:txBody>
          <a:bodyPr wrap="square" lIns="0" tIns="0" rIns="0" bIns="0" rtlCol="0" anchor="ctr"/>
          <a:lstStyle/>
          <a:p>
            <a:pPr indent="0" marL="0">
              <a:buNone/>
            </a:pPr>
            <a:r>
              <a:rPr lang="en-US" sz="1300" dirty="0">
                <a:solidFill>
                  <a:schemeClr val="tx1"/>
                </a:solidFill>
              </a:rPr>
              <a:t>Brand, claim and consent checks</a:t>
            </a:r>
            <a:endParaRPr lang="en-US" sz="1300" dirty="0"/>
          </a:p>
        </p:txBody>
      </p:sp>
      <p:pic>
        <p:nvPicPr>
          <p:cNvPr id="31" name="Image 7" descr="preencoded.png">    </p:cNvPr>
          <p:cNvPicPr>
            <a:picLocks noChangeAspect="1"/>
          </p:cNvPicPr>
          <p:nvPr/>
        </p:nvPicPr>
        <p:blipFill>
          <a:blip r:embed="rId8"/>
          <a:stretch>
            <a:fillRect/>
          </a:stretch>
        </p:blipFill>
        <p:spPr>
          <a:xfrm>
            <a:off x="8321040" y="4069080"/>
            <a:ext cx="256032" cy="256032"/>
          </a:xfrm>
          <a:prstGeom prst="rect">
            <a:avLst/>
          </a:prstGeom>
        </p:spPr>
      </p:pic>
      <p:sp>
        <p:nvSpPr>
          <p:cNvPr id="32" name="Text 22"/>
          <p:cNvSpPr txBox="1"/>
          <p:nvPr/>
        </p:nvSpPr>
        <p:spPr>
          <a:xfrm>
            <a:off x="8732520" y="3995928"/>
            <a:ext cx="2148840" cy="457200"/>
          </a:xfrm>
          <a:prstGeom prst="rect">
            <a:avLst/>
          </a:prstGeom>
          <a:noFill/>
          <a:ln/>
        </p:spPr>
        <p:txBody>
          <a:bodyPr wrap="square" lIns="0" tIns="0" rIns="0" bIns="0" rtlCol="0" anchor="ctr"/>
          <a:lstStyle/>
          <a:p>
            <a:pPr indent="0" marL="0">
              <a:buNone/>
            </a:pPr>
            <a:r>
              <a:rPr lang="en-US" sz="1300" dirty="0">
                <a:solidFill>
                  <a:schemeClr val="tx1"/>
                </a:solidFill>
              </a:rPr>
              <a:t>Sensitive topics to a manager</a:t>
            </a:r>
            <a:endParaRPr lang="en-US" sz="1300" dirty="0"/>
          </a:p>
        </p:txBody>
      </p:sp>
      <p:pic>
        <p:nvPicPr>
          <p:cNvPr id="33" name="Image 8" descr="preencoded.png">    </p:cNvPr>
          <p:cNvPicPr>
            <a:picLocks noChangeAspect="1"/>
          </p:cNvPicPr>
          <p:nvPr/>
        </p:nvPicPr>
        <p:blipFill>
          <a:blip r:embed="rId9"/>
          <a:stretch>
            <a:fillRect/>
          </a:stretch>
        </p:blipFill>
        <p:spPr>
          <a:xfrm>
            <a:off x="8321040" y="4663440"/>
            <a:ext cx="256032" cy="256032"/>
          </a:xfrm>
          <a:prstGeom prst="rect">
            <a:avLst/>
          </a:prstGeom>
        </p:spPr>
      </p:pic>
      <p:sp>
        <p:nvSpPr>
          <p:cNvPr id="34" name="Text 23"/>
          <p:cNvSpPr txBox="1"/>
          <p:nvPr/>
        </p:nvSpPr>
        <p:spPr>
          <a:xfrm>
            <a:off x="8732520" y="4590288"/>
            <a:ext cx="2148840" cy="457200"/>
          </a:xfrm>
          <a:prstGeom prst="rect">
            <a:avLst/>
          </a:prstGeom>
          <a:noFill/>
          <a:ln/>
        </p:spPr>
        <p:txBody>
          <a:bodyPr wrap="square" lIns="0" tIns="0" rIns="0" bIns="0" rtlCol="0" anchor="ctr"/>
          <a:lstStyle/>
          <a:p>
            <a:pPr indent="0" marL="0">
              <a:buNone/>
            </a:pPr>
            <a:r>
              <a:rPr lang="en-US" sz="1300" dirty="0">
                <a:solidFill>
                  <a:schemeClr val="tx1"/>
                </a:solidFill>
              </a:rPr>
              <a:t>Rules fallback if a check fails</a:t>
            </a:r>
            <a:endParaRPr lang="en-US" sz="1300" dirty="0"/>
          </a:p>
        </p:txBody>
      </p:sp>
      <p:sp>
        <p:nvSpPr>
          <p:cNvPr id="35" name="Text 24"/>
          <p:cNvSpPr txBox="1"/>
          <p:nvPr/>
        </p:nvSpPr>
        <p:spPr>
          <a:xfrm>
            <a:off x="274320" y="3291840"/>
            <a:ext cx="777240" cy="548640"/>
          </a:xfrm>
          <a:prstGeom prst="rect">
            <a:avLst/>
          </a:prstGeom>
          <a:noFill/>
          <a:ln/>
        </p:spPr>
        <p:txBody>
          <a:bodyPr wrap="square" lIns="0" tIns="0" rIns="0" bIns="0" rtlCol="0" anchor="ctr"/>
          <a:lstStyle/>
          <a:p>
            <a:pPr algn="ctr" indent="0" marL="0">
              <a:buNone/>
            </a:pPr>
            <a:r>
              <a:rPr lang="en-US" sz="1200" b="1" dirty="0">
                <a:solidFill>
                  <a:schemeClr val="tx1"/>
                </a:solidFill>
              </a:rPr>
              <a:t>Your data</a:t>
            </a:r>
            <a:endParaRPr lang="en-US" sz="1200" dirty="0"/>
          </a:p>
        </p:txBody>
      </p:sp>
      <p:sp>
        <p:nvSpPr>
          <p:cNvPr id="36" name="Text 25"/>
          <p:cNvSpPr txBox="1"/>
          <p:nvPr/>
        </p:nvSpPr>
        <p:spPr>
          <a:xfrm>
            <a:off x="11338560" y="3291840"/>
            <a:ext cx="777240" cy="548640"/>
          </a:xfrm>
          <a:prstGeom prst="rect">
            <a:avLst/>
          </a:prstGeom>
          <a:noFill/>
          <a:ln/>
        </p:spPr>
        <p:txBody>
          <a:bodyPr wrap="square" lIns="0" tIns="0" rIns="0" bIns="0" rtlCol="0" anchor="ctr"/>
          <a:lstStyle/>
          <a:p>
            <a:pPr algn="ctr" indent="0" marL="0">
              <a:buNone/>
            </a:pPr>
            <a:r>
              <a:rPr lang="en-US" sz="1200" b="1" dirty="0">
                <a:solidFill>
                  <a:schemeClr val="tx1"/>
                </a:solidFill>
              </a:rPr>
              <a:t>Draft you see</a:t>
            </a:r>
            <a:endParaRPr lang="en-US" sz="1200" dirty="0"/>
          </a:p>
        </p:txBody>
      </p:sp>
      <p:pic>
        <p:nvPicPr>
          <p:cNvPr id="37" name="Image 9" descr="preencoded.png">    </p:cNvPr>
          <p:cNvPicPr>
            <a:picLocks noChangeAspect="1"/>
          </p:cNvPicPr>
          <p:nvPr/>
        </p:nvPicPr>
        <p:blipFill>
          <a:blip r:embed="rId10"/>
          <a:stretch>
            <a:fillRect/>
          </a:stretch>
        </p:blipFill>
        <p:spPr>
          <a:xfrm>
            <a:off x="1143000" y="3456432"/>
            <a:ext cx="228600" cy="228600"/>
          </a:xfrm>
          <a:prstGeom prst="rect">
            <a:avLst/>
          </a:prstGeom>
        </p:spPr>
      </p:pic>
      <p:pic>
        <p:nvPicPr>
          <p:cNvPr id="38" name="Image 10" descr="preencoded.png">    </p:cNvPr>
          <p:cNvPicPr>
            <a:picLocks noChangeAspect="1"/>
          </p:cNvPicPr>
          <p:nvPr/>
        </p:nvPicPr>
        <p:blipFill>
          <a:blip r:embed="rId11"/>
          <a:stretch>
            <a:fillRect/>
          </a:stretch>
        </p:blipFill>
        <p:spPr>
          <a:xfrm>
            <a:off x="11082528" y="3456432"/>
            <a:ext cx="228600" cy="228600"/>
          </a:xfrm>
          <a:prstGeom prst="rect">
            <a:avLst/>
          </a:prstGeom>
        </p:spPr>
      </p:pic>
      <p:sp>
        <p:nvSpPr>
          <p:cNvPr id="39" name="Shape 26"/>
          <p:cNvSpPr/>
          <p:nvPr/>
        </p:nvSpPr>
        <p:spPr>
          <a:xfrm>
            <a:off x="1463040" y="5669280"/>
            <a:ext cx="9601200" cy="457200"/>
          </a:xfrm>
          <a:prstGeom prst="roundRect">
            <a:avLst>
              <a:gd name="adj" fmla="val 16000"/>
            </a:avLst>
          </a:prstGeom>
          <a:solidFill>
            <a:schemeClr val="accent5"/>
          </a:solidFill>
          <a:ln w="12700">
            <a:solidFill>
              <a:schemeClr val="accent5"/>
            </a:solidFill>
            <a:prstDash val="solid"/>
          </a:ln>
        </p:spPr>
      </p:sp>
      <p:pic>
        <p:nvPicPr>
          <p:cNvPr id="40" name="Image 11" descr="preencoded.png">    </p:cNvPr>
          <p:cNvPicPr>
            <a:picLocks noChangeAspect="1"/>
          </p:cNvPicPr>
          <p:nvPr/>
        </p:nvPicPr>
        <p:blipFill>
          <a:blip r:embed="rId12"/>
          <a:stretch>
            <a:fillRect/>
          </a:stretch>
        </p:blipFill>
        <p:spPr>
          <a:xfrm>
            <a:off x="1645920" y="5760720"/>
            <a:ext cx="274320" cy="274320"/>
          </a:xfrm>
          <a:prstGeom prst="rect">
            <a:avLst/>
          </a:prstGeom>
        </p:spPr>
      </p:pic>
      <p:sp>
        <p:nvSpPr>
          <p:cNvPr id="41" name="Text 27"/>
          <p:cNvSpPr txBox="1"/>
          <p:nvPr/>
        </p:nvSpPr>
        <p:spPr>
          <a:xfrm>
            <a:off x="2057400" y="5669280"/>
            <a:ext cx="8869680" cy="457200"/>
          </a:xfrm>
          <a:prstGeom prst="rect">
            <a:avLst/>
          </a:prstGeom>
          <a:noFill/>
          <a:ln/>
        </p:spPr>
        <p:txBody>
          <a:bodyPr wrap="square" lIns="0" tIns="0" rIns="0" bIns="0" rtlCol="0" anchor="ctr"/>
          <a:lstStyle/>
          <a:p>
            <a:pPr indent="0" marL="0">
              <a:buNone/>
            </a:pPr>
            <a:r>
              <a:rPr lang="en-US" sz="1400" b="1" dirty="0">
                <a:solidFill>
                  <a:schemeClr val="tx1"/>
                </a:solidFill>
              </a:rPr>
              <a:t>If anything is flagged at any layer, the draft stops and the rules version or a person takes over.</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SECURITY AND RESPONSIBLE AI</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Network, access and governance</a:t>
            </a:r>
            <a:endParaRPr lang="en-US" sz="2800" dirty="0"/>
          </a:p>
        </p:txBody>
      </p:sp>
      <p:sp>
        <p:nvSpPr>
          <p:cNvPr id="4" name="Text 2"/>
          <p:cNvSpPr txBox="1"/>
          <p:nvPr/>
        </p:nvSpPr>
        <p:spPr>
          <a:xfrm>
            <a:off x="548640" y="1417320"/>
            <a:ext cx="5394960" cy="411480"/>
          </a:xfrm>
          <a:prstGeom prst="rect">
            <a:avLst/>
          </a:prstGeom>
          <a:noFill/>
          <a:ln/>
        </p:spPr>
        <p:txBody>
          <a:bodyPr wrap="square" lIns="0" tIns="0" rIns="0" bIns="0" rtlCol="0" anchor="t"/>
          <a:lstStyle/>
          <a:p>
            <a:pPr indent="0" marL="0">
              <a:buNone/>
            </a:pPr>
            <a:r>
              <a:rPr lang="en-US" sz="1800" b="1" dirty="0">
                <a:solidFill>
                  <a:schemeClr val="tx1"/>
                </a:solidFill>
              </a:rPr>
              <a:t>Network and access</a:t>
            </a:r>
            <a:endParaRPr lang="en-US" sz="1800" dirty="0"/>
          </a:p>
        </p:txBody>
      </p:sp>
      <p:sp>
        <p:nvSpPr>
          <p:cNvPr id="5" name="Shape 3"/>
          <p:cNvSpPr/>
          <p:nvPr/>
        </p:nvSpPr>
        <p:spPr>
          <a:xfrm>
            <a:off x="548640" y="1920240"/>
            <a:ext cx="5394960" cy="548640"/>
          </a:xfrm>
          <a:prstGeom prst="roundRect">
            <a:avLst>
              <a:gd name="adj" fmla="val 13333"/>
            </a:avLst>
          </a:prstGeom>
          <a:solidFill>
            <a:schemeClr val="bg2"/>
          </a:solidFill>
          <a:ln w="12700">
            <a:solidFill>
              <a:schemeClr val="bg2"/>
            </a:solidFill>
            <a:prstDash val="solid"/>
          </a:ln>
        </p:spPr>
      </p:sp>
      <p:pic>
        <p:nvPicPr>
          <p:cNvPr id="6" name="Image 0" descr="preencoded.png">    </p:cNvPr>
          <p:cNvPicPr>
            <a:picLocks noChangeAspect="1"/>
          </p:cNvPicPr>
          <p:nvPr/>
        </p:nvPicPr>
        <p:blipFill>
          <a:blip r:embed="rId1"/>
          <a:stretch>
            <a:fillRect/>
          </a:stretch>
        </p:blipFill>
        <p:spPr>
          <a:xfrm>
            <a:off x="731520" y="2048256"/>
            <a:ext cx="274320" cy="274320"/>
          </a:xfrm>
          <a:prstGeom prst="rect">
            <a:avLst/>
          </a:prstGeom>
        </p:spPr>
      </p:pic>
      <p:sp>
        <p:nvSpPr>
          <p:cNvPr id="7" name="Text 4"/>
          <p:cNvSpPr txBox="1"/>
          <p:nvPr/>
        </p:nvSpPr>
        <p:spPr>
          <a:xfrm>
            <a:off x="1188720" y="1920240"/>
            <a:ext cx="4572000" cy="548640"/>
          </a:xfrm>
          <a:prstGeom prst="rect">
            <a:avLst/>
          </a:prstGeom>
          <a:noFill/>
          <a:ln/>
        </p:spPr>
        <p:txBody>
          <a:bodyPr wrap="square" lIns="0" tIns="0" rIns="0" bIns="0" rtlCol="0" anchor="ctr"/>
          <a:lstStyle/>
          <a:p>
            <a:pPr indent="0" marL="0">
              <a:buNone/>
            </a:pPr>
            <a:r>
              <a:rPr lang="en-US" sz="1400" dirty="0">
                <a:solidFill>
                  <a:schemeClr val="tx1"/>
                </a:solidFill>
              </a:rPr>
              <a:t>No exposure to the public internet</a:t>
            </a:r>
            <a:endParaRPr lang="en-US" sz="1400" dirty="0"/>
          </a:p>
        </p:txBody>
      </p:sp>
      <p:sp>
        <p:nvSpPr>
          <p:cNvPr id="8" name="Shape 5"/>
          <p:cNvSpPr/>
          <p:nvPr/>
        </p:nvSpPr>
        <p:spPr>
          <a:xfrm>
            <a:off x="548640" y="2578608"/>
            <a:ext cx="5394960" cy="548640"/>
          </a:xfrm>
          <a:prstGeom prst="roundRect">
            <a:avLst>
              <a:gd name="adj" fmla="val 13333"/>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731520" y="2706624"/>
            <a:ext cx="274320" cy="274320"/>
          </a:xfrm>
          <a:prstGeom prst="rect">
            <a:avLst/>
          </a:prstGeom>
        </p:spPr>
      </p:pic>
      <p:sp>
        <p:nvSpPr>
          <p:cNvPr id="10" name="Text 6"/>
          <p:cNvSpPr txBox="1"/>
          <p:nvPr/>
        </p:nvSpPr>
        <p:spPr>
          <a:xfrm>
            <a:off x="1188720" y="2578608"/>
            <a:ext cx="4572000" cy="548640"/>
          </a:xfrm>
          <a:prstGeom prst="rect">
            <a:avLst/>
          </a:prstGeom>
          <a:noFill/>
          <a:ln/>
        </p:spPr>
        <p:txBody>
          <a:bodyPr wrap="square" lIns="0" tIns="0" rIns="0" bIns="0" rtlCol="0" anchor="ctr"/>
          <a:lstStyle/>
          <a:p>
            <a:pPr indent="0" marL="0">
              <a:buNone/>
            </a:pPr>
            <a:r>
              <a:rPr lang="en-US" sz="1400" dirty="0">
                <a:solidFill>
                  <a:schemeClr val="tx1"/>
                </a:solidFill>
              </a:rPr>
              <a:t>TLS everywhere; a nonce-based content policy</a:t>
            </a:r>
            <a:endParaRPr lang="en-US" sz="1400" dirty="0"/>
          </a:p>
        </p:txBody>
      </p:sp>
      <p:sp>
        <p:nvSpPr>
          <p:cNvPr id="11" name="Shape 7"/>
          <p:cNvSpPr/>
          <p:nvPr/>
        </p:nvSpPr>
        <p:spPr>
          <a:xfrm>
            <a:off x="548640" y="3236976"/>
            <a:ext cx="5394960" cy="548640"/>
          </a:xfrm>
          <a:prstGeom prst="roundRect">
            <a:avLst>
              <a:gd name="adj" fmla="val 13333"/>
            </a:avLst>
          </a:prstGeom>
          <a:solidFill>
            <a:schemeClr val="bg2"/>
          </a:solidFill>
          <a:ln w="12700">
            <a:solidFill>
              <a:schemeClr val="bg2"/>
            </a:solidFill>
            <a:prstDash val="solid"/>
          </a:ln>
        </p:spPr>
      </p:sp>
      <p:pic>
        <p:nvPicPr>
          <p:cNvPr id="12" name="Image 2" descr="preencoded.png">    </p:cNvPr>
          <p:cNvPicPr>
            <a:picLocks noChangeAspect="1"/>
          </p:cNvPicPr>
          <p:nvPr/>
        </p:nvPicPr>
        <p:blipFill>
          <a:blip r:embed="rId3"/>
          <a:stretch>
            <a:fillRect/>
          </a:stretch>
        </p:blipFill>
        <p:spPr>
          <a:xfrm>
            <a:off x="731520" y="3364992"/>
            <a:ext cx="274320" cy="274320"/>
          </a:xfrm>
          <a:prstGeom prst="rect">
            <a:avLst/>
          </a:prstGeom>
        </p:spPr>
      </p:pic>
      <p:sp>
        <p:nvSpPr>
          <p:cNvPr id="13" name="Text 8"/>
          <p:cNvSpPr txBox="1"/>
          <p:nvPr/>
        </p:nvSpPr>
        <p:spPr>
          <a:xfrm>
            <a:off x="1188720" y="3236976"/>
            <a:ext cx="4572000" cy="548640"/>
          </a:xfrm>
          <a:prstGeom prst="rect">
            <a:avLst/>
          </a:prstGeom>
          <a:noFill/>
          <a:ln/>
        </p:spPr>
        <p:txBody>
          <a:bodyPr wrap="square" lIns="0" tIns="0" rIns="0" bIns="0" rtlCol="0" anchor="ctr"/>
          <a:lstStyle/>
          <a:p>
            <a:pPr indent="0" marL="0">
              <a:buNone/>
            </a:pPr>
            <a:r>
              <a:rPr lang="en-US" sz="1400" dirty="0">
                <a:solidFill>
                  <a:schemeClr val="tx1"/>
                </a:solidFill>
              </a:rPr>
              <a:t>Invite-only sign-in with lockout; SSO at go-live</a:t>
            </a:r>
            <a:endParaRPr lang="en-US" sz="1400" dirty="0"/>
          </a:p>
        </p:txBody>
      </p:sp>
      <p:sp>
        <p:nvSpPr>
          <p:cNvPr id="14" name="Shape 9"/>
          <p:cNvSpPr/>
          <p:nvPr/>
        </p:nvSpPr>
        <p:spPr>
          <a:xfrm>
            <a:off x="548640" y="3895344"/>
            <a:ext cx="5394960" cy="548640"/>
          </a:xfrm>
          <a:prstGeom prst="roundRect">
            <a:avLst>
              <a:gd name="adj" fmla="val 13333"/>
            </a:avLst>
          </a:prstGeom>
          <a:solidFill>
            <a:schemeClr val="bg2"/>
          </a:solidFill>
          <a:ln w="12700">
            <a:solidFill>
              <a:schemeClr val="bg2"/>
            </a:solidFill>
            <a:prstDash val="solid"/>
          </a:ln>
        </p:spPr>
      </p:sp>
      <p:pic>
        <p:nvPicPr>
          <p:cNvPr id="15" name="Image 3" descr="preencoded.png">    </p:cNvPr>
          <p:cNvPicPr>
            <a:picLocks noChangeAspect="1"/>
          </p:cNvPicPr>
          <p:nvPr/>
        </p:nvPicPr>
        <p:blipFill>
          <a:blip r:embed="rId4"/>
          <a:stretch>
            <a:fillRect/>
          </a:stretch>
        </p:blipFill>
        <p:spPr>
          <a:xfrm>
            <a:off x="731520" y="4023360"/>
            <a:ext cx="274320" cy="274320"/>
          </a:xfrm>
          <a:prstGeom prst="rect">
            <a:avLst/>
          </a:prstGeom>
        </p:spPr>
      </p:pic>
      <p:sp>
        <p:nvSpPr>
          <p:cNvPr id="16" name="Text 10"/>
          <p:cNvSpPr txBox="1"/>
          <p:nvPr/>
        </p:nvSpPr>
        <p:spPr>
          <a:xfrm>
            <a:off x="1188720" y="3895344"/>
            <a:ext cx="4572000" cy="548640"/>
          </a:xfrm>
          <a:prstGeom prst="rect">
            <a:avLst/>
          </a:prstGeom>
          <a:noFill/>
          <a:ln/>
        </p:spPr>
        <p:txBody>
          <a:bodyPr wrap="square" lIns="0" tIns="0" rIns="0" bIns="0" rtlCol="0" anchor="ctr"/>
          <a:lstStyle/>
          <a:p>
            <a:pPr indent="0" marL="0">
              <a:buNone/>
            </a:pPr>
            <a:r>
              <a:rPr lang="en-US" sz="1400" dirty="0">
                <a:solidFill>
                  <a:schemeClr val="tx1"/>
                </a:solidFill>
              </a:rPr>
              <a:t>Row-level security per business unit and owner</a:t>
            </a:r>
            <a:endParaRPr lang="en-US" sz="1400" dirty="0"/>
          </a:p>
        </p:txBody>
      </p:sp>
      <p:sp>
        <p:nvSpPr>
          <p:cNvPr id="17" name="Text 11"/>
          <p:cNvSpPr txBox="1"/>
          <p:nvPr/>
        </p:nvSpPr>
        <p:spPr>
          <a:xfrm>
            <a:off x="6172200" y="1417320"/>
            <a:ext cx="5394960" cy="411480"/>
          </a:xfrm>
          <a:prstGeom prst="rect">
            <a:avLst/>
          </a:prstGeom>
          <a:noFill/>
          <a:ln/>
        </p:spPr>
        <p:txBody>
          <a:bodyPr wrap="square" lIns="0" tIns="0" rIns="0" bIns="0" rtlCol="0" anchor="t"/>
          <a:lstStyle/>
          <a:p>
            <a:pPr indent="0" marL="0">
              <a:buNone/>
            </a:pPr>
            <a:r>
              <a:rPr lang="en-US" sz="1800" b="1" dirty="0">
                <a:solidFill>
                  <a:schemeClr val="tx1"/>
                </a:solidFill>
              </a:rPr>
              <a:t>Governance and assurance</a:t>
            </a:r>
            <a:endParaRPr lang="en-US" sz="1800" dirty="0"/>
          </a:p>
        </p:txBody>
      </p:sp>
      <p:sp>
        <p:nvSpPr>
          <p:cNvPr id="18" name="Shape 12"/>
          <p:cNvSpPr/>
          <p:nvPr/>
        </p:nvSpPr>
        <p:spPr>
          <a:xfrm>
            <a:off x="6172200" y="1920240"/>
            <a:ext cx="5394960" cy="548640"/>
          </a:xfrm>
          <a:prstGeom prst="roundRect">
            <a:avLst>
              <a:gd name="adj" fmla="val 13333"/>
            </a:avLst>
          </a:prstGeom>
          <a:solidFill>
            <a:schemeClr val="bg2"/>
          </a:solidFill>
          <a:ln w="12700">
            <a:solidFill>
              <a:schemeClr val="bg2"/>
            </a:solidFill>
            <a:prstDash val="solid"/>
          </a:ln>
        </p:spPr>
      </p:sp>
      <p:pic>
        <p:nvPicPr>
          <p:cNvPr id="19" name="Image 4" descr="preencoded.png">    </p:cNvPr>
          <p:cNvPicPr>
            <a:picLocks noChangeAspect="1"/>
          </p:cNvPicPr>
          <p:nvPr/>
        </p:nvPicPr>
        <p:blipFill>
          <a:blip r:embed="rId5"/>
          <a:stretch>
            <a:fillRect/>
          </a:stretch>
        </p:blipFill>
        <p:spPr>
          <a:xfrm>
            <a:off x="6355080" y="2048256"/>
            <a:ext cx="274320" cy="274320"/>
          </a:xfrm>
          <a:prstGeom prst="rect">
            <a:avLst/>
          </a:prstGeom>
        </p:spPr>
      </p:pic>
      <p:sp>
        <p:nvSpPr>
          <p:cNvPr id="20" name="Text 13"/>
          <p:cNvSpPr txBox="1"/>
          <p:nvPr/>
        </p:nvSpPr>
        <p:spPr>
          <a:xfrm>
            <a:off x="6812280" y="1920240"/>
            <a:ext cx="4572000" cy="548640"/>
          </a:xfrm>
          <a:prstGeom prst="rect">
            <a:avLst/>
          </a:prstGeom>
          <a:noFill/>
          <a:ln/>
        </p:spPr>
        <p:txBody>
          <a:bodyPr wrap="square" lIns="0" tIns="0" rIns="0" bIns="0" rtlCol="0" anchor="ctr"/>
          <a:lstStyle/>
          <a:p>
            <a:pPr indent="0" marL="0">
              <a:buNone/>
            </a:pPr>
            <a:r>
              <a:rPr lang="en-US" sz="1400" dirty="0">
                <a:solidFill>
                  <a:schemeClr val="tx1"/>
                </a:solidFill>
              </a:rPr>
              <a:t>Reviewed against your AI and security policies</a:t>
            </a:r>
            <a:endParaRPr lang="en-US" sz="1400" dirty="0"/>
          </a:p>
        </p:txBody>
      </p:sp>
      <p:sp>
        <p:nvSpPr>
          <p:cNvPr id="21" name="Shape 14"/>
          <p:cNvSpPr/>
          <p:nvPr/>
        </p:nvSpPr>
        <p:spPr>
          <a:xfrm>
            <a:off x="6172200" y="2578608"/>
            <a:ext cx="5394960" cy="548640"/>
          </a:xfrm>
          <a:prstGeom prst="roundRect">
            <a:avLst>
              <a:gd name="adj" fmla="val 13333"/>
            </a:avLst>
          </a:prstGeom>
          <a:solidFill>
            <a:schemeClr val="bg2"/>
          </a:solidFill>
          <a:ln w="12700">
            <a:solidFill>
              <a:schemeClr val="bg2"/>
            </a:solidFill>
            <a:prstDash val="solid"/>
          </a:ln>
        </p:spPr>
      </p:sp>
      <p:pic>
        <p:nvPicPr>
          <p:cNvPr id="22" name="Image 5" descr="preencoded.png">    </p:cNvPr>
          <p:cNvPicPr>
            <a:picLocks noChangeAspect="1"/>
          </p:cNvPicPr>
          <p:nvPr/>
        </p:nvPicPr>
        <p:blipFill>
          <a:blip r:embed="rId6"/>
          <a:stretch>
            <a:fillRect/>
          </a:stretch>
        </p:blipFill>
        <p:spPr>
          <a:xfrm>
            <a:off x="6355080" y="2706624"/>
            <a:ext cx="274320" cy="274320"/>
          </a:xfrm>
          <a:prstGeom prst="rect">
            <a:avLst/>
          </a:prstGeom>
        </p:spPr>
      </p:pic>
      <p:sp>
        <p:nvSpPr>
          <p:cNvPr id="23" name="Text 15"/>
          <p:cNvSpPr txBox="1"/>
          <p:nvPr/>
        </p:nvSpPr>
        <p:spPr>
          <a:xfrm>
            <a:off x="6812280" y="2578608"/>
            <a:ext cx="4572000" cy="548640"/>
          </a:xfrm>
          <a:prstGeom prst="rect">
            <a:avLst/>
          </a:prstGeom>
          <a:noFill/>
          <a:ln/>
        </p:spPr>
        <p:txBody>
          <a:bodyPr wrap="square" lIns="0" tIns="0" rIns="0" bIns="0" rtlCol="0" anchor="ctr"/>
          <a:lstStyle/>
          <a:p>
            <a:pPr indent="0" marL="0">
              <a:buNone/>
            </a:pPr>
            <a:r>
              <a:rPr lang="en-US" sz="1400" dirty="0">
                <a:solidFill>
                  <a:schemeClr val="tx1"/>
                </a:solidFill>
              </a:rPr>
              <a:t>Penetration test findings tracked to closure</a:t>
            </a:r>
            <a:endParaRPr lang="en-US" sz="1400" dirty="0"/>
          </a:p>
        </p:txBody>
      </p:sp>
      <p:sp>
        <p:nvSpPr>
          <p:cNvPr id="24" name="Shape 16"/>
          <p:cNvSpPr/>
          <p:nvPr/>
        </p:nvSpPr>
        <p:spPr>
          <a:xfrm>
            <a:off x="6172200" y="3236976"/>
            <a:ext cx="5394960" cy="548640"/>
          </a:xfrm>
          <a:prstGeom prst="roundRect">
            <a:avLst>
              <a:gd name="adj" fmla="val 13333"/>
            </a:avLst>
          </a:prstGeom>
          <a:solidFill>
            <a:schemeClr val="bg2"/>
          </a:solidFill>
          <a:ln w="12700">
            <a:solidFill>
              <a:schemeClr val="bg2"/>
            </a:solidFill>
            <a:prstDash val="solid"/>
          </a:ln>
        </p:spPr>
      </p:sp>
      <p:pic>
        <p:nvPicPr>
          <p:cNvPr id="25" name="Image 6" descr="preencoded.png">    </p:cNvPr>
          <p:cNvPicPr>
            <a:picLocks noChangeAspect="1"/>
          </p:cNvPicPr>
          <p:nvPr/>
        </p:nvPicPr>
        <p:blipFill>
          <a:blip r:embed="rId7"/>
          <a:stretch>
            <a:fillRect/>
          </a:stretch>
        </p:blipFill>
        <p:spPr>
          <a:xfrm>
            <a:off x="6355080" y="3364992"/>
            <a:ext cx="274320" cy="274320"/>
          </a:xfrm>
          <a:prstGeom prst="rect">
            <a:avLst/>
          </a:prstGeom>
        </p:spPr>
      </p:pic>
      <p:sp>
        <p:nvSpPr>
          <p:cNvPr id="26" name="Text 17"/>
          <p:cNvSpPr txBox="1"/>
          <p:nvPr/>
        </p:nvSpPr>
        <p:spPr>
          <a:xfrm>
            <a:off x="6812280" y="3236976"/>
            <a:ext cx="4572000" cy="548640"/>
          </a:xfrm>
          <a:prstGeom prst="rect">
            <a:avLst/>
          </a:prstGeom>
          <a:noFill/>
          <a:ln/>
        </p:spPr>
        <p:txBody>
          <a:bodyPr wrap="square" lIns="0" tIns="0" rIns="0" bIns="0" rtlCol="0" anchor="ctr"/>
          <a:lstStyle/>
          <a:p>
            <a:pPr indent="0" marL="0">
              <a:buNone/>
            </a:pPr>
            <a:r>
              <a:rPr lang="en-US" sz="1400" dirty="0">
                <a:solidFill>
                  <a:schemeClr val="tx1"/>
                </a:solidFill>
              </a:rPr>
              <a:t>New AI features stay off until you approve them</a:t>
            </a:r>
            <a:endParaRPr lang="en-US" sz="1400" dirty="0"/>
          </a:p>
        </p:txBody>
      </p:sp>
      <p:sp>
        <p:nvSpPr>
          <p:cNvPr id="27" name="Shape 18"/>
          <p:cNvSpPr/>
          <p:nvPr/>
        </p:nvSpPr>
        <p:spPr>
          <a:xfrm>
            <a:off x="6172200" y="3895344"/>
            <a:ext cx="5394960" cy="548640"/>
          </a:xfrm>
          <a:prstGeom prst="roundRect">
            <a:avLst>
              <a:gd name="adj" fmla="val 13333"/>
            </a:avLst>
          </a:prstGeom>
          <a:solidFill>
            <a:schemeClr val="bg2"/>
          </a:solidFill>
          <a:ln w="12700">
            <a:solidFill>
              <a:schemeClr val="bg2"/>
            </a:solidFill>
            <a:prstDash val="solid"/>
          </a:ln>
        </p:spPr>
      </p:sp>
      <p:pic>
        <p:nvPicPr>
          <p:cNvPr id="28" name="Image 7" descr="preencoded.png">    </p:cNvPr>
          <p:cNvPicPr>
            <a:picLocks noChangeAspect="1"/>
          </p:cNvPicPr>
          <p:nvPr/>
        </p:nvPicPr>
        <p:blipFill>
          <a:blip r:embed="rId8"/>
          <a:stretch>
            <a:fillRect/>
          </a:stretch>
        </p:blipFill>
        <p:spPr>
          <a:xfrm>
            <a:off x="6355080" y="4023360"/>
            <a:ext cx="274320" cy="274320"/>
          </a:xfrm>
          <a:prstGeom prst="rect">
            <a:avLst/>
          </a:prstGeom>
        </p:spPr>
      </p:pic>
      <p:sp>
        <p:nvSpPr>
          <p:cNvPr id="29" name="Text 19"/>
          <p:cNvSpPr txBox="1"/>
          <p:nvPr/>
        </p:nvSpPr>
        <p:spPr>
          <a:xfrm>
            <a:off x="6812280" y="3895344"/>
            <a:ext cx="4572000" cy="548640"/>
          </a:xfrm>
          <a:prstGeom prst="rect">
            <a:avLst/>
          </a:prstGeom>
          <a:noFill/>
          <a:ln/>
        </p:spPr>
        <p:txBody>
          <a:bodyPr wrap="square" lIns="0" tIns="0" rIns="0" bIns="0" rtlCol="0" anchor="ctr"/>
          <a:lstStyle/>
          <a:p>
            <a:pPr indent="0" marL="0">
              <a:buNone/>
            </a:pPr>
            <a:r>
              <a:rPr lang="en-US" sz="1400" dirty="0">
                <a:solidFill>
                  <a:schemeClr val="tx1"/>
                </a:solidFill>
              </a:rPr>
              <a:t>Pilot data exported and purged at the end</a:t>
            </a:r>
            <a:endParaRPr lang="en-US" sz="1400" dirty="0"/>
          </a:p>
        </p:txBody>
      </p:sp>
      <p:sp>
        <p:nvSpPr>
          <p:cNvPr id="30" name="Text 20"/>
          <p:cNvSpPr txBox="1"/>
          <p:nvPr/>
        </p:nvSpPr>
        <p:spPr>
          <a:xfrm>
            <a:off x="548640" y="4663440"/>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WHO LOOKS AFTER WHAT</a:t>
            </a:r>
            <a:endParaRPr lang="en-US" sz="1200" dirty="0"/>
          </a:p>
        </p:txBody>
      </p:sp>
      <p:sp>
        <p:nvSpPr>
          <p:cNvPr id="31" name="Shape 21"/>
          <p:cNvSpPr/>
          <p:nvPr/>
        </p:nvSpPr>
        <p:spPr>
          <a:xfrm>
            <a:off x="548640" y="5029200"/>
            <a:ext cx="5394960" cy="914400"/>
          </a:xfrm>
          <a:prstGeom prst="roundRect">
            <a:avLst>
              <a:gd name="adj" fmla="val 8000"/>
            </a:avLst>
          </a:prstGeom>
          <a:solidFill>
            <a:schemeClr val="accent5"/>
          </a:solidFill>
          <a:ln w="12700">
            <a:solidFill>
              <a:schemeClr val="accent5"/>
            </a:solidFill>
            <a:prstDash val="solid"/>
          </a:ln>
        </p:spPr>
      </p:sp>
      <p:sp>
        <p:nvSpPr>
          <p:cNvPr id="32" name="Text 22"/>
          <p:cNvSpPr txBox="1"/>
          <p:nvPr/>
        </p:nvSpPr>
        <p:spPr>
          <a:xfrm>
            <a:off x="822960" y="5029200"/>
            <a:ext cx="4846320" cy="914400"/>
          </a:xfrm>
          <a:prstGeom prst="rect">
            <a:avLst/>
          </a:prstGeom>
          <a:noFill/>
          <a:ln/>
        </p:spPr>
        <p:txBody>
          <a:bodyPr wrap="square" lIns="0" tIns="0" rIns="0" bIns="0" rtlCol="0" anchor="ctr"/>
          <a:lstStyle/>
          <a:p>
            <a:pPr indent="0" marL="0">
              <a:buNone/>
            </a:pPr>
            <a:r>
              <a:rPr lang="en-US" sz="1600" b="1" dirty="0">
                <a:solidFill>
                  <a:schemeClr val="tx1"/>
                </a:solidFill>
              </a:rPr>
              <a:t>Your IT team</a:t>
            </a:r>
            <a:endParaRPr lang="en-US" sz="1400" dirty="0"/>
          </a:p>
          <a:p>
            <a:pPr indent="0" marL="0">
              <a:buNone/>
            </a:pPr>
            <a:r>
              <a:rPr lang="en-US" sz="1300" dirty="0">
                <a:solidFill>
                  <a:schemeClr val="tx1"/>
                </a:solidFill>
              </a:rPr>
              <a:t>Network, company sign-in, access policies, approving new features</a:t>
            </a:r>
            <a:endParaRPr lang="en-US" sz="1400" dirty="0"/>
          </a:p>
        </p:txBody>
      </p:sp>
      <p:sp>
        <p:nvSpPr>
          <p:cNvPr id="33" name="Shape 23"/>
          <p:cNvSpPr/>
          <p:nvPr/>
        </p:nvSpPr>
        <p:spPr>
          <a:xfrm>
            <a:off x="6172200" y="5029200"/>
            <a:ext cx="5394960" cy="914400"/>
          </a:xfrm>
          <a:prstGeom prst="roundRect">
            <a:avLst>
              <a:gd name="adj" fmla="val 8000"/>
            </a:avLst>
          </a:prstGeom>
          <a:solidFill>
            <a:schemeClr val="tx1"/>
          </a:solidFill>
          <a:ln w="12700">
            <a:solidFill>
              <a:schemeClr val="tx1"/>
            </a:solidFill>
            <a:prstDash val="solid"/>
          </a:ln>
        </p:spPr>
      </p:sp>
      <p:sp>
        <p:nvSpPr>
          <p:cNvPr id="34" name="Text 24"/>
          <p:cNvSpPr txBox="1"/>
          <p:nvPr/>
        </p:nvSpPr>
        <p:spPr>
          <a:xfrm>
            <a:off x="6446520" y="5029200"/>
            <a:ext cx="4846320" cy="914400"/>
          </a:xfrm>
          <a:prstGeom prst="rect">
            <a:avLst/>
          </a:prstGeom>
          <a:noFill/>
          <a:ln/>
        </p:spPr>
        <p:txBody>
          <a:bodyPr wrap="square" lIns="0" tIns="0" rIns="0" bIns="0" rtlCol="0" anchor="ctr"/>
          <a:lstStyle/>
          <a:p>
            <a:pPr indent="0" marL="0">
              <a:buNone/>
            </a:pPr>
            <a:r>
              <a:rPr lang="en-US" sz="1600" b="1" dirty="0">
                <a:solidFill>
                  <a:schemeClr val="bg1"/>
                </a:solidFill>
              </a:rPr>
              <a:t>Platform team</a:t>
            </a:r>
            <a:endParaRPr lang="en-US" sz="1400" dirty="0"/>
          </a:p>
          <a:p>
            <a:pPr indent="0" marL="0">
              <a:buNone/>
            </a:pPr>
            <a:r>
              <a:rPr lang="en-US" sz="1300" dirty="0">
                <a:solidFill>
                  <a:schemeClr val="bg1"/>
                </a:solidFill>
              </a:rPr>
              <a:t>AI gateway, agent rules, checks, backups, monitoring</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DETAIL · 1 OF 5</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Find and score: 5 agents</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60320"/>
                <a:gridCol w="5669280"/>
                <a:gridCol w="2862072"/>
              </a:tblGrid>
              <a:tr h="749808">
                <a:tc>
                  <a:txBody>
                    <a:bodyPr/>
                    <a:lstStyle/>
                    <a:p>
                      <a:pPr indent="0" marL="0">
                        <a:buNone/>
                      </a:pPr>
                      <a:r>
                        <a:rPr lang="en-US" sz="1300" b="1" spc="100" kern="0" dirty="0">
                          <a:solidFill>
                            <a:schemeClr val="bg1"/>
                          </a:solidFill>
                        </a:rPr>
                        <a:t>AGENT</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WHAT IT DOES</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YOUR TEAM</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r>
              <a:tr h="749808">
                <a:tc>
                  <a:txBody>
                    <a:bodyPr/>
                    <a:lstStyle/>
                    <a:p>
                      <a:pPr indent="0" marL="0">
                        <a:buNone/>
                      </a:pPr>
                      <a:r>
                        <a:rPr lang="en-US" sz="1500" b="1" dirty="0">
                          <a:solidFill>
                            <a:schemeClr val="tx1"/>
                          </a:solidFill>
                        </a:rPr>
                        <a:t>List Checker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Checks and cleans the lead file: duplicates, missing fields, opt-outs and consent.</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Uploads the list, fixes flagged rows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Fit Scorer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Scores each account against your ICP rubric and fit floor.</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Agrees the rubric</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Signal Reader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Reads intent, installed-base, CRM and news signals and matches them to accounts and people.</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Sets signal sources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Timing Scorer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Weights each signal by type and how fresh it is.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Agrees the weights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Tier Ranker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Ranks people into tiers A, B and C and explains why now.</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Chooses who is handed off</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DETAIL · 2 OF 5</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Segment and plan: 4 agents</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60320"/>
                <a:gridCol w="5669280"/>
                <a:gridCol w="2862072"/>
              </a:tblGrid>
              <a:tr h="749808">
                <a:tc>
                  <a:txBody>
                    <a:bodyPr/>
                    <a:lstStyle/>
                    <a:p>
                      <a:pPr indent="0" marL="0">
                        <a:buNone/>
                      </a:pPr>
                      <a:r>
                        <a:rPr lang="en-US" sz="1300" b="1" spc="100" kern="0" dirty="0">
                          <a:solidFill>
                            <a:schemeClr val="bg1"/>
                          </a:solidFill>
                        </a:rPr>
                        <a:t>AGENT</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WHAT IT DOES</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YOUR TEAM</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r>
              <a:tr h="749808">
                <a:tc>
                  <a:txBody>
                    <a:bodyPr/>
                    <a:lstStyle/>
                    <a:p>
                      <a:pPr indent="0" marL="0">
                        <a:buNone/>
                      </a:pPr>
                      <a:r>
                        <a:rPr lang="en-US" sz="1500" b="1" dirty="0">
                          <a:solidFill>
                            <a:schemeClr val="tx1"/>
                          </a:solidFill>
                        </a:rPr>
                        <a:t>Segmenter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Groups accounts that share a reason to buy into micro-segments of three or more.</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Manager approves new segments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Action Recommender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Picks the next best action from the actions your team set in Setup; the AI chooses the one that fits the signal and person.</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Rep accepts or picks another</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Channel Picker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Chooses email, LinkedIn or a call, within consent and verification limits.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Rep can change the channel</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Deal Sizer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Estimates the first deal and how confident the recommendation is.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Manager sets the thresholds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DETAIL · 3 OF 5</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Draft: 4 agents</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60320"/>
                <a:gridCol w="5669280"/>
                <a:gridCol w="2862072"/>
              </a:tblGrid>
              <a:tr h="749808">
                <a:tc>
                  <a:txBody>
                    <a:bodyPr/>
                    <a:lstStyle/>
                    <a:p>
                      <a:pPr indent="0" marL="0">
                        <a:buNone/>
                      </a:pPr>
                      <a:r>
                        <a:rPr lang="en-US" sz="1300" b="1" spc="100" kern="0" dirty="0">
                          <a:solidFill>
                            <a:schemeClr val="bg1"/>
                          </a:solidFill>
                        </a:rPr>
                        <a:t>AGENT</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WHAT IT DOES</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YOUR TEAM</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r>
              <a:tr h="749808">
                <a:tc>
                  <a:txBody>
                    <a:bodyPr/>
                    <a:lstStyle/>
                    <a:p>
                      <a:pPr indent="0" marL="0">
                        <a:buNone/>
                      </a:pPr>
                      <a:r>
                        <a:rPr lang="en-US" sz="1500" b="1" dirty="0">
                          <a:solidFill>
                            <a:schemeClr val="tx1"/>
                          </a:solidFill>
                        </a:rPr>
                        <a:t>Brief Builder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Sets out who, why now, the angle, the proof point and the ask.</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Marketing owns the plays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Draft Writer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Writes the first message in your brand voice from approved content only.</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Rep edits before sending</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Claim Matcher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Picks an approved, unexpired claim that fits the segment.</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Marketing approves claims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Call Script Writer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Prepares the opener, discovery questions and objection handling.</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Rep uses it on the call</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DETAIL · 4 OF 5</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Review and compliance: 4 agents</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60320"/>
                <a:gridCol w="5669280"/>
                <a:gridCol w="2862072"/>
              </a:tblGrid>
              <a:tr h="749808">
                <a:tc>
                  <a:txBody>
                    <a:bodyPr/>
                    <a:lstStyle/>
                    <a:p>
                      <a:pPr indent="0" marL="0">
                        <a:buNone/>
                      </a:pPr>
                      <a:r>
                        <a:rPr lang="en-US" sz="1300" b="1" spc="100" kern="0" dirty="0">
                          <a:solidFill>
                            <a:schemeClr val="bg1"/>
                          </a:solidFill>
                        </a:rPr>
                        <a:t>AGENT</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WHAT IT DOES</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YOUR TEAM</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r>
              <a:tr h="749808">
                <a:tc>
                  <a:txBody>
                    <a:bodyPr/>
                    <a:lstStyle/>
                    <a:p>
                      <a:pPr indent="0" marL="0">
                        <a:buNone/>
                      </a:pPr>
                      <a:r>
                        <a:rPr lang="en-US" sz="1500" b="1" dirty="0">
                          <a:solidFill>
                            <a:schemeClr val="tx1"/>
                          </a:solidFill>
                        </a:rPr>
                        <a:t>Brand Checker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Checks banned words and openers, length, pricing and competitor mentions.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Marketing sets the rules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Consent Guard</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Stops anyone who opted out or has no recognised consent before hand-off.</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Admin confirms the bases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Sensitive-topic Router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Sends incidents, security and regulation topics to the sales manager.</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Manager approves or rejects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Spot-checker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Draws about 20% of released actions each week, at least one per rep, for rating.</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Manager rates the sample</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AI AGENTS · DETAIL · 5 OF 5</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Release and measure: 3 agents</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60320"/>
                <a:gridCol w="5669280"/>
                <a:gridCol w="2862072"/>
              </a:tblGrid>
              <a:tr h="749808">
                <a:tc>
                  <a:txBody>
                    <a:bodyPr/>
                    <a:lstStyle/>
                    <a:p>
                      <a:pPr indent="0" marL="0">
                        <a:buNone/>
                      </a:pPr>
                      <a:r>
                        <a:rPr lang="en-US" sz="1300" b="1" spc="100" kern="0" dirty="0">
                          <a:solidFill>
                            <a:schemeClr val="bg1"/>
                          </a:solidFill>
                        </a:rPr>
                        <a:t>AGENT</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WHAT IT DOES</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c>
                  <a:txBody>
                    <a:bodyPr/>
                    <a:lstStyle/>
                    <a:p>
                      <a:pPr indent="0" marL="0">
                        <a:buNone/>
                      </a:pPr>
                      <a:r>
                        <a:rPr lang="en-US" sz="1300" b="1" spc="100" kern="0" dirty="0">
                          <a:solidFill>
                            <a:schemeClr val="bg1"/>
                          </a:solidFill>
                        </a:rPr>
                        <a:t>YOUR TEAM</a:t>
                      </a:r>
                      <a:endParaRPr lang="en-US" sz="13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tx1"/>
                    </a:solidFill>
                  </a:tcPr>
                </a:tc>
              </a:tr>
              <a:tr h="749808">
                <a:tc>
                  <a:txBody>
                    <a:bodyPr/>
                    <a:lstStyle/>
                    <a:p>
                      <a:pPr indent="0" marL="0">
                        <a:buNone/>
                      </a:pPr>
                      <a:r>
                        <a:rPr lang="en-US" sz="1500" b="1" dirty="0">
                          <a:solidFill>
                            <a:schemeClr val="tx1"/>
                          </a:solidFill>
                        </a:rPr>
                        <a:t>Rep Hand-off</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Releases ready actions to each rep's list for today.</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Rep works the list</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r h="749808">
                <a:tc>
                  <a:txBody>
                    <a:bodyPr/>
                    <a:lstStyle/>
                    <a:p>
                      <a:pPr indent="0" marL="0">
                        <a:buNone/>
                      </a:pPr>
                      <a:r>
                        <a:rPr lang="en-US" sz="1500" b="1" dirty="0">
                          <a:solidFill>
                            <a:schemeClr val="tx1"/>
                          </a:solidFill>
                        </a:rPr>
                        <a:t>Decision Log</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Records every accept, reject, edit and alternative, with the reason and the review time.</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Reviewer gives the reason</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1"/>
                    </a:solidFill>
                  </a:tcPr>
                </a:tc>
              </a:tr>
              <a:tr h="749808">
                <a:tc>
                  <a:txBody>
                    <a:bodyPr/>
                    <a:lstStyle/>
                    <a:p>
                      <a:pPr indent="0" marL="0">
                        <a:buNone/>
                      </a:pPr>
                      <a:r>
                        <a:rPr lang="en-US" sz="1500" b="1" dirty="0">
                          <a:solidFill>
                            <a:schemeClr val="tx1"/>
                          </a:solidFill>
                        </a:rPr>
                        <a:t>Metrics Reporter</a:t>
                      </a:r>
                      <a:endParaRPr lang="en-US" sz="15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Reports G1 (human review effort) and G2 (acceptance rate) against the agreed thresholds.</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Leaders review the readout</a:t>
                      </a:r>
                      <a:endParaRPr lang="en-US" sz="1400" dirty="0"/>
                    </a:p>
                  </a:txBody>
                  <a:tcPr marL="109728" marR="109728" marT="109728" marB="10972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VALIDATION DIMENSIONS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Pilot validation dimensions</a:t>
            </a:r>
            <a:endParaRPr lang="en-US" sz="2800" dirty="0"/>
          </a:p>
        </p:txBody>
      </p:sp>
      <p:sp>
        <p:nvSpPr>
          <p:cNvPr id="4" name="Shape 2"/>
          <p:cNvSpPr/>
          <p:nvPr/>
        </p:nvSpPr>
        <p:spPr>
          <a:xfrm>
            <a:off x="548640" y="1463040"/>
            <a:ext cx="5394960" cy="960120"/>
          </a:xfrm>
          <a:prstGeom prst="roundRect">
            <a:avLst>
              <a:gd name="adj" fmla="val 7619"/>
            </a:avLst>
          </a:prstGeom>
          <a:solidFill>
            <a:schemeClr val="accent5"/>
          </a:solidFill>
          <a:ln w="12700">
            <a:solidFill>
              <a:schemeClr val="accent5"/>
            </a:solidFill>
            <a:prstDash val="solid"/>
          </a:ln>
        </p:spPr>
      </p:sp>
      <p:sp>
        <p:nvSpPr>
          <p:cNvPr id="5" name="Shape 3"/>
          <p:cNvSpPr/>
          <p:nvPr/>
        </p:nvSpPr>
        <p:spPr>
          <a:xfrm>
            <a:off x="777240" y="1645920"/>
            <a:ext cx="594360" cy="594360"/>
          </a:xfrm>
          <a:prstGeom prst="diamond">
            <a:avLst/>
          </a:prstGeom>
          <a:solidFill>
            <a:schemeClr val="accent1"/>
          </a:solidFill>
          <a:ln w="12700">
            <a:solidFill>
              <a:schemeClr val="accent1"/>
            </a:solidFill>
            <a:prstDash val="solid"/>
          </a:ln>
        </p:spPr>
      </p:sp>
      <p:sp>
        <p:nvSpPr>
          <p:cNvPr id="6" name="Text 4"/>
          <p:cNvSpPr txBox="1"/>
          <p:nvPr/>
        </p:nvSpPr>
        <p:spPr>
          <a:xfrm>
            <a:off x="777240" y="1645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Text 5"/>
          <p:cNvSpPr txBox="1"/>
          <p:nvPr/>
        </p:nvSpPr>
        <p:spPr>
          <a:xfrm>
            <a:off x="1600200" y="1463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Data understanding: list quality, matching and de-duplication</a:t>
            </a:r>
            <a:endParaRPr lang="en-US" sz="1500" dirty="0"/>
          </a:p>
        </p:txBody>
      </p:sp>
      <p:sp>
        <p:nvSpPr>
          <p:cNvPr id="8" name="Shape 6"/>
          <p:cNvSpPr/>
          <p:nvPr/>
        </p:nvSpPr>
        <p:spPr>
          <a:xfrm>
            <a:off x="6172200" y="1463040"/>
            <a:ext cx="5394960" cy="960120"/>
          </a:xfrm>
          <a:prstGeom prst="roundRect">
            <a:avLst>
              <a:gd name="adj" fmla="val 7619"/>
            </a:avLst>
          </a:prstGeom>
          <a:solidFill>
            <a:schemeClr val="bg2"/>
          </a:solidFill>
          <a:ln w="12700">
            <a:solidFill>
              <a:schemeClr val="bg2"/>
            </a:solidFill>
            <a:prstDash val="solid"/>
          </a:ln>
        </p:spPr>
      </p:sp>
      <p:sp>
        <p:nvSpPr>
          <p:cNvPr id="9" name="Shape 7"/>
          <p:cNvSpPr/>
          <p:nvPr/>
        </p:nvSpPr>
        <p:spPr>
          <a:xfrm>
            <a:off x="6400800" y="1645920"/>
            <a:ext cx="594360" cy="594360"/>
          </a:xfrm>
          <a:prstGeom prst="diamond">
            <a:avLst/>
          </a:prstGeom>
          <a:solidFill>
            <a:schemeClr val="accent1"/>
          </a:solidFill>
          <a:ln w="12700">
            <a:solidFill>
              <a:schemeClr val="accent1"/>
            </a:solidFill>
            <a:prstDash val="solid"/>
          </a:ln>
        </p:spPr>
      </p:sp>
      <p:sp>
        <p:nvSpPr>
          <p:cNvPr id="10" name="Text 8"/>
          <p:cNvSpPr txBox="1"/>
          <p:nvPr/>
        </p:nvSpPr>
        <p:spPr>
          <a:xfrm>
            <a:off x="6400800" y="1645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1" name="Text 9"/>
          <p:cNvSpPr txBox="1"/>
          <p:nvPr/>
        </p:nvSpPr>
        <p:spPr>
          <a:xfrm>
            <a:off x="7223760" y="1463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Scoring that a rep agrees with, and can trace</a:t>
            </a:r>
            <a:endParaRPr lang="en-US" sz="1500" dirty="0"/>
          </a:p>
        </p:txBody>
      </p:sp>
      <p:sp>
        <p:nvSpPr>
          <p:cNvPr id="12" name="Shape 10"/>
          <p:cNvSpPr/>
          <p:nvPr/>
        </p:nvSpPr>
        <p:spPr>
          <a:xfrm>
            <a:off x="548640" y="2606040"/>
            <a:ext cx="5394960" cy="960120"/>
          </a:xfrm>
          <a:prstGeom prst="roundRect">
            <a:avLst>
              <a:gd name="adj" fmla="val 7619"/>
            </a:avLst>
          </a:prstGeom>
          <a:solidFill>
            <a:schemeClr val="accent5"/>
          </a:solidFill>
          <a:ln w="12700">
            <a:solidFill>
              <a:schemeClr val="accent5"/>
            </a:solidFill>
            <a:prstDash val="solid"/>
          </a:ln>
        </p:spPr>
      </p:sp>
      <p:sp>
        <p:nvSpPr>
          <p:cNvPr id="13" name="Shape 11"/>
          <p:cNvSpPr/>
          <p:nvPr/>
        </p:nvSpPr>
        <p:spPr>
          <a:xfrm>
            <a:off x="777240" y="2788920"/>
            <a:ext cx="594360" cy="594360"/>
          </a:xfrm>
          <a:prstGeom prst="diamond">
            <a:avLst/>
          </a:prstGeom>
          <a:solidFill>
            <a:schemeClr val="accent1"/>
          </a:solidFill>
          <a:ln w="12700">
            <a:solidFill>
              <a:schemeClr val="accent1"/>
            </a:solidFill>
            <a:prstDash val="solid"/>
          </a:ln>
        </p:spPr>
      </p:sp>
      <p:sp>
        <p:nvSpPr>
          <p:cNvPr id="14" name="Text 12"/>
          <p:cNvSpPr txBox="1"/>
          <p:nvPr/>
        </p:nvSpPr>
        <p:spPr>
          <a:xfrm>
            <a:off x="777240" y="2788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5" name="Text 13"/>
          <p:cNvSpPr txBox="1"/>
          <p:nvPr/>
        </p:nvSpPr>
        <p:spPr>
          <a:xfrm>
            <a:off x="1600200" y="2606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Segments that make sense to sales and marketing</a:t>
            </a:r>
            <a:endParaRPr lang="en-US" sz="1500" dirty="0"/>
          </a:p>
        </p:txBody>
      </p:sp>
      <p:sp>
        <p:nvSpPr>
          <p:cNvPr id="16" name="Shape 14"/>
          <p:cNvSpPr/>
          <p:nvPr/>
        </p:nvSpPr>
        <p:spPr>
          <a:xfrm>
            <a:off x="6172200" y="2606040"/>
            <a:ext cx="5394960" cy="960120"/>
          </a:xfrm>
          <a:prstGeom prst="roundRect">
            <a:avLst>
              <a:gd name="adj" fmla="val 7619"/>
            </a:avLst>
          </a:prstGeom>
          <a:solidFill>
            <a:schemeClr val="bg2"/>
          </a:solidFill>
          <a:ln w="12700">
            <a:solidFill>
              <a:schemeClr val="bg2"/>
            </a:solidFill>
            <a:prstDash val="solid"/>
          </a:ln>
        </p:spPr>
      </p:sp>
      <p:sp>
        <p:nvSpPr>
          <p:cNvPr id="17" name="Shape 15"/>
          <p:cNvSpPr/>
          <p:nvPr/>
        </p:nvSpPr>
        <p:spPr>
          <a:xfrm>
            <a:off x="6400800" y="2788920"/>
            <a:ext cx="594360" cy="594360"/>
          </a:xfrm>
          <a:prstGeom prst="diamond">
            <a:avLst/>
          </a:prstGeom>
          <a:solidFill>
            <a:schemeClr val="accent1"/>
          </a:solidFill>
          <a:ln w="12700">
            <a:solidFill>
              <a:schemeClr val="accent1"/>
            </a:solidFill>
            <a:prstDash val="solid"/>
          </a:ln>
        </p:spPr>
      </p:sp>
      <p:sp>
        <p:nvSpPr>
          <p:cNvPr id="18" name="Text 16"/>
          <p:cNvSpPr txBox="1"/>
          <p:nvPr/>
        </p:nvSpPr>
        <p:spPr>
          <a:xfrm>
            <a:off x="6400800" y="2788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9" name="Text 17"/>
          <p:cNvSpPr txBox="1"/>
          <p:nvPr/>
        </p:nvSpPr>
        <p:spPr>
          <a:xfrm>
            <a:off x="7223760" y="2606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Actions and channels that fit the signal and consent</a:t>
            </a:r>
            <a:endParaRPr lang="en-US" sz="1500" dirty="0"/>
          </a:p>
        </p:txBody>
      </p:sp>
      <p:sp>
        <p:nvSpPr>
          <p:cNvPr id="20" name="Shape 18"/>
          <p:cNvSpPr/>
          <p:nvPr/>
        </p:nvSpPr>
        <p:spPr>
          <a:xfrm>
            <a:off x="548640" y="3749040"/>
            <a:ext cx="5394960" cy="960120"/>
          </a:xfrm>
          <a:prstGeom prst="roundRect">
            <a:avLst>
              <a:gd name="adj" fmla="val 7619"/>
            </a:avLst>
          </a:prstGeom>
          <a:solidFill>
            <a:schemeClr val="accent5"/>
          </a:solidFill>
          <a:ln w="12700">
            <a:solidFill>
              <a:schemeClr val="accent5"/>
            </a:solidFill>
            <a:prstDash val="solid"/>
          </a:ln>
        </p:spPr>
      </p:sp>
      <p:sp>
        <p:nvSpPr>
          <p:cNvPr id="21" name="Shape 19"/>
          <p:cNvSpPr/>
          <p:nvPr/>
        </p:nvSpPr>
        <p:spPr>
          <a:xfrm>
            <a:off x="777240" y="3931920"/>
            <a:ext cx="594360" cy="594360"/>
          </a:xfrm>
          <a:prstGeom prst="diamond">
            <a:avLst/>
          </a:prstGeom>
          <a:solidFill>
            <a:schemeClr val="accent1"/>
          </a:solidFill>
          <a:ln w="12700">
            <a:solidFill>
              <a:schemeClr val="accent1"/>
            </a:solidFill>
            <a:prstDash val="solid"/>
          </a:ln>
        </p:spPr>
      </p:sp>
      <p:sp>
        <p:nvSpPr>
          <p:cNvPr id="22" name="Text 20"/>
          <p:cNvSpPr txBox="1"/>
          <p:nvPr/>
        </p:nvSpPr>
        <p:spPr>
          <a:xfrm>
            <a:off x="777240" y="3931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3" name="Text 21"/>
          <p:cNvSpPr txBox="1"/>
          <p:nvPr/>
        </p:nvSpPr>
        <p:spPr>
          <a:xfrm>
            <a:off x="1600200" y="3749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Messages on brand, with approved claims only</a:t>
            </a:r>
            <a:endParaRPr lang="en-US" sz="1500" dirty="0"/>
          </a:p>
        </p:txBody>
      </p:sp>
      <p:sp>
        <p:nvSpPr>
          <p:cNvPr id="24" name="Shape 22"/>
          <p:cNvSpPr/>
          <p:nvPr/>
        </p:nvSpPr>
        <p:spPr>
          <a:xfrm>
            <a:off x="6172200" y="3749040"/>
            <a:ext cx="5394960" cy="960120"/>
          </a:xfrm>
          <a:prstGeom prst="roundRect">
            <a:avLst>
              <a:gd name="adj" fmla="val 7619"/>
            </a:avLst>
          </a:prstGeom>
          <a:solidFill>
            <a:schemeClr val="bg2"/>
          </a:solidFill>
          <a:ln w="12700">
            <a:solidFill>
              <a:schemeClr val="bg2"/>
            </a:solidFill>
            <a:prstDash val="solid"/>
          </a:ln>
        </p:spPr>
      </p:sp>
      <p:sp>
        <p:nvSpPr>
          <p:cNvPr id="25" name="Shape 23"/>
          <p:cNvSpPr/>
          <p:nvPr/>
        </p:nvSpPr>
        <p:spPr>
          <a:xfrm>
            <a:off x="6400800" y="3931920"/>
            <a:ext cx="594360" cy="594360"/>
          </a:xfrm>
          <a:prstGeom prst="diamond">
            <a:avLst/>
          </a:prstGeom>
          <a:solidFill>
            <a:schemeClr val="accent1"/>
          </a:solidFill>
          <a:ln w="12700">
            <a:solidFill>
              <a:schemeClr val="accent1"/>
            </a:solidFill>
            <a:prstDash val="solid"/>
          </a:ln>
        </p:spPr>
      </p:sp>
      <p:sp>
        <p:nvSpPr>
          <p:cNvPr id="26" name="Text 24"/>
          <p:cNvSpPr txBox="1"/>
          <p:nvPr/>
        </p:nvSpPr>
        <p:spPr>
          <a:xfrm>
            <a:off x="6400800" y="3931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27" name="Text 25"/>
          <p:cNvSpPr txBox="1"/>
          <p:nvPr/>
        </p:nvSpPr>
        <p:spPr>
          <a:xfrm>
            <a:off x="7223760" y="3749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Review and quality control: exceptions, approvals, spot-checks</a:t>
            </a:r>
            <a:endParaRPr lang="en-US" sz="1500" dirty="0"/>
          </a:p>
        </p:txBody>
      </p:sp>
      <p:sp>
        <p:nvSpPr>
          <p:cNvPr id="28" name="Shape 26"/>
          <p:cNvSpPr/>
          <p:nvPr/>
        </p:nvSpPr>
        <p:spPr>
          <a:xfrm>
            <a:off x="548640" y="4892040"/>
            <a:ext cx="5394960" cy="960120"/>
          </a:xfrm>
          <a:prstGeom prst="roundRect">
            <a:avLst>
              <a:gd name="adj" fmla="val 7619"/>
            </a:avLst>
          </a:prstGeom>
          <a:solidFill>
            <a:schemeClr val="accent5"/>
          </a:solidFill>
          <a:ln w="12700">
            <a:solidFill>
              <a:schemeClr val="accent5"/>
            </a:solidFill>
            <a:prstDash val="solid"/>
          </a:ln>
        </p:spPr>
      </p:sp>
      <p:sp>
        <p:nvSpPr>
          <p:cNvPr id="29" name="Shape 27"/>
          <p:cNvSpPr/>
          <p:nvPr/>
        </p:nvSpPr>
        <p:spPr>
          <a:xfrm>
            <a:off x="777240" y="5074920"/>
            <a:ext cx="594360" cy="594360"/>
          </a:xfrm>
          <a:prstGeom prst="diamond">
            <a:avLst/>
          </a:prstGeom>
          <a:solidFill>
            <a:schemeClr val="accent1"/>
          </a:solidFill>
          <a:ln w="12700">
            <a:solidFill>
              <a:schemeClr val="accent1"/>
            </a:solidFill>
            <a:prstDash val="solid"/>
          </a:ln>
        </p:spPr>
      </p:sp>
      <p:sp>
        <p:nvSpPr>
          <p:cNvPr id="30" name="Text 28"/>
          <p:cNvSpPr txBox="1"/>
          <p:nvPr/>
        </p:nvSpPr>
        <p:spPr>
          <a:xfrm>
            <a:off x="777240" y="5074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7</a:t>
            </a:r>
            <a:endParaRPr lang="en-US" sz="1500" dirty="0"/>
          </a:p>
        </p:txBody>
      </p:sp>
      <p:sp>
        <p:nvSpPr>
          <p:cNvPr id="31" name="Text 29"/>
          <p:cNvSpPr txBox="1"/>
          <p:nvPr/>
        </p:nvSpPr>
        <p:spPr>
          <a:xfrm>
            <a:off x="1600200" y="4892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Integration with CRM and the tools reps use</a:t>
            </a:r>
            <a:endParaRPr lang="en-US" sz="1500" dirty="0"/>
          </a:p>
        </p:txBody>
      </p:sp>
      <p:sp>
        <p:nvSpPr>
          <p:cNvPr id="32" name="Shape 30"/>
          <p:cNvSpPr/>
          <p:nvPr/>
        </p:nvSpPr>
        <p:spPr>
          <a:xfrm>
            <a:off x="6172200" y="4892040"/>
            <a:ext cx="5394960" cy="960120"/>
          </a:xfrm>
          <a:prstGeom prst="roundRect">
            <a:avLst>
              <a:gd name="adj" fmla="val 7619"/>
            </a:avLst>
          </a:prstGeom>
          <a:solidFill>
            <a:schemeClr val="bg2"/>
          </a:solidFill>
          <a:ln w="12700">
            <a:solidFill>
              <a:schemeClr val="bg2"/>
            </a:solidFill>
            <a:prstDash val="solid"/>
          </a:ln>
        </p:spPr>
      </p:sp>
      <p:sp>
        <p:nvSpPr>
          <p:cNvPr id="33" name="Shape 31"/>
          <p:cNvSpPr/>
          <p:nvPr/>
        </p:nvSpPr>
        <p:spPr>
          <a:xfrm>
            <a:off x="6400800" y="5074920"/>
            <a:ext cx="594360" cy="594360"/>
          </a:xfrm>
          <a:prstGeom prst="diamond">
            <a:avLst/>
          </a:prstGeom>
          <a:solidFill>
            <a:schemeClr val="accent1"/>
          </a:solidFill>
          <a:ln w="12700">
            <a:solidFill>
              <a:schemeClr val="accent1"/>
            </a:solidFill>
            <a:prstDash val="solid"/>
          </a:ln>
        </p:spPr>
      </p:sp>
      <p:sp>
        <p:nvSpPr>
          <p:cNvPr id="34" name="Text 32"/>
          <p:cNvSpPr txBox="1"/>
          <p:nvPr/>
        </p:nvSpPr>
        <p:spPr>
          <a:xfrm>
            <a:off x="6400800" y="5074920"/>
            <a:ext cx="594360" cy="594360"/>
          </a:xfrm>
          <a:prstGeom prst="rect">
            <a:avLst/>
          </a:prstGeom>
          <a:noFill/>
          <a:ln/>
        </p:spPr>
        <p:txBody>
          <a:bodyPr wrap="square" lIns="0" tIns="0" rIns="0" bIns="0" rtlCol="0" anchor="ctr"/>
          <a:lstStyle/>
          <a:p>
            <a:pPr algn="ctr" indent="0" marL="0">
              <a:buNone/>
            </a:pPr>
            <a:r>
              <a:rPr lang="en-US" sz="1500" b="1" dirty="0">
                <a:solidFill>
                  <a:schemeClr val="tx1"/>
                </a:solidFill>
              </a:rPr>
              <a:t>8</a:t>
            </a:r>
            <a:endParaRPr lang="en-US" sz="1500" dirty="0"/>
          </a:p>
        </p:txBody>
      </p:sp>
      <p:sp>
        <p:nvSpPr>
          <p:cNvPr id="35" name="Text 33"/>
          <p:cNvSpPr txBox="1"/>
          <p:nvPr/>
        </p:nvSpPr>
        <p:spPr>
          <a:xfrm>
            <a:off x="7223760" y="4892040"/>
            <a:ext cx="4160520" cy="960120"/>
          </a:xfrm>
          <a:prstGeom prst="rect">
            <a:avLst/>
          </a:prstGeom>
          <a:noFill/>
          <a:ln/>
        </p:spPr>
        <p:txBody>
          <a:bodyPr wrap="square" lIns="0" tIns="0" rIns="0" bIns="0" rtlCol="0" anchor="ctr"/>
          <a:lstStyle/>
          <a:p>
            <a:pPr indent="0" marL="0">
              <a:buNone/>
            </a:pPr>
            <a:r>
              <a:rPr lang="en-US" sz="1500" dirty="0">
                <a:solidFill>
                  <a:schemeClr val="tx1"/>
                </a:solidFill>
              </a:rPr>
              <a:t>Actual productivity: time saved, acceptance, replies, pipeline</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DemandAI Proposal">
  <a:themeElements>
    <a:clrScheme name="DemandAI Proposal">
      <a:dk1>
        <a:srgbClr val="1B1F2A"/>
      </a:dk1>
      <a:lt1>
        <a:srgbClr val="FFFFFF"/>
      </a:lt1>
      <a:dk2>
        <a:srgbClr val="2E3A4F"/>
      </a:dk2>
      <a:lt2>
        <a:srgbClr val="F3F4F6"/>
      </a:lt2>
      <a:accent1>
        <a:srgbClr val="F2A900"/>
      </a:accent1>
      <a:accent2>
        <a:srgbClr val="0E7C7B"/>
      </a:accent2>
      <a:accent3>
        <a:srgbClr val="B4441C"/>
      </a:accent3>
      <a:accent4>
        <a:srgbClr val="64748B"/>
      </a:accent4>
      <a:accent5>
        <a:srgbClr val="FCEFC7"/>
      </a:accent5>
      <a:accent6>
        <a:srgbClr val="D9DEE5"/>
      </a:accent6>
      <a:hlink>
        <a:srgbClr val="0E7C7B"/>
      </a:hlink>
      <a:folHlink>
        <a:srgbClr val="64748B"/>
      </a:folHlink>
    </a:clrScheme>
    <a:fontScheme name="DemandAI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DemandAI: signal-led prospecting and next best action</dc:title>
  <dc:subject>PptxGenJS Presentation</dc:subject>
  <dc:creator>DemandAI team</dc:creator>
  <cp:lastModifiedBy>DemandAI team</cp:lastModifiedBy>
  <cp:revision>1</cp:revision>
  <dcterms:created xsi:type="dcterms:W3CDTF">2026-10-30T17:24:46Z</dcterms:created>
  <dcterms:modified xsi:type="dcterms:W3CDTF">2026-10-30T17:24:46Z</dcterms:modified>
</cp:coreProperties>
</file>